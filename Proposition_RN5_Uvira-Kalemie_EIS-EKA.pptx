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077641a-7297-e0f5-8c1d-4fc2ac4afb10}">
          <p14:sldIdLst>
            <p14:sldId id="256"/>
            <p14:sldId id="257"/>
          </p14:sldIdLst>
        </p14:section>
        <p14:section name="Le projet" id="{11ec628b-a62f-a811-aa28-f6182bf2e358}">
          <p14:sldIdLst>
            <p14:sldId id="258"/>
            <p14:sldId id="259"/>
            <p14:sldId id="260"/>
            <p14:sldId id="261"/>
            <p14:sldId id="262"/>
          </p14:sldIdLst>
        </p14:section>
        <p14:section name="Solution technique" id="{05e77671-63a1-54d5-ecca-5f76f7518ecf}">
          <p14:sldIdLst>
            <p14:sldId id="263"/>
            <p14:sldId id="264"/>
            <p14:sldId id="265"/>
          </p14:sldIdLst>
        </p14:section>
        <p14:section name="Finances" id="{b2fc1468-a6ed-a711-eebb-7047cf6d2f1b}">
          <p14:sldIdLst>
            <p14:sldId id="266"/>
            <p14:sldId id="267"/>
            <p14:sldId id="268"/>
          </p14:sldIdLst>
        </p14:section>
        <p14:section name="Contrat et risques" id="{8e148077-2451-855e-f17d-061865f2ce71}">
          <p14:sldIdLst>
            <p14:sldId id="269"/>
            <p14:sldId id="270"/>
            <p14:sldId id="271"/>
            <p14:sldId id="272"/>
            <p14:sldId id="273"/>
          </p14:sldIdLst>
        </p14:section>
        <p14:section name="Impacts" id="{95bcf202-e04f-4907-1b9e-c31acb93b6de}">
          <p14:sldIdLst>
            <p14:sldId id="274"/>
            <p14:sldId id="275"/>
          </p14:sldIdLst>
        </p14:section>
        <p14:section name="Groupe EIS-EKA et suite" id="{5c07c46c-cfb6-b814-629d-b8e6d0d94188}">
          <p14:sldIdLst>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343A"/>
                </a:solidFill>
                <a:latin typeface="+mn-lt"/>
              </a:defRPr>
            </a:pPr>
            <a:r>
              <a:rPr sz="1400" b="0" i="0" u="none" strike="noStrike">
                <a:solidFill>
                  <a:srgbClr val="16343A"/>
                </a:solidFill>
                <a:latin typeface="+mn-lt"/>
              </a:rPr>
              <a:t>Recettes brutes annuelles, 8 postes (M USD)</a:t>
            </a:r>
          </a:p>
        </c:rich>
      </c:tx>
      <c:layout/>
      <c:overlay val="0"/>
    </c:title>
    <c:autoTitleDeleted val="0"/>
    <c:plotArea>
      <c:layout/>
      <c:barChart>
        <c:barDir val="col"/>
        <c:grouping val="clustered"/>
        <c:varyColors val="0"/>
        <c:ser>
          <c:idx val="0"/>
          <c:order val="0"/>
          <c:tx>
            <c:strRef>
              <c:f>Sheet1!$B$1</c:f>
              <c:strCache>
                <c:ptCount val="1"/>
                <c:pt idx="0">
                  <c:v>Recettes brutes annuelles (M USD)</c:v>
                </c:pt>
              </c:strCache>
            </c:strRef>
          </c:tx>
          <c:spPr>
            <a:solidFill>
              <a:srgbClr val="6E7676"/>
            </a:solidFill>
            <a:effectLst/>
          </c:spPr>
          <c:invertIfNegative val="0"/>
          <c:dLbls>
            <c:numFmt formatCode="0.0#" sourceLinked="0"/>
            <c:txPr>
              <a:bodyPr/>
              <a:lstStyle/>
              <a:p>
                <a:pPr>
                  <a:defRPr b="0" i="0" strike="noStrike" sz="1400" u="none">
                    <a:solidFill>
                      <a:srgbClr val="16343A"/>
                    </a:solidFill>
                    <a:latin typeface="+mn-lt"/>
                  </a:defRPr>
                </a:pPr>
              </a:p>
            </c:txPr>
            <c:showLegendKey val="0"/>
            <c:showVal val="1"/>
            <c:showCatName val="0"/>
            <c:showSerName val="0"/>
            <c:showPercent val="0"/>
            <c:showBubbleSize val="0"/>
            <c:showLeaderLines val="0"/>
          </c:dLbls>
          <c:dPt>
            <c:idx val="0"/>
            <c:invertIfNegative val="0"/>
            <c:bubble3D val="0"/>
            <c:spPr>
              <a:solidFill>
                <a:srgbClr val="6E7676"/>
              </a:solidFill>
              <a:effectLst/>
            </c:spPr>
          </c:dPt>
          <c:dPt>
            <c:idx val="1"/>
            <c:invertIfNegative val="0"/>
            <c:bubble3D val="0"/>
            <c:spPr>
              <a:solidFill>
                <a:srgbClr val="2C6E6F"/>
              </a:solidFill>
              <a:effectLst/>
            </c:spPr>
          </c:dPt>
          <c:dPt>
            <c:idx val="2"/>
            <c:invertIfNegative val="0"/>
            <c:bubble3D val="0"/>
            <c:spPr>
              <a:solidFill>
                <a:srgbClr val="B5542D"/>
              </a:solidFill>
              <a:effectLst/>
            </c:spPr>
          </c:dPt>
          <c:cat>
            <c:multiLvlStrRef>
              <c:f>Sheet1!$A$2:$A$4</c:f>
              <c:multiLvlStrCache>
                <c:ptCount val="3"/>
                <c:lvl>
                  <c:pt idx="0">
                    <c:v>Faible
100 pass./j · 6 USD</c:v>
                  </c:pt>
                  <c:pt idx="1">
                    <c:v>Moyen
250 pass./j · 8 USD</c:v>
                  </c:pt>
                  <c:pt idx="2">
                    <c:v>Fort
500 pass./j · 10 USD</c:v>
                  </c:pt>
                </c:lvl>
              </c:multiLvlStrCache>
            </c:multiLvlStrRef>
          </c:cat>
          <c:val>
            <c:numRef>
              <c:f>Sheet1!$B$2:$B$4</c:f>
              <c:numCache>
                <c:formatCode>General</c:formatCode>
                <c:ptCount val="3"/>
                <c:pt idx="0">
                  <c:v>1.75</c:v>
                </c:pt>
                <c:pt idx="1">
                  <c:v>5.8</c:v>
                </c:pt>
                <c:pt idx="2">
                  <c:v>14.6</c:v>
                </c:pt>
              </c:numCache>
            </c:numRef>
          </c:val>
        </c:ser>
        <c:dLbls>
          <c:numFmt formatCode="0.0#" sourceLinked="0"/>
          <c:txPr>
            <a:bodyPr/>
            <a:lstStyle/>
            <a:p>
              <a:pPr>
                <a:defRPr b="0" i="0" strike="noStrike" sz="1400" u="none">
                  <a:solidFill>
                    <a:srgbClr val="1634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1F"/>
                </a:solidFill>
                <a:latin typeface="+mn-lt"/>
              </a:defRPr>
            </a:pPr>
            <a:endParaRPr lang="en-US"/>
          </a:p>
        </c:txPr>
        <c:crossAx val="2094734552"/>
        <c:crosses val="autoZero"/>
        <c:auto val="1"/>
        <c:lblAlgn val="ctr"/>
        <c:noMultiLvlLbl val="1"/>
      </c:catAx>
      <c:valAx>
        <c:axId val="2094734552"/>
        <c:scaling>
          <c:orientation val="minMax"/>
          <c:max val="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343A"/>
                </a:solidFill>
                <a:latin typeface="+mn-lt"/>
              </a:defRPr>
            </a:pPr>
            <a:r>
              <a:rPr sz="1400" b="0" i="0" u="none" strike="noStrike">
                <a:solidFill>
                  <a:srgbClr val="16343A"/>
                </a:solidFill>
                <a:latin typeface="+mn-lt"/>
              </a:rPr>
              <a:t>Partage des recettes nettes (après entretien)</a:t>
            </a:r>
          </a:p>
        </c:rich>
      </c:tx>
      <c:layout/>
      <c:overlay val="0"/>
    </c:title>
    <c:autoTitleDeleted val="0"/>
    <c:plotArea>
      <c:layout/>
      <c:doughnutChart>
        <c:varyColors val="1"/>
        <c:ser>
          <c:idx val="0"/>
          <c:order val="0"/>
          <c:tx>
            <c:strRef>
              <c:f>Sheet1!$B$1</c:f>
              <c:strCache>
                <c:ptCount val="1"/>
                <c:pt idx="0">
                  <c:v>Recettes nettes</c:v>
                </c:pt>
              </c:strCache>
            </c:strRef>
          </c:tx>
          <c:spPr>
            <a:solidFill>
              <a:schemeClr val="accent1"/>
            </a:solidFill>
            <a:ln w="9525" cap="flat">
              <a:solidFill>
                <a:srgbClr val="F9F9F9"/>
              </a:solidFill>
              <a:prstDash val="solid"/>
              <a:round/>
            </a:ln>
            <a:effectLst/>
          </c:spPr>
          <c:dPt>
            <c:idx val="0"/>
            <c:bubble3D val="0"/>
            <c:spPr>
              <a:solidFill>
                <a:srgbClr val="16343A"/>
              </a:solidFill>
              <a:effectLst/>
            </c:spPr>
          </c:dPt>
          <c:dPt>
            <c:idx val="1"/>
            <c:bubble3D val="0"/>
            <c:spPr>
              <a:solidFill>
                <a:srgbClr val="2C6E6F"/>
              </a:solidFill>
              <a:effectLst/>
            </c:spPr>
          </c:dPt>
          <c:dPt>
            <c:idx val="2"/>
            <c:bubble3D val="0"/>
            <c:spPr>
              <a:solidFill>
                <a:srgbClr val="B5542D"/>
              </a:solidFill>
              <a:effectLst/>
            </c:spPr>
          </c:dPt>
          <c:dLbls>
            <c:dLbl>
              <c:idx val="0"/>
              <c:numFmt formatCode="0%" sourceLinked="0"/>
              <c:spPr/>
              <c:txPr>
                <a:bodyPr/>
                <a:lstStyle/>
                <a:p>
                  <a:pPr>
                    <a:defRPr sz="14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4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4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État</c:v>
                </c:pt>
                <c:pt idx="1">
                  <c:v>Fonds d'amélioration</c:v>
                </c:pt>
                <c:pt idx="2">
                  <c:v>EIS-EKA</c:v>
                </c:pt>
              </c:strCache>
            </c:strRef>
          </c:cat>
          <c:val>
            <c:numRef>
              <c:f>Sheet1!$B$2:$B$4</c:f>
              <c:numCache>
                <c:ptCount val="3"/>
                <c:pt idx="0">
                  <c:v>10</c:v>
                </c:pt>
                <c:pt idx="1">
                  <c:v>40</c:v>
                </c:pt>
                <c:pt idx="2">
                  <c:v>50</c:v>
                </c:pt>
              </c:numCache>
            </c:numRef>
          </c:val>
        </c:ser>
        <c:firstSliceAng val="0"/>
        <c:holeSize val="55"/>
      </c:doughnutChart>
      <c:spPr>
        <a:noFill/>
        <a:ln>
          <a:noFill/>
        </a:ln>
        <a:effectLst/>
      </c:spPr>
    </c:plotArea>
    <c:legend>
      <c:legendPos val="b"/>
      <c:overlay val="0"/>
      <c:txPr>
        <a:bodyPr/>
        <a:lstStyle/>
        <a:p>
          <a:pPr>
            <a:defRPr sz="1300">
              <a:solidFill>
                <a:srgbClr val="1B1F1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adressée à Son Excellence Monsieur le Ministre des Infrastructures et Travaux Publics de la RDC.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Suite à l'accueil favorable réservé à notre intention de partenariat, le Groupe EIS-EKA transmet sa proposition. Nous proposons de rouvrir le tronçon sur nos fonds propres, sans aucune contribution financière de l'État. En contrepartie, nous sollicitons le droit d'exploiter des postes de péage environ tous les 50 km. Nous sollicitons la signature d'une convention de concession et l'autorisation de perception du péage, et restons à disposition pour une présentation devant les services du Ministère.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tronçon part d'Uvira, longe le lac par Makobola, Swima et Baraka (territoire de Fizi), puis descend vers Kalemie à travers le nord de la province du Tanganyika.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somb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749040"/>
            <a:ext cx="10698480" cy="118872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Groupe EIS-EKA · Proposition RN5 Uvira – Kalemie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3.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3.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slideLayout" Target="../slideLayouts/slideLayout3.xml"/><Relationship Id="rId11"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Route Nationale n°5 – tronçon Uvira – Kalemie</a:t>
            </a:r>
            <a:endParaRPr lang="en-US" sz="4000" dirty="0"/>
          </a:p>
        </p:txBody>
      </p:sp>
      <p:sp>
        <p:nvSpPr>
          <p:cNvPr id="3" name="Text 0"/>
          <p:cNvSpPr/>
          <p:nvPr>
            <p:ph idx="101" type="body" hasCustomPrompt="1"/>
          </p:nvPr>
        </p:nvSpPr>
        <p:spPr>
          <a:xfrm>
            <a:off x="731520" y="3749040"/>
            <a:ext cx="10698480" cy="1188720"/>
          </a:xfrm>
          <a:prstGeom prst="rect">
            <a:avLst/>
          </a:prstGeom>
          <a:noFill/>
          <a:ln/>
        </p:spPr>
        <p:txBody>
          <a:bodyPr wrap="square" rtlCol="0" anchor="t"/>
          <a:lstStyle/>
          <a:p>
            <a:pPr indent="0" marL="0">
              <a:buNone/>
            </a:pPr>
            <a:r>
              <a:rPr lang="en-US" sz="1800" b="1" dirty="0">
                <a:solidFill>
                  <a:schemeClr val="bg2"/>
                </a:solidFill>
              </a:rPr>
              <a:t>Proposition technique de faisabilité</a:t>
            </a:r>
            <a:endParaRPr lang="en-US" sz="1800" dirty="0"/>
          </a:p>
          <a:p>
            <a:pPr indent="0" marL="0">
              <a:buNone/>
            </a:pPr>
            <a:r>
              <a:rPr lang="en-US" sz="1800" dirty="0">
                <a:solidFill>
                  <a:schemeClr val="bg2"/>
                </a:solidFill>
              </a:rPr>
              <a:t>Concession de réouverture, d'exploitation à péage et d'amélioration progressive, autofinancée par le Groupe EIS-EKA</a:t>
            </a:r>
            <a:endParaRPr lang="en-US" sz="1800" dirty="0"/>
          </a:p>
        </p:txBody>
      </p:sp>
      <p:sp>
        <p:nvSpPr>
          <p:cNvPr id="4" name="Text 2"/>
          <p:cNvSpPr txBox="1"/>
          <p:nvPr/>
        </p:nvSpPr>
        <p:spPr>
          <a:xfrm>
            <a:off x="731520" y="5943600"/>
            <a:ext cx="7315200" cy="365760"/>
          </a:xfrm>
          <a:prstGeom prst="rect">
            <a:avLst/>
          </a:prstGeom>
          <a:noFill/>
          <a:ln/>
        </p:spPr>
        <p:txBody>
          <a:bodyPr wrap="square" lIns="0" tIns="0" rIns="0" bIns="0" rtlCol="0" anchor="ctr"/>
          <a:lstStyle/>
          <a:p>
            <a:pPr indent="0" marL="0">
              <a:buNone/>
            </a:pPr>
            <a:r>
              <a:rPr lang="en-US" sz="1400" dirty="0">
                <a:solidFill>
                  <a:schemeClr val="accent3"/>
                </a:solidFill>
              </a:rPr>
              <a:t>Groupe EIS-EKA · Kinshasa, 7 octobre 2026</a:t>
            </a:r>
            <a:endParaRPr lang="en-US" sz="1400" dirty="0"/>
          </a:p>
        </p:txBody>
      </p:sp>
      <p:pic>
        <p:nvPicPr>
          <p:cNvPr id="5" name="Icône route" descr="preencoded.png">    </p:cNvPr>
          <p:cNvPicPr>
            <a:picLocks noChangeAspect="1"/>
          </p:cNvPicPr>
          <p:nvPr/>
        </p:nvPicPr>
        <p:blipFill>
          <a:blip r:embed="rId1"/>
          <a:stretch>
            <a:fillRect/>
          </a:stretch>
        </p:blipFill>
        <p:spPr>
          <a:xfrm>
            <a:off x="731520" y="731520"/>
            <a:ext cx="822960"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Lettre de transmission au Ministre</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Une route rouverte sur fonds propres, sans contribution de l'État, contre un droit de péage</a:t>
            </a:r>
            <a:endParaRPr lang="en-US" sz="1600" dirty="0"/>
          </a:p>
        </p:txBody>
      </p:sp>
      <p:sp>
        <p:nvSpPr>
          <p:cNvPr id="4" name="Objet"/>
          <p:cNvSpPr/>
          <p:nvPr/>
        </p:nvSpPr>
        <p:spPr>
          <a:xfrm>
            <a:off x="548640" y="1828800"/>
            <a:ext cx="5669280" cy="4297680"/>
          </a:xfrm>
          <a:prstGeom prst="roundRect">
            <a:avLst>
              <a:gd name="adj" fmla="val 1702"/>
            </a:avLst>
          </a:prstGeom>
          <a:solidFill>
            <a:schemeClr val="bg2"/>
          </a:solidFill>
          <a:ln w="12700">
            <a:solidFill>
              <a:schemeClr val="bg2"/>
            </a:solidFill>
            <a:prstDash val="solid"/>
          </a:ln>
        </p:spPr>
      </p:sp>
      <p:sp>
        <p:nvSpPr>
          <p:cNvPr id="5" name="Text 3"/>
          <p:cNvSpPr txBox="1"/>
          <p:nvPr/>
        </p:nvSpPr>
        <p:spPr>
          <a:xfrm>
            <a:off x="822960" y="2011680"/>
            <a:ext cx="5120640" cy="3931920"/>
          </a:xfrm>
          <a:prstGeom prst="rect">
            <a:avLst/>
          </a:prstGeom>
          <a:noFill/>
          <a:ln/>
        </p:spPr>
        <p:txBody>
          <a:bodyPr wrap="square" lIns="0" tIns="0" rIns="0" bIns="0" rtlCol="0" anchor="t"/>
          <a:lstStyle/>
          <a:p>
            <a:pPr indent="0" marL="0">
              <a:buNone/>
            </a:pPr>
            <a:r>
              <a:rPr lang="en-US" sz="1500" b="1" dirty="0">
                <a:solidFill>
                  <a:schemeClr val="accent1"/>
                </a:solidFill>
              </a:rPr>
              <a:t>Destinataire</a:t>
            </a:r>
            <a:endParaRPr lang="en-US" sz="1500" dirty="0"/>
          </a:p>
          <a:p>
            <a:pPr indent="0" marL="0">
              <a:spcAft>
                <a:spcPts val="1200"/>
              </a:spcAft>
              <a:buNone/>
            </a:pPr>
            <a:r>
              <a:rPr lang="en-US" sz="1500" dirty="0">
                <a:solidFill>
                  <a:schemeClr val="tx1"/>
                </a:solidFill>
              </a:rPr>
              <a:t>Son Excellence Monsieur le Ministre des Infrastructures et Travaux Publics, RDC – Kinshasa/Gombe</a:t>
            </a:r>
            <a:endParaRPr lang="en-US" sz="1500" dirty="0"/>
          </a:p>
          <a:p>
            <a:pPr indent="0" marL="0">
              <a:buNone/>
            </a:pPr>
            <a:r>
              <a:rPr lang="en-US" sz="1500" b="1" dirty="0">
                <a:solidFill>
                  <a:schemeClr val="accent1"/>
                </a:solidFill>
              </a:rPr>
              <a:t>Objet</a:t>
            </a:r>
            <a:endParaRPr lang="en-US" sz="1500" dirty="0"/>
          </a:p>
          <a:p>
            <a:pPr indent="0" marL="0">
              <a:buNone/>
            </a:pPr>
            <a:r>
              <a:rPr lang="en-US" sz="1500" dirty="0">
                <a:solidFill>
                  <a:schemeClr val="tx1"/>
                </a:solidFill>
              </a:rPr>
              <a:t>Transmission de la proposition technique de faisabilité pour la réouverture, l'exploitation à péage et l'amélioration progressive de la RN5, tronçon Uvira – Kalemie, sur fonds propres du Groupe EIS-EKA</a:t>
            </a:r>
            <a:endParaRPr lang="en-US" sz="1500" dirty="0"/>
          </a:p>
        </p:txBody>
      </p:sp>
      <p:sp>
        <p:nvSpPr>
          <p:cNvPr id="6" name="Pastille icône"/>
          <p:cNvSpPr/>
          <p:nvPr/>
        </p:nvSpPr>
        <p:spPr>
          <a:xfrm>
            <a:off x="6583680" y="1874520"/>
            <a:ext cx="640080" cy="640080"/>
          </a:xfrm>
          <a:prstGeom prst="ellipse">
            <a:avLst/>
          </a:prstGeom>
          <a:solidFill>
            <a:schemeClr val="accent1"/>
          </a:solidFill>
          <a:ln w="12700">
            <a:solidFill>
              <a:schemeClr val="accent1"/>
            </a:solidFill>
            <a:prstDash val="solid"/>
          </a:ln>
        </p:spPr>
      </p:sp>
      <p:pic>
        <p:nvPicPr>
          <p:cNvPr id="7" name="Icône FaHandHoldingUsd" descr="preencoded.png">    </p:cNvPr>
          <p:cNvPicPr>
            <a:picLocks noChangeAspect="1"/>
          </p:cNvPicPr>
          <p:nvPr/>
        </p:nvPicPr>
        <p:blipFill>
          <a:blip r:embed="rId1"/>
          <a:stretch>
            <a:fillRect/>
          </a:stretch>
        </p:blipFill>
        <p:spPr>
          <a:xfrm>
            <a:off x="6743700" y="2034540"/>
            <a:ext cx="320040" cy="320040"/>
          </a:xfrm>
          <a:prstGeom prst="rect">
            <a:avLst/>
          </a:prstGeom>
        </p:spPr>
      </p:pic>
      <p:sp>
        <p:nvSpPr>
          <p:cNvPr id="8" name="Text 5"/>
          <p:cNvSpPr txBox="1"/>
          <p:nvPr/>
        </p:nvSpPr>
        <p:spPr>
          <a:xfrm>
            <a:off x="7406640" y="1828800"/>
            <a:ext cx="4206240" cy="1097280"/>
          </a:xfrm>
          <a:prstGeom prst="rect">
            <a:avLst/>
          </a:prstGeom>
          <a:noFill/>
          <a:ln/>
        </p:spPr>
        <p:txBody>
          <a:bodyPr wrap="square" lIns="0" tIns="0" rIns="0" bIns="0" rtlCol="0" anchor="t"/>
          <a:lstStyle/>
          <a:p>
            <a:pPr indent="0" marL="0">
              <a:buNone/>
            </a:pPr>
            <a:r>
              <a:rPr lang="en-US" sz="1600" b="1" dirty="0">
                <a:solidFill>
                  <a:schemeClr val="tx2"/>
                </a:solidFill>
              </a:rPr>
              <a:t>Financement privé</a:t>
            </a:r>
            <a:endParaRPr lang="en-US" sz="1600" dirty="0"/>
          </a:p>
          <a:p>
            <a:pPr indent="0" marL="0">
              <a:buNone/>
            </a:pPr>
            <a:r>
              <a:rPr lang="en-US" sz="1400" dirty="0">
                <a:solidFill>
                  <a:schemeClr val="tx1"/>
                </a:solidFill>
              </a:rPr>
              <a:t>Réouverture sur fonds propres, praticable toute l'année en route en terre</a:t>
            </a:r>
            <a:endParaRPr lang="en-US" sz="1600" dirty="0"/>
          </a:p>
        </p:txBody>
      </p:sp>
      <p:sp>
        <p:nvSpPr>
          <p:cNvPr id="9" name="Pastille icône"/>
          <p:cNvSpPr/>
          <p:nvPr/>
        </p:nvSpPr>
        <p:spPr>
          <a:xfrm>
            <a:off x="6583680" y="3108960"/>
            <a:ext cx="640080" cy="640080"/>
          </a:xfrm>
          <a:prstGeom prst="ellipse">
            <a:avLst/>
          </a:prstGeom>
          <a:solidFill>
            <a:schemeClr val="accent1"/>
          </a:solidFill>
          <a:ln w="12700">
            <a:solidFill>
              <a:schemeClr val="accent1"/>
            </a:solidFill>
            <a:prstDash val="solid"/>
          </a:ln>
        </p:spPr>
      </p:sp>
      <p:pic>
        <p:nvPicPr>
          <p:cNvPr id="10" name="Icône FaTicketAlt" descr="preencoded.png">    </p:cNvPr>
          <p:cNvPicPr>
            <a:picLocks noChangeAspect="1"/>
          </p:cNvPicPr>
          <p:nvPr/>
        </p:nvPicPr>
        <p:blipFill>
          <a:blip r:embed="rId2"/>
          <a:stretch>
            <a:fillRect/>
          </a:stretch>
        </p:blipFill>
        <p:spPr>
          <a:xfrm>
            <a:off x="6743700" y="3268980"/>
            <a:ext cx="320040" cy="320040"/>
          </a:xfrm>
          <a:prstGeom prst="rect">
            <a:avLst/>
          </a:prstGeom>
        </p:spPr>
      </p:pic>
      <p:sp>
        <p:nvSpPr>
          <p:cNvPr id="11" name="Text 7"/>
          <p:cNvSpPr txBox="1"/>
          <p:nvPr/>
        </p:nvSpPr>
        <p:spPr>
          <a:xfrm>
            <a:off x="7406640" y="3063240"/>
            <a:ext cx="4206240" cy="1097280"/>
          </a:xfrm>
          <a:prstGeom prst="rect">
            <a:avLst/>
          </a:prstGeom>
          <a:noFill/>
          <a:ln/>
        </p:spPr>
        <p:txBody>
          <a:bodyPr wrap="square" lIns="0" tIns="0" rIns="0" bIns="0" rtlCol="0" anchor="t"/>
          <a:lstStyle/>
          <a:p>
            <a:pPr indent="0" marL="0">
              <a:buNone/>
            </a:pPr>
            <a:r>
              <a:rPr lang="en-US" sz="1600" b="1" dirty="0">
                <a:solidFill>
                  <a:schemeClr val="tx2"/>
                </a:solidFill>
              </a:rPr>
              <a:t>Péage tous les ~50 km</a:t>
            </a:r>
            <a:endParaRPr lang="en-US" sz="1600" dirty="0"/>
          </a:p>
          <a:p>
            <a:pPr indent="0" marL="0">
              <a:buNone/>
            </a:pPr>
            <a:r>
              <a:rPr lang="en-US" sz="1400" dirty="0">
                <a:solidFill>
                  <a:schemeClr val="tx1"/>
                </a:solidFill>
              </a:rPr>
              <a:t>Recettes pour l'entretien, le retour sur investissement et le bitumage progressif</a:t>
            </a:r>
            <a:endParaRPr lang="en-US" sz="1600" dirty="0"/>
          </a:p>
        </p:txBody>
      </p:sp>
      <p:sp>
        <p:nvSpPr>
          <p:cNvPr id="12" name="Pastille icône"/>
          <p:cNvSpPr/>
          <p:nvPr/>
        </p:nvSpPr>
        <p:spPr>
          <a:xfrm>
            <a:off x="6583680" y="4343400"/>
            <a:ext cx="640080" cy="640080"/>
          </a:xfrm>
          <a:prstGeom prst="ellipse">
            <a:avLst/>
          </a:prstGeom>
          <a:solidFill>
            <a:schemeClr val="accent1"/>
          </a:solidFill>
          <a:ln w="12700">
            <a:solidFill>
              <a:schemeClr val="accent1"/>
            </a:solidFill>
            <a:prstDash val="solid"/>
          </a:ln>
        </p:spPr>
      </p:sp>
      <p:pic>
        <p:nvPicPr>
          <p:cNvPr id="13" name="Icône FaFileContract" descr="preencoded.png">    </p:cNvPr>
          <p:cNvPicPr>
            <a:picLocks noChangeAspect="1"/>
          </p:cNvPicPr>
          <p:nvPr/>
        </p:nvPicPr>
        <p:blipFill>
          <a:blip r:embed="rId3"/>
          <a:stretch>
            <a:fillRect/>
          </a:stretch>
        </p:blipFill>
        <p:spPr>
          <a:xfrm>
            <a:off x="6743700" y="4503420"/>
            <a:ext cx="320040" cy="320040"/>
          </a:xfrm>
          <a:prstGeom prst="rect">
            <a:avLst/>
          </a:prstGeom>
        </p:spPr>
      </p:pic>
      <p:sp>
        <p:nvSpPr>
          <p:cNvPr id="14" name="Text 9"/>
          <p:cNvSpPr txBox="1"/>
          <p:nvPr/>
        </p:nvSpPr>
        <p:spPr>
          <a:xfrm>
            <a:off x="7406640" y="4297680"/>
            <a:ext cx="4206240" cy="1097280"/>
          </a:xfrm>
          <a:prstGeom prst="rect">
            <a:avLst/>
          </a:prstGeom>
          <a:noFill/>
          <a:ln/>
        </p:spPr>
        <p:txBody>
          <a:bodyPr wrap="square" lIns="0" tIns="0" rIns="0" bIns="0" rtlCol="0" anchor="t"/>
          <a:lstStyle/>
          <a:p>
            <a:pPr indent="0" marL="0">
              <a:buNone/>
            </a:pPr>
            <a:r>
              <a:rPr lang="en-US" sz="1600" b="1" dirty="0">
                <a:solidFill>
                  <a:schemeClr val="tx2"/>
                </a:solidFill>
              </a:rPr>
              <a:t>Cadre PPP</a:t>
            </a:r>
            <a:endParaRPr lang="en-US" sz="1600" dirty="0"/>
          </a:p>
          <a:p>
            <a:pPr indent="0" marL="0">
              <a:buNone/>
            </a:pPr>
            <a:r>
              <a:rPr lang="en-US" sz="1400" dirty="0">
                <a:solidFill>
                  <a:schemeClr val="tx1"/>
                </a:solidFill>
              </a:rPr>
              <a:t>Loi n°18/016 du 9 juillet 2018 ; demande de convention et d'autorisation de péage</a:t>
            </a:r>
            <a:endParaRPr lang="en-US" sz="1600" dirty="0"/>
          </a:p>
        </p:txBody>
      </p:sp>
      <p:sp>
        <p:nvSpPr>
          <p:cNvPr id="15" name="Text 10"/>
          <p:cNvSpPr txBox="1"/>
          <p:nvPr/>
        </p:nvSpPr>
        <p:spPr>
          <a:xfrm>
            <a:off x="6583680" y="5532120"/>
            <a:ext cx="5029200" cy="594360"/>
          </a:xfrm>
          <a:prstGeom prst="rect">
            <a:avLst/>
          </a:prstGeom>
          <a:noFill/>
          <a:ln/>
        </p:spPr>
        <p:txBody>
          <a:bodyPr wrap="square" lIns="0" tIns="0" rIns="0" bIns="0" rtlCol="0" anchor="ctr"/>
          <a:lstStyle/>
          <a:p>
            <a:pPr indent="0" marL="0">
              <a:buNone/>
            </a:pPr>
            <a:r>
              <a:rPr lang="en-US" sz="1400" b="1" dirty="0">
                <a:solidFill>
                  <a:schemeClr val="tx2"/>
                </a:solidFill>
              </a:rPr>
              <a:t>SAKUBU Juvenal</a:t>
            </a:r>
            <a:endParaRPr lang="en-US" sz="1400" dirty="0"/>
          </a:p>
          <a:p>
            <a:pPr indent="0" marL="0">
              <a:buNone/>
            </a:pPr>
            <a:r>
              <a:rPr lang="en-US" sz="1400" dirty="0">
                <a:solidFill>
                  <a:schemeClr val="accent5"/>
                </a:solidFill>
              </a:rPr>
              <a:t>Directeur Général, Groupe EIS-EKA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Résumé exécutif</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Rouvrir 420 km sur fonds propres, puis bitumer section par section grâce au péage</a:t>
            </a:r>
            <a:endParaRPr lang="en-US" sz="1600" dirty="0"/>
          </a:p>
        </p:txBody>
      </p:sp>
      <p:sp>
        <p:nvSpPr>
          <p:cNvPr id="4" name="Chiffre clé"/>
          <p:cNvSpPr/>
          <p:nvPr/>
        </p:nvSpPr>
        <p:spPr>
          <a:xfrm>
            <a:off x="548640" y="1828800"/>
            <a:ext cx="3474720" cy="1554480"/>
          </a:xfrm>
          <a:prstGeom prst="roundRect">
            <a:avLst>
              <a:gd name="adj" fmla="val 4706"/>
            </a:avLst>
          </a:prstGeom>
          <a:solidFill>
            <a:schemeClr val="bg2"/>
          </a:solidFill>
          <a:ln w="12700">
            <a:solidFill>
              <a:schemeClr val="bg2"/>
            </a:solidFill>
            <a:prstDash val="solid"/>
          </a:ln>
        </p:spPr>
      </p:sp>
      <p:sp>
        <p:nvSpPr>
          <p:cNvPr id="5" name="Text 3"/>
          <p:cNvSpPr txBox="1"/>
          <p:nvPr/>
        </p:nvSpPr>
        <p:spPr>
          <a:xfrm>
            <a:off x="777240" y="1965960"/>
            <a:ext cx="301752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 420 km</a:t>
            </a:r>
            <a:endParaRPr lang="en-US" sz="3200" dirty="0"/>
          </a:p>
        </p:txBody>
      </p:sp>
      <p:sp>
        <p:nvSpPr>
          <p:cNvPr id="6" name="Text 4"/>
          <p:cNvSpPr txBox="1"/>
          <p:nvPr/>
        </p:nvSpPr>
        <p:spPr>
          <a:xfrm>
            <a:off x="777240" y="2651760"/>
            <a:ext cx="3017520" cy="640080"/>
          </a:xfrm>
          <a:prstGeom prst="rect">
            <a:avLst/>
          </a:prstGeom>
          <a:noFill/>
          <a:ln/>
        </p:spPr>
        <p:txBody>
          <a:bodyPr wrap="square" lIns="0" tIns="0" rIns="0" bIns="0" rtlCol="0" anchor="t"/>
          <a:lstStyle/>
          <a:p>
            <a:pPr indent="0" marL="0">
              <a:buNone/>
            </a:pPr>
            <a:r>
              <a:rPr lang="en-US" sz="1300" dirty="0">
                <a:solidFill>
                  <a:schemeClr val="tx1"/>
                </a:solidFill>
              </a:rPr>
              <a:t>Uvira (Sud-Kivu) – Kalemie (Tanganyika), à confirmer par levés</a:t>
            </a:r>
            <a:endParaRPr lang="en-US" sz="1300" dirty="0"/>
          </a:p>
        </p:txBody>
      </p:sp>
      <p:sp>
        <p:nvSpPr>
          <p:cNvPr id="7" name="Chiffre clé"/>
          <p:cNvSpPr/>
          <p:nvPr/>
        </p:nvSpPr>
        <p:spPr>
          <a:xfrm>
            <a:off x="4297680" y="1828800"/>
            <a:ext cx="3474720" cy="1554480"/>
          </a:xfrm>
          <a:prstGeom prst="roundRect">
            <a:avLst>
              <a:gd name="adj" fmla="val 4706"/>
            </a:avLst>
          </a:prstGeom>
          <a:solidFill>
            <a:schemeClr val="bg2"/>
          </a:solidFill>
          <a:ln w="12700">
            <a:solidFill>
              <a:schemeClr val="bg2"/>
            </a:solidFill>
            <a:prstDash val="solid"/>
          </a:ln>
        </p:spPr>
      </p:sp>
      <p:sp>
        <p:nvSpPr>
          <p:cNvPr id="8" name="Text 6"/>
          <p:cNvSpPr txBox="1"/>
          <p:nvPr/>
        </p:nvSpPr>
        <p:spPr>
          <a:xfrm>
            <a:off x="4526280" y="1965960"/>
            <a:ext cx="301752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25–45 M USD</a:t>
            </a:r>
            <a:endParaRPr lang="en-US" sz="3200" dirty="0"/>
          </a:p>
        </p:txBody>
      </p:sp>
      <p:sp>
        <p:nvSpPr>
          <p:cNvPr id="9" name="Text 7"/>
          <p:cNvSpPr txBox="1"/>
          <p:nvPr/>
        </p:nvSpPr>
        <p:spPr>
          <a:xfrm>
            <a:off x="4526280" y="2651760"/>
            <a:ext cx="3017520" cy="640080"/>
          </a:xfrm>
          <a:prstGeom prst="rect">
            <a:avLst/>
          </a:prstGeom>
          <a:noFill/>
          <a:ln/>
        </p:spPr>
        <p:txBody>
          <a:bodyPr wrap="square" lIns="0" tIns="0" rIns="0" bIns="0" rtlCol="0" anchor="t"/>
          <a:lstStyle/>
          <a:p>
            <a:pPr indent="0" marL="0">
              <a:buNone/>
            </a:pPr>
            <a:r>
              <a:rPr lang="en-US" sz="1300" dirty="0">
                <a:solidFill>
                  <a:schemeClr val="tx1"/>
                </a:solidFill>
              </a:rPr>
              <a:t>Réouverture en terre (phase 1), 100 % fonds propres EIS-EKA</a:t>
            </a:r>
            <a:endParaRPr lang="en-US" sz="1300" dirty="0"/>
          </a:p>
        </p:txBody>
      </p:sp>
      <p:sp>
        <p:nvSpPr>
          <p:cNvPr id="10" name="Chiffre clé"/>
          <p:cNvSpPr/>
          <p:nvPr/>
        </p:nvSpPr>
        <p:spPr>
          <a:xfrm>
            <a:off x="8046720" y="1828800"/>
            <a:ext cx="3474720" cy="1554480"/>
          </a:xfrm>
          <a:prstGeom prst="roundRect">
            <a:avLst>
              <a:gd name="adj" fmla="val 4706"/>
            </a:avLst>
          </a:prstGeom>
          <a:solidFill>
            <a:schemeClr val="bg2"/>
          </a:solidFill>
          <a:ln w="12700">
            <a:solidFill>
              <a:schemeClr val="bg2"/>
            </a:solidFill>
            <a:prstDash val="solid"/>
          </a:ln>
        </p:spPr>
      </p:sp>
      <p:sp>
        <p:nvSpPr>
          <p:cNvPr id="11" name="Text 9"/>
          <p:cNvSpPr txBox="1"/>
          <p:nvPr/>
        </p:nvSpPr>
        <p:spPr>
          <a:xfrm>
            <a:off x="8275320" y="1965960"/>
            <a:ext cx="301752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12–18 mois</a:t>
            </a:r>
            <a:endParaRPr lang="en-US" sz="3200" dirty="0"/>
          </a:p>
        </p:txBody>
      </p:sp>
      <p:sp>
        <p:nvSpPr>
          <p:cNvPr id="12" name="Text 10"/>
          <p:cNvSpPr txBox="1"/>
          <p:nvPr/>
        </p:nvSpPr>
        <p:spPr>
          <a:xfrm>
            <a:off x="8275320" y="2651760"/>
            <a:ext cx="3017520" cy="640080"/>
          </a:xfrm>
          <a:prstGeom prst="rect">
            <a:avLst/>
          </a:prstGeom>
          <a:noFill/>
          <a:ln/>
        </p:spPr>
        <p:txBody>
          <a:bodyPr wrap="square" lIns="0" tIns="0" rIns="0" bIns="0" rtlCol="0" anchor="t"/>
          <a:lstStyle/>
          <a:p>
            <a:pPr indent="0" marL="0">
              <a:buNone/>
            </a:pPr>
            <a:r>
              <a:rPr lang="en-US" sz="1300" dirty="0">
                <a:solidFill>
                  <a:schemeClr val="tx1"/>
                </a:solidFill>
              </a:rPr>
              <a:t>Durée de la phase 1, travaux en 3 lots simultanés</a:t>
            </a:r>
            <a:endParaRPr lang="en-US" sz="1300" dirty="0"/>
          </a:p>
        </p:txBody>
      </p:sp>
      <p:sp>
        <p:nvSpPr>
          <p:cNvPr id="13" name="Chiffre clé"/>
          <p:cNvSpPr/>
          <p:nvPr/>
        </p:nvSpPr>
        <p:spPr>
          <a:xfrm>
            <a:off x="548640" y="3611880"/>
            <a:ext cx="3474720" cy="1554480"/>
          </a:xfrm>
          <a:prstGeom prst="roundRect">
            <a:avLst>
              <a:gd name="adj" fmla="val 4706"/>
            </a:avLst>
          </a:prstGeom>
          <a:solidFill>
            <a:schemeClr val="bg2"/>
          </a:solidFill>
          <a:ln w="12700">
            <a:solidFill>
              <a:schemeClr val="bg2"/>
            </a:solidFill>
            <a:prstDash val="solid"/>
          </a:ln>
        </p:spPr>
      </p:sp>
      <p:sp>
        <p:nvSpPr>
          <p:cNvPr id="14" name="Text 12"/>
          <p:cNvSpPr txBox="1"/>
          <p:nvPr/>
        </p:nvSpPr>
        <p:spPr>
          <a:xfrm>
            <a:off x="777240" y="3749040"/>
            <a:ext cx="301752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 8 postes</a:t>
            </a:r>
            <a:endParaRPr lang="en-US" sz="3200" dirty="0"/>
          </a:p>
        </p:txBody>
      </p:sp>
      <p:sp>
        <p:nvSpPr>
          <p:cNvPr id="15" name="Text 13"/>
          <p:cNvSpPr txBox="1"/>
          <p:nvPr/>
        </p:nvSpPr>
        <p:spPr>
          <a:xfrm>
            <a:off x="777240" y="4434840"/>
            <a:ext cx="3017520" cy="640080"/>
          </a:xfrm>
          <a:prstGeom prst="rect">
            <a:avLst/>
          </a:prstGeom>
          <a:noFill/>
          <a:ln/>
        </p:spPr>
        <p:txBody>
          <a:bodyPr wrap="square" lIns="0" tIns="0" rIns="0" bIns="0" rtlCol="0" anchor="t"/>
          <a:lstStyle/>
          <a:p>
            <a:pPr indent="0" marL="0">
              <a:buNone/>
            </a:pPr>
            <a:r>
              <a:rPr lang="en-US" sz="1300" dirty="0">
                <a:solidFill>
                  <a:schemeClr val="tx1"/>
                </a:solidFill>
              </a:rPr>
              <a:t>Un péage tous les 50 km, ouvert seulement sur sections rouvertes</a:t>
            </a:r>
            <a:endParaRPr lang="en-US" sz="1300" dirty="0"/>
          </a:p>
        </p:txBody>
      </p:sp>
      <p:sp>
        <p:nvSpPr>
          <p:cNvPr id="16" name="Chiffre clé"/>
          <p:cNvSpPr/>
          <p:nvPr/>
        </p:nvSpPr>
        <p:spPr>
          <a:xfrm>
            <a:off x="4297680" y="3611880"/>
            <a:ext cx="3474720" cy="1554480"/>
          </a:xfrm>
          <a:prstGeom prst="roundRect">
            <a:avLst>
              <a:gd name="adj" fmla="val 4706"/>
            </a:avLst>
          </a:prstGeom>
          <a:solidFill>
            <a:schemeClr val="bg2"/>
          </a:solidFill>
          <a:ln w="12700">
            <a:solidFill>
              <a:schemeClr val="bg2"/>
            </a:solidFill>
            <a:prstDash val="solid"/>
          </a:ln>
        </p:spPr>
      </p:sp>
      <p:sp>
        <p:nvSpPr>
          <p:cNvPr id="17" name="Text 15"/>
          <p:cNvSpPr txBox="1"/>
          <p:nvPr/>
        </p:nvSpPr>
        <p:spPr>
          <a:xfrm>
            <a:off x="4526280" y="3749040"/>
            <a:ext cx="301752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30 ans</a:t>
            </a:r>
            <a:endParaRPr lang="en-US" sz="3200" dirty="0"/>
          </a:p>
        </p:txBody>
      </p:sp>
      <p:sp>
        <p:nvSpPr>
          <p:cNvPr id="18" name="Text 16"/>
          <p:cNvSpPr txBox="1"/>
          <p:nvPr/>
        </p:nvSpPr>
        <p:spPr>
          <a:xfrm>
            <a:off x="4526280" y="4434840"/>
            <a:ext cx="3017520" cy="640080"/>
          </a:xfrm>
          <a:prstGeom prst="rect">
            <a:avLst/>
          </a:prstGeom>
          <a:noFill/>
          <a:ln/>
        </p:spPr>
        <p:txBody>
          <a:bodyPr wrap="square" lIns="0" tIns="0" rIns="0" bIns="0" rtlCol="0" anchor="t"/>
          <a:lstStyle/>
          <a:p>
            <a:pPr indent="0" marL="0">
              <a:buNone/>
            </a:pPr>
            <a:r>
              <a:rPr lang="en-US" sz="1300" dirty="0">
                <a:solidFill>
                  <a:schemeClr val="tx1"/>
                </a:solidFill>
              </a:rPr>
              <a:t>Concession Réhabiliter-Exploiter-Transférer à péage</a:t>
            </a:r>
            <a:endParaRPr lang="en-US" sz="1300" dirty="0"/>
          </a:p>
        </p:txBody>
      </p:sp>
      <p:sp>
        <p:nvSpPr>
          <p:cNvPr id="19" name="Chiffre clé"/>
          <p:cNvSpPr/>
          <p:nvPr/>
        </p:nvSpPr>
        <p:spPr>
          <a:xfrm>
            <a:off x="8046720" y="3611880"/>
            <a:ext cx="3474720" cy="1554480"/>
          </a:xfrm>
          <a:prstGeom prst="roundRect">
            <a:avLst>
              <a:gd name="adj" fmla="val 4706"/>
            </a:avLst>
          </a:prstGeom>
          <a:solidFill>
            <a:schemeClr val="bg2"/>
          </a:solidFill>
          <a:ln w="12700">
            <a:solidFill>
              <a:schemeClr val="bg2"/>
            </a:solidFill>
            <a:prstDash val="solid"/>
          </a:ln>
        </p:spPr>
      </p:sp>
      <p:sp>
        <p:nvSpPr>
          <p:cNvPr id="20" name="Text 18"/>
          <p:cNvSpPr txBox="1"/>
          <p:nvPr/>
        </p:nvSpPr>
        <p:spPr>
          <a:xfrm>
            <a:off x="8275320" y="3749040"/>
            <a:ext cx="3017520" cy="6858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 USD</a:t>
            </a:r>
            <a:endParaRPr lang="en-US" sz="3200" dirty="0"/>
          </a:p>
        </p:txBody>
      </p:sp>
      <p:sp>
        <p:nvSpPr>
          <p:cNvPr id="21" name="Text 19"/>
          <p:cNvSpPr txBox="1"/>
          <p:nvPr/>
        </p:nvSpPr>
        <p:spPr>
          <a:xfrm>
            <a:off x="8275320" y="4434840"/>
            <a:ext cx="3017520" cy="640080"/>
          </a:xfrm>
          <a:prstGeom prst="rect">
            <a:avLst/>
          </a:prstGeom>
          <a:noFill/>
          <a:ln/>
        </p:spPr>
        <p:txBody>
          <a:bodyPr wrap="square" lIns="0" tIns="0" rIns="0" bIns="0" rtlCol="0" anchor="t"/>
          <a:lstStyle/>
          <a:p>
            <a:pPr indent="0" marL="0">
              <a:buNone/>
            </a:pPr>
            <a:r>
              <a:rPr lang="en-US" sz="1300" dirty="0">
                <a:solidFill>
                  <a:schemeClr val="tx1"/>
                </a:solidFill>
              </a:rPr>
              <a:t>Ni contribution ni garantie financière de l'État</a:t>
            </a:r>
            <a:endParaRPr lang="en-US" sz="1300" dirty="0"/>
          </a:p>
        </p:txBody>
      </p:sp>
      <p:sp>
        <p:nvSpPr>
          <p:cNvPr id="22" name="Text 20"/>
          <p:cNvSpPr txBox="1"/>
          <p:nvPr/>
        </p:nvSpPr>
        <p:spPr>
          <a:xfrm>
            <a:off x="548640" y="5486400"/>
            <a:ext cx="11064240" cy="640080"/>
          </a:xfrm>
          <a:prstGeom prst="rect">
            <a:avLst/>
          </a:prstGeom>
          <a:noFill/>
          <a:ln/>
        </p:spPr>
        <p:txBody>
          <a:bodyPr wrap="square" lIns="0" tIns="0" rIns="0" bIns="0" rtlCol="0" anchor="ctr"/>
          <a:lstStyle/>
          <a:p>
            <a:pPr indent="0" marL="0">
              <a:buNone/>
            </a:pPr>
            <a:r>
              <a:rPr lang="en-US" sz="1500" i="1" dirty="0">
                <a:solidFill>
                  <a:schemeClr val="accent1"/>
                </a:solidFill>
              </a:rPr>
              <a:t>Principe : pas de péage sans route praticable ; chaque dollar perçu au-delà de l'entretien et du retour sur investissement finance l'amélioration de la chaussée.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La proposition en un coup d'œil</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Les chiffres sont des ordres de grandeur, à consolider par les reconnaissances de terrain</a:t>
            </a:r>
            <a:endParaRPr lang="en-US" sz="1600" dirty="0"/>
          </a:p>
        </p:txBody>
      </p:sp>
      <p:graphicFrame>
        <p:nvGraphicFramePr>
          <p:cNvPr id="5" name="Tableau synthèse"/>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3108960"/>
                <a:gridCol w="7955280"/>
              </a:tblGrid>
              <a:tr h="438912">
                <a:tc>
                  <a:txBody>
                    <a:bodyPr/>
                    <a:lstStyle/>
                    <a:p>
                      <a:pPr indent="0" marL="0">
                        <a:buNone/>
                      </a:pPr>
                      <a:r>
                        <a:rPr lang="en-US" sz="1400" b="1" dirty="0">
                          <a:solidFill>
                            <a:schemeClr val="bg1"/>
                          </a:solidFill>
                        </a:rPr>
                        <a:t>Élément</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Proposition</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2"/>
                    </a:solidFill>
                  </a:tcPr>
                </a:tc>
              </a:tr>
              <a:tr h="438912">
                <a:tc>
                  <a:txBody>
                    <a:bodyPr/>
                    <a:lstStyle/>
                    <a:p>
                      <a:pPr indent="0" marL="0">
                        <a:buNone/>
                      </a:pPr>
                      <a:r>
                        <a:rPr lang="en-US" sz="1400" b="1" dirty="0">
                          <a:solidFill>
                            <a:schemeClr val="tx2"/>
                          </a:solidFill>
                        </a:rPr>
                        <a:t>Ouvrage</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RN5 Uvira (Sud-Kivu) – Kalemie (Tanganyika), environ 420 km</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438912">
                <a:tc>
                  <a:txBody>
                    <a:bodyPr/>
                    <a:lstStyle/>
                    <a:p>
                      <a:pPr indent="0" marL="0">
                        <a:buNone/>
                      </a:pPr>
                      <a:r>
                        <a:rPr lang="en-US" sz="1400" b="1" dirty="0">
                          <a:solidFill>
                            <a:schemeClr val="tx2"/>
                          </a:solidFill>
                        </a:rPr>
                        <a:t>Modèle</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Concession Réhabiliter-Exploiter-Transférer à péage, 30 ans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r h="438912">
                <a:tc>
                  <a:txBody>
                    <a:bodyPr/>
                    <a:lstStyle/>
                    <a:p>
                      <a:pPr indent="0" marL="0">
                        <a:buNone/>
                      </a:pPr>
                      <a:r>
                        <a:rPr lang="en-US" sz="1400" b="1" dirty="0">
                          <a:solidFill>
                            <a:schemeClr val="tx2"/>
                          </a:solidFill>
                        </a:rPr>
                        <a:t>Financement</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100 % fonds propres du Groupe EIS-EKA, aucune contribution ni garantie financière de l'État</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438912">
                <a:tc>
                  <a:txBody>
                    <a:bodyPr/>
                    <a:lstStyle/>
                    <a:p>
                      <a:pPr indent="0" marL="0">
                        <a:buNone/>
                      </a:pPr>
                      <a:r>
                        <a:rPr lang="en-US" sz="1400" b="1" dirty="0">
                          <a:solidFill>
                            <a:schemeClr val="tx2"/>
                          </a:solidFill>
                        </a:rPr>
                        <a:t>Phase 1 : réouverture en terre</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25 à 45 millions USD, 12 à 18 mois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r h="438912">
                <a:tc>
                  <a:txBody>
                    <a:bodyPr/>
                    <a:lstStyle/>
                    <a:p>
                      <a:pPr indent="0" marL="0">
                        <a:buNone/>
                      </a:pPr>
                      <a:r>
                        <a:rPr lang="en-US" sz="1400" b="1" dirty="0">
                          <a:solidFill>
                            <a:schemeClr val="tx2"/>
                          </a:solidFill>
                        </a:rPr>
                        <a:t>Péages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Environ 8 postes, un tous les 50 km, ouverts uniquement sur les sections rouvertes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438912">
                <a:tc>
                  <a:txBody>
                    <a:bodyPr/>
                    <a:lstStyle/>
                    <a:p>
                      <a:pPr indent="0" marL="0">
                        <a:buNone/>
                      </a:pPr>
                      <a:r>
                        <a:rPr lang="en-US" sz="1400" b="1" dirty="0">
                          <a:solidFill>
                            <a:schemeClr val="tx2"/>
                          </a:solidFill>
                        </a:rPr>
                        <a:t>Amélioration</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Rechargement latéritique, puis bitumage section par section, déclenché par les recettes disponibles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r h="438912">
                <a:tc>
                  <a:txBody>
                    <a:bodyPr/>
                    <a:lstStyle/>
                    <a:p>
                      <a:pPr indent="0" marL="0">
                        <a:buNone/>
                      </a:pPr>
                      <a:r>
                        <a:rPr lang="en-US" sz="1400" b="1" dirty="0">
                          <a:solidFill>
                            <a:schemeClr val="tx2"/>
                          </a:solidFill>
                        </a:rPr>
                        <a:t>Part de l'État</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Redevance sur les recettes, route transférée gratuitement en fin de concession</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438912">
                <a:tc>
                  <a:txBody>
                    <a:bodyPr/>
                    <a:lstStyle/>
                    <a:p>
                      <a:pPr indent="0" marL="0">
                        <a:buNone/>
                      </a:pPr>
                      <a:r>
                        <a:rPr lang="en-US" sz="1400" b="1" dirty="0">
                          <a:solidFill>
                            <a:schemeClr val="tx2"/>
                          </a:solidFill>
                        </a:rPr>
                        <a:t>Demande au Ministère</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Convention de concession et arrêté autorisant le péage et ses tarifs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Contexte et justification</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Le maillon le plus dégradé entre le Kivu et le Katanga, le long du lac Tanganyika</a:t>
            </a:r>
            <a:endParaRPr lang="en-US" sz="1600" dirty="0"/>
          </a:p>
        </p:txBody>
      </p:sp>
      <p:sp>
        <p:nvSpPr>
          <p:cNvPr id="4" name="Enjeu 1"/>
          <p:cNvSpPr/>
          <p:nvPr/>
        </p:nvSpPr>
        <p:spPr>
          <a:xfrm>
            <a:off x="548640" y="1828800"/>
            <a:ext cx="5440680" cy="1645920"/>
          </a:xfrm>
          <a:prstGeom prst="roundRect">
            <a:avLst>
              <a:gd name="adj" fmla="val 4444"/>
            </a:avLst>
          </a:prstGeom>
          <a:solidFill>
            <a:schemeClr val="bg2"/>
          </a:solidFill>
          <a:ln w="12700">
            <a:solidFill>
              <a:schemeClr val="bg2"/>
            </a:solidFill>
            <a:prstDash val="solid"/>
          </a:ln>
        </p:spPr>
      </p:sp>
      <p:sp>
        <p:nvSpPr>
          <p:cNvPr id="5" name="Pastille icône"/>
          <p:cNvSpPr/>
          <p:nvPr/>
        </p:nvSpPr>
        <p:spPr>
          <a:xfrm>
            <a:off x="777240" y="2103120"/>
            <a:ext cx="685800" cy="685800"/>
          </a:xfrm>
          <a:prstGeom prst="ellipse">
            <a:avLst/>
          </a:prstGeom>
          <a:solidFill>
            <a:schemeClr val="accent2"/>
          </a:solidFill>
          <a:ln w="12700">
            <a:solidFill>
              <a:schemeClr val="accent2"/>
            </a:solidFill>
            <a:prstDash val="solid"/>
          </a:ln>
        </p:spPr>
      </p:sp>
      <p:pic>
        <p:nvPicPr>
          <p:cNvPr id="6" name="Icône FaHome" descr="preencoded.png">    </p:cNvPr>
          <p:cNvPicPr>
            <a:picLocks noChangeAspect="1"/>
          </p:cNvPicPr>
          <p:nvPr/>
        </p:nvPicPr>
        <p:blipFill>
          <a:blip r:embed="rId1"/>
          <a:stretch>
            <a:fillRect/>
          </a:stretch>
        </p:blipFill>
        <p:spPr>
          <a:xfrm>
            <a:off x="948690" y="2274570"/>
            <a:ext cx="342900" cy="342900"/>
          </a:xfrm>
          <a:prstGeom prst="rect">
            <a:avLst/>
          </a:prstGeom>
        </p:spPr>
      </p:pic>
      <p:sp>
        <p:nvSpPr>
          <p:cNvPr id="7" name="Text 4"/>
          <p:cNvSpPr txBox="1"/>
          <p:nvPr/>
        </p:nvSpPr>
        <p:spPr>
          <a:xfrm>
            <a:off x="1645920" y="1965960"/>
            <a:ext cx="4160520" cy="1371600"/>
          </a:xfrm>
          <a:prstGeom prst="rect">
            <a:avLst/>
          </a:prstGeom>
          <a:noFill/>
          <a:ln/>
        </p:spPr>
        <p:txBody>
          <a:bodyPr wrap="square" lIns="0" tIns="0" rIns="0" bIns="0" rtlCol="0" anchor="t"/>
          <a:lstStyle/>
          <a:p>
            <a:pPr indent="0" marL="0">
              <a:buNone/>
            </a:pPr>
            <a:r>
              <a:rPr lang="en-US" sz="1700" b="1" dirty="0">
                <a:solidFill>
                  <a:schemeClr val="tx2"/>
                </a:solidFill>
              </a:rPr>
              <a:t>Désenclavement intérieur</a:t>
            </a:r>
            <a:endParaRPr lang="en-US" sz="1700" dirty="0"/>
          </a:p>
          <a:p>
            <a:pPr indent="0" marL="0">
              <a:buNone/>
            </a:pPr>
            <a:r>
              <a:rPr lang="en-US" sz="1400" dirty="0">
                <a:solidFill>
                  <a:schemeClr val="tx1"/>
                </a:solidFill>
              </a:rPr>
              <a:t>Uvira, Fizi et Kalemie dépendent du lac et de pistes impraticables en saison des pluies : prix élevés, récoltes perdues faute d'évacuation.</a:t>
            </a:r>
            <a:endParaRPr lang="en-US" sz="1700" dirty="0"/>
          </a:p>
        </p:txBody>
      </p:sp>
      <p:sp>
        <p:nvSpPr>
          <p:cNvPr id="8" name="Enjeu 2"/>
          <p:cNvSpPr/>
          <p:nvPr/>
        </p:nvSpPr>
        <p:spPr>
          <a:xfrm>
            <a:off x="6172200" y="1828800"/>
            <a:ext cx="5440680" cy="1645920"/>
          </a:xfrm>
          <a:prstGeom prst="roundRect">
            <a:avLst>
              <a:gd name="adj" fmla="val 4444"/>
            </a:avLst>
          </a:prstGeom>
          <a:solidFill>
            <a:schemeClr val="bg2"/>
          </a:solidFill>
          <a:ln w="12700">
            <a:solidFill>
              <a:schemeClr val="bg2"/>
            </a:solidFill>
            <a:prstDash val="solid"/>
          </a:ln>
        </p:spPr>
      </p:sp>
      <p:sp>
        <p:nvSpPr>
          <p:cNvPr id="9" name="Pastille icône"/>
          <p:cNvSpPr/>
          <p:nvPr/>
        </p:nvSpPr>
        <p:spPr>
          <a:xfrm>
            <a:off x="6400800" y="2103120"/>
            <a:ext cx="685800" cy="685800"/>
          </a:xfrm>
          <a:prstGeom prst="ellipse">
            <a:avLst/>
          </a:prstGeom>
          <a:solidFill>
            <a:schemeClr val="accent2"/>
          </a:solidFill>
          <a:ln w="12700">
            <a:solidFill>
              <a:schemeClr val="accent2"/>
            </a:solidFill>
            <a:prstDash val="solid"/>
          </a:ln>
        </p:spPr>
      </p:sp>
      <p:pic>
        <p:nvPicPr>
          <p:cNvPr id="10" name="Icône FaFlag" descr="preencoded.png">    </p:cNvPr>
          <p:cNvPicPr>
            <a:picLocks noChangeAspect="1"/>
          </p:cNvPicPr>
          <p:nvPr/>
        </p:nvPicPr>
        <p:blipFill>
          <a:blip r:embed="rId2"/>
          <a:stretch>
            <a:fillRect/>
          </a:stretch>
        </p:blipFill>
        <p:spPr>
          <a:xfrm>
            <a:off x="6572250" y="2274570"/>
            <a:ext cx="342900" cy="342900"/>
          </a:xfrm>
          <a:prstGeom prst="rect">
            <a:avLst/>
          </a:prstGeom>
        </p:spPr>
      </p:pic>
      <p:sp>
        <p:nvSpPr>
          <p:cNvPr id="11" name="Text 7"/>
          <p:cNvSpPr txBox="1"/>
          <p:nvPr/>
        </p:nvSpPr>
        <p:spPr>
          <a:xfrm>
            <a:off x="7269480" y="1965960"/>
            <a:ext cx="4160520" cy="1371600"/>
          </a:xfrm>
          <a:prstGeom prst="rect">
            <a:avLst/>
          </a:prstGeom>
          <a:noFill/>
          <a:ln/>
        </p:spPr>
        <p:txBody>
          <a:bodyPr wrap="square" lIns="0" tIns="0" rIns="0" bIns="0" rtlCol="0" anchor="t"/>
          <a:lstStyle/>
          <a:p>
            <a:pPr indent="0" marL="0">
              <a:buNone/>
            </a:pPr>
            <a:r>
              <a:rPr lang="en-US" sz="1700" b="1" dirty="0">
                <a:solidFill>
                  <a:schemeClr val="tx2"/>
                </a:solidFill>
              </a:rPr>
              <a:t>Intégration nationale</a:t>
            </a:r>
            <a:endParaRPr lang="en-US" sz="1700" dirty="0"/>
          </a:p>
          <a:p>
            <a:pPr indent="0" marL="0">
              <a:buNone/>
            </a:pPr>
            <a:r>
              <a:rPr lang="en-US" sz="1400" dirty="0">
                <a:solidFill>
                  <a:schemeClr val="tx1"/>
                </a:solidFill>
              </a:rPr>
              <a:t>Relie le Sud-Kivu au Tanganyika puis au Haut-Katanga ; rapproche l'Est des réseaux ferroviaires et portuaires nationaux.</a:t>
            </a:r>
            <a:endParaRPr lang="en-US" sz="1700" dirty="0"/>
          </a:p>
        </p:txBody>
      </p:sp>
      <p:sp>
        <p:nvSpPr>
          <p:cNvPr id="12" name="Enjeu 3"/>
          <p:cNvSpPr/>
          <p:nvPr/>
        </p:nvSpPr>
        <p:spPr>
          <a:xfrm>
            <a:off x="548640" y="3657600"/>
            <a:ext cx="5440680" cy="1645920"/>
          </a:xfrm>
          <a:prstGeom prst="roundRect">
            <a:avLst>
              <a:gd name="adj" fmla="val 4444"/>
            </a:avLst>
          </a:prstGeom>
          <a:solidFill>
            <a:schemeClr val="bg2"/>
          </a:solidFill>
          <a:ln w="12700">
            <a:solidFill>
              <a:schemeClr val="bg2"/>
            </a:solidFill>
            <a:prstDash val="solid"/>
          </a:ln>
        </p:spPr>
      </p:sp>
      <p:sp>
        <p:nvSpPr>
          <p:cNvPr id="13" name="Pastille icône"/>
          <p:cNvSpPr/>
          <p:nvPr/>
        </p:nvSpPr>
        <p:spPr>
          <a:xfrm>
            <a:off x="777240" y="3931920"/>
            <a:ext cx="685800" cy="685800"/>
          </a:xfrm>
          <a:prstGeom prst="ellipse">
            <a:avLst/>
          </a:prstGeom>
          <a:solidFill>
            <a:schemeClr val="accent2"/>
          </a:solidFill>
          <a:ln w="12700">
            <a:solidFill>
              <a:schemeClr val="accent2"/>
            </a:solidFill>
            <a:prstDash val="solid"/>
          </a:ln>
        </p:spPr>
      </p:sp>
      <p:pic>
        <p:nvPicPr>
          <p:cNvPr id="14" name="Icône FaGlobeAfrica" descr="preencoded.png">    </p:cNvPr>
          <p:cNvPicPr>
            <a:picLocks noChangeAspect="1"/>
          </p:cNvPicPr>
          <p:nvPr/>
        </p:nvPicPr>
        <p:blipFill>
          <a:blip r:embed="rId3"/>
          <a:stretch>
            <a:fillRect/>
          </a:stretch>
        </p:blipFill>
        <p:spPr>
          <a:xfrm>
            <a:off x="948690" y="4103370"/>
            <a:ext cx="342900" cy="342900"/>
          </a:xfrm>
          <a:prstGeom prst="rect">
            <a:avLst/>
          </a:prstGeom>
        </p:spPr>
      </p:pic>
      <p:sp>
        <p:nvSpPr>
          <p:cNvPr id="15" name="Text 10"/>
          <p:cNvSpPr txBox="1"/>
          <p:nvPr/>
        </p:nvSpPr>
        <p:spPr>
          <a:xfrm>
            <a:off x="1645920" y="3794760"/>
            <a:ext cx="4160520" cy="1371600"/>
          </a:xfrm>
          <a:prstGeom prst="rect">
            <a:avLst/>
          </a:prstGeom>
          <a:noFill/>
          <a:ln/>
        </p:spPr>
        <p:txBody>
          <a:bodyPr wrap="square" lIns="0" tIns="0" rIns="0" bIns="0" rtlCol="0" anchor="t"/>
          <a:lstStyle/>
          <a:p>
            <a:pPr indent="0" marL="0">
              <a:buNone/>
            </a:pPr>
            <a:r>
              <a:rPr lang="en-US" sz="1700" b="1" dirty="0">
                <a:solidFill>
                  <a:schemeClr val="tx2"/>
                </a:solidFill>
              </a:rPr>
              <a:t>Corridor régional</a:t>
            </a:r>
            <a:endParaRPr lang="en-US" sz="1700" dirty="0"/>
          </a:p>
          <a:p>
            <a:pPr indent="0" marL="0">
              <a:buNone/>
            </a:pPr>
            <a:r>
              <a:rPr lang="en-US" sz="1400" dirty="0">
                <a:solidFill>
                  <a:schemeClr val="tx1"/>
                </a:solidFill>
              </a:rPr>
              <a:t>Uvira est à quelques km de Bujumbura ; Kalemie relie Kigoma et le Corridor Central vers Dar es Salaam (CAE).</a:t>
            </a:r>
            <a:endParaRPr lang="en-US" sz="1700" dirty="0"/>
          </a:p>
        </p:txBody>
      </p:sp>
      <p:sp>
        <p:nvSpPr>
          <p:cNvPr id="16" name="Enjeu 4"/>
          <p:cNvSpPr/>
          <p:nvPr/>
        </p:nvSpPr>
        <p:spPr>
          <a:xfrm>
            <a:off x="6172200" y="3657600"/>
            <a:ext cx="5440680" cy="1645920"/>
          </a:xfrm>
          <a:prstGeom prst="roundRect">
            <a:avLst>
              <a:gd name="adj" fmla="val 4444"/>
            </a:avLst>
          </a:prstGeom>
          <a:solidFill>
            <a:schemeClr val="bg2"/>
          </a:solidFill>
          <a:ln w="12700">
            <a:solidFill>
              <a:schemeClr val="bg2"/>
            </a:solidFill>
            <a:prstDash val="solid"/>
          </a:ln>
        </p:spPr>
      </p:sp>
      <p:sp>
        <p:nvSpPr>
          <p:cNvPr id="17" name="Pastille icône"/>
          <p:cNvSpPr/>
          <p:nvPr/>
        </p:nvSpPr>
        <p:spPr>
          <a:xfrm>
            <a:off x="6400800" y="3931920"/>
            <a:ext cx="685800" cy="685800"/>
          </a:xfrm>
          <a:prstGeom prst="ellipse">
            <a:avLst/>
          </a:prstGeom>
          <a:solidFill>
            <a:schemeClr val="accent2"/>
          </a:solidFill>
          <a:ln w="12700">
            <a:solidFill>
              <a:schemeClr val="accent2"/>
            </a:solidFill>
            <a:prstDash val="solid"/>
          </a:ln>
        </p:spPr>
      </p:sp>
      <p:pic>
        <p:nvPicPr>
          <p:cNvPr id="18" name="Icône FaShieldAlt" descr="preencoded.png">    </p:cNvPr>
          <p:cNvPicPr>
            <a:picLocks noChangeAspect="1"/>
          </p:cNvPicPr>
          <p:nvPr/>
        </p:nvPicPr>
        <p:blipFill>
          <a:blip r:embed="rId4"/>
          <a:stretch>
            <a:fillRect/>
          </a:stretch>
        </p:blipFill>
        <p:spPr>
          <a:xfrm>
            <a:off x="6572250" y="4103370"/>
            <a:ext cx="342900" cy="342900"/>
          </a:xfrm>
          <a:prstGeom prst="rect">
            <a:avLst/>
          </a:prstGeom>
        </p:spPr>
      </p:pic>
      <p:sp>
        <p:nvSpPr>
          <p:cNvPr id="19" name="Text 13"/>
          <p:cNvSpPr txBox="1"/>
          <p:nvPr/>
        </p:nvSpPr>
        <p:spPr>
          <a:xfrm>
            <a:off x="7269480" y="3794760"/>
            <a:ext cx="4160520" cy="1371600"/>
          </a:xfrm>
          <a:prstGeom prst="rect">
            <a:avLst/>
          </a:prstGeom>
          <a:noFill/>
          <a:ln/>
        </p:spPr>
        <p:txBody>
          <a:bodyPr wrap="square" lIns="0" tIns="0" rIns="0" bIns="0" rtlCol="0" anchor="t"/>
          <a:lstStyle/>
          <a:p>
            <a:pPr indent="0" marL="0">
              <a:buNone/>
            </a:pPr>
            <a:r>
              <a:rPr lang="en-US" sz="1700" b="1" dirty="0">
                <a:solidFill>
                  <a:schemeClr val="tx2"/>
                </a:solidFill>
              </a:rPr>
              <a:t>Stabilisation et présence de l'État</a:t>
            </a:r>
            <a:endParaRPr lang="en-US" sz="1700" dirty="0"/>
          </a:p>
          <a:p>
            <a:pPr indent="0" marL="0">
              <a:buNone/>
            </a:pPr>
            <a:r>
              <a:rPr lang="en-US" sz="1400" dirty="0">
                <a:solidFill>
                  <a:schemeClr val="tx1"/>
                </a:solidFill>
              </a:rPr>
              <a:t>Une route permanente facilite services publics, sécurité et aide humanitaire dans une zone marquée par l'insécurité.</a:t>
            </a:r>
            <a:endParaRPr lang="en-US" sz="1700" dirty="0"/>
          </a:p>
        </p:txBody>
      </p:sp>
      <p:sp>
        <p:nvSpPr>
          <p:cNvPr id="20" name="Text 14"/>
          <p:cNvSpPr txBox="1"/>
          <p:nvPr/>
        </p:nvSpPr>
        <p:spPr>
          <a:xfrm>
            <a:off x="548640" y="5577840"/>
            <a:ext cx="11064240" cy="548640"/>
          </a:xfrm>
          <a:prstGeom prst="rect">
            <a:avLst/>
          </a:prstGeom>
          <a:noFill/>
          <a:ln/>
        </p:spPr>
        <p:txBody>
          <a:bodyPr wrap="square" lIns="0" tIns="0" rIns="0" bIns="0" rtlCol="0" anchor="ctr"/>
          <a:lstStyle/>
          <a:p>
            <a:pPr indent="0" marL="0">
              <a:buNone/>
            </a:pPr>
            <a:r>
              <a:rPr lang="en-US" sz="1500" i="1" dirty="0">
                <a:solidFill>
                  <a:schemeClr val="accent1"/>
                </a:solidFill>
              </a:rPr>
              <a:t>L'approche : EIS-EKA investit, le péage rembourse et finance l'entretien, la route s'améliore au rythme des recettes, sans peser sur le budget de l'État.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Le tronçon : trois lots sur environ 420 km</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Découpage provisoire ; les longueurs seront fixées par les levés topographiques</a:t>
            </a:r>
            <a:endParaRPr lang="en-US" sz="1600" dirty="0"/>
          </a:p>
        </p:txBody>
      </p:sp>
      <p:sp>
        <p:nvSpPr>
          <p:cNvPr id="4" name="Segment lot 1"/>
          <p:cNvSpPr/>
          <p:nvPr/>
        </p:nvSpPr>
        <p:spPr>
          <a:xfrm>
            <a:off x="822960" y="2514600"/>
            <a:ext cx="2503714" cy="201168"/>
          </a:xfrm>
          <a:prstGeom prst="rect">
            <a:avLst/>
          </a:prstGeom>
          <a:solidFill>
            <a:schemeClr val="accent3"/>
          </a:solidFill>
          <a:ln w="12700">
            <a:solidFill>
              <a:schemeClr val="accent3"/>
            </a:solidFill>
            <a:prstDash val="solid"/>
          </a:ln>
        </p:spPr>
      </p:sp>
      <p:sp>
        <p:nvSpPr>
          <p:cNvPr id="5" name="Text 3"/>
          <p:cNvSpPr txBox="1"/>
          <p:nvPr/>
        </p:nvSpPr>
        <p:spPr>
          <a:xfrm>
            <a:off x="-91440" y="1965960"/>
            <a:ext cx="1828800" cy="365760"/>
          </a:xfrm>
          <a:prstGeom prst="rect">
            <a:avLst/>
          </a:prstGeom>
          <a:noFill/>
          <a:ln/>
        </p:spPr>
        <p:txBody>
          <a:bodyPr wrap="square" lIns="0" tIns="0" rIns="0" bIns="0" rtlCol="0" anchor="ctr"/>
          <a:lstStyle/>
          <a:p>
            <a:pPr algn="ctr" indent="0" marL="0">
              <a:buNone/>
            </a:pPr>
            <a:r>
              <a:rPr lang="en-US" sz="1300" b="1" dirty="0">
                <a:solidFill>
                  <a:schemeClr val="tx2"/>
                </a:solidFill>
              </a:rPr>
              <a:t>Uvira</a:t>
            </a:r>
            <a:endParaRPr lang="en-US" sz="1300" dirty="0"/>
          </a:p>
        </p:txBody>
      </p:sp>
      <p:sp>
        <p:nvSpPr>
          <p:cNvPr id="6" name="Ville"/>
          <p:cNvSpPr/>
          <p:nvPr/>
        </p:nvSpPr>
        <p:spPr>
          <a:xfrm>
            <a:off x="731520" y="2523744"/>
            <a:ext cx="182880" cy="182880"/>
          </a:xfrm>
          <a:prstGeom prst="ellipse">
            <a:avLst/>
          </a:prstGeom>
          <a:solidFill>
            <a:schemeClr val="tx2"/>
          </a:solidFill>
          <a:ln w="19050">
            <a:solidFill>
              <a:schemeClr val="bg1"/>
            </a:solidFill>
            <a:prstDash val="solid"/>
          </a:ln>
        </p:spPr>
      </p:sp>
      <p:sp>
        <p:nvSpPr>
          <p:cNvPr id="7" name="Segment lot 2"/>
          <p:cNvSpPr/>
          <p:nvPr/>
        </p:nvSpPr>
        <p:spPr>
          <a:xfrm>
            <a:off x="3326674" y="2514600"/>
            <a:ext cx="3004457" cy="201168"/>
          </a:xfrm>
          <a:prstGeom prst="rect">
            <a:avLst/>
          </a:prstGeom>
          <a:solidFill>
            <a:schemeClr val="accent1"/>
          </a:solidFill>
          <a:ln w="12700">
            <a:solidFill>
              <a:schemeClr val="accent1"/>
            </a:solidFill>
            <a:prstDash val="solid"/>
          </a:ln>
        </p:spPr>
      </p:sp>
      <p:sp>
        <p:nvSpPr>
          <p:cNvPr id="8" name="Text 6"/>
          <p:cNvSpPr txBox="1"/>
          <p:nvPr/>
        </p:nvSpPr>
        <p:spPr>
          <a:xfrm>
            <a:off x="2412274" y="1965960"/>
            <a:ext cx="1828800" cy="365760"/>
          </a:xfrm>
          <a:prstGeom prst="rect">
            <a:avLst/>
          </a:prstGeom>
          <a:noFill/>
          <a:ln/>
        </p:spPr>
        <p:txBody>
          <a:bodyPr wrap="square" lIns="0" tIns="0" rIns="0" bIns="0" rtlCol="0" anchor="ctr"/>
          <a:lstStyle/>
          <a:p>
            <a:pPr algn="ctr" indent="0" marL="0">
              <a:buNone/>
            </a:pPr>
            <a:r>
              <a:rPr lang="en-US" sz="1300" b="1" dirty="0">
                <a:solidFill>
                  <a:schemeClr val="tx2"/>
                </a:solidFill>
              </a:rPr>
              <a:t>Baraka</a:t>
            </a:r>
            <a:endParaRPr lang="en-US" sz="1300" dirty="0"/>
          </a:p>
        </p:txBody>
      </p:sp>
      <p:sp>
        <p:nvSpPr>
          <p:cNvPr id="9" name="Ville"/>
          <p:cNvSpPr/>
          <p:nvPr/>
        </p:nvSpPr>
        <p:spPr>
          <a:xfrm>
            <a:off x="3235234" y="2523744"/>
            <a:ext cx="182880" cy="182880"/>
          </a:xfrm>
          <a:prstGeom prst="ellipse">
            <a:avLst/>
          </a:prstGeom>
          <a:solidFill>
            <a:schemeClr val="tx2"/>
          </a:solidFill>
          <a:ln w="19050">
            <a:solidFill>
              <a:schemeClr val="bg1"/>
            </a:solidFill>
            <a:prstDash val="solid"/>
          </a:ln>
        </p:spPr>
      </p:sp>
      <p:sp>
        <p:nvSpPr>
          <p:cNvPr id="10" name="Segment lot 3"/>
          <p:cNvSpPr/>
          <p:nvPr/>
        </p:nvSpPr>
        <p:spPr>
          <a:xfrm>
            <a:off x="6331131" y="2514600"/>
            <a:ext cx="5007429" cy="201168"/>
          </a:xfrm>
          <a:prstGeom prst="rect">
            <a:avLst/>
          </a:prstGeom>
          <a:solidFill>
            <a:schemeClr val="accent2"/>
          </a:solidFill>
          <a:ln w="12700">
            <a:solidFill>
              <a:schemeClr val="accent2"/>
            </a:solidFill>
            <a:prstDash val="solid"/>
          </a:ln>
        </p:spPr>
      </p:sp>
      <p:sp>
        <p:nvSpPr>
          <p:cNvPr id="11" name="Text 9"/>
          <p:cNvSpPr txBox="1"/>
          <p:nvPr/>
        </p:nvSpPr>
        <p:spPr>
          <a:xfrm>
            <a:off x="5416731" y="1965960"/>
            <a:ext cx="1828800" cy="365760"/>
          </a:xfrm>
          <a:prstGeom prst="rect">
            <a:avLst/>
          </a:prstGeom>
          <a:noFill/>
          <a:ln/>
        </p:spPr>
        <p:txBody>
          <a:bodyPr wrap="square" lIns="0" tIns="0" rIns="0" bIns="0" rtlCol="0" anchor="ctr"/>
          <a:lstStyle/>
          <a:p>
            <a:pPr algn="ctr" indent="0" marL="0">
              <a:buNone/>
            </a:pPr>
            <a:r>
              <a:rPr lang="en-US" sz="1300" b="1" dirty="0">
                <a:solidFill>
                  <a:schemeClr val="tx2"/>
                </a:solidFill>
              </a:rPr>
              <a:t>Limite provinciale</a:t>
            </a:r>
            <a:endParaRPr lang="en-US" sz="1300" dirty="0"/>
          </a:p>
        </p:txBody>
      </p:sp>
      <p:sp>
        <p:nvSpPr>
          <p:cNvPr id="12" name="Ville"/>
          <p:cNvSpPr/>
          <p:nvPr/>
        </p:nvSpPr>
        <p:spPr>
          <a:xfrm>
            <a:off x="6239691" y="2523744"/>
            <a:ext cx="182880" cy="182880"/>
          </a:xfrm>
          <a:prstGeom prst="ellipse">
            <a:avLst/>
          </a:prstGeom>
          <a:solidFill>
            <a:schemeClr val="tx2"/>
          </a:solidFill>
          <a:ln w="19050">
            <a:solidFill>
              <a:schemeClr val="bg1"/>
            </a:solidFill>
            <a:prstDash val="solid"/>
          </a:ln>
        </p:spPr>
      </p:sp>
      <p:sp>
        <p:nvSpPr>
          <p:cNvPr id="13" name="Text 11"/>
          <p:cNvSpPr txBox="1"/>
          <p:nvPr/>
        </p:nvSpPr>
        <p:spPr>
          <a:xfrm>
            <a:off x="10424160" y="1965960"/>
            <a:ext cx="1828800" cy="365760"/>
          </a:xfrm>
          <a:prstGeom prst="rect">
            <a:avLst/>
          </a:prstGeom>
          <a:noFill/>
          <a:ln/>
        </p:spPr>
        <p:txBody>
          <a:bodyPr wrap="square" lIns="0" tIns="0" rIns="0" bIns="0" rtlCol="0" anchor="ctr"/>
          <a:lstStyle/>
          <a:p>
            <a:pPr algn="ctr" indent="0" marL="0">
              <a:buNone/>
            </a:pPr>
            <a:r>
              <a:rPr lang="en-US" sz="1300" b="1" dirty="0">
                <a:solidFill>
                  <a:schemeClr val="tx2"/>
                </a:solidFill>
              </a:rPr>
              <a:t>Kalemie</a:t>
            </a:r>
            <a:endParaRPr lang="en-US" sz="1300" dirty="0"/>
          </a:p>
        </p:txBody>
      </p:sp>
      <p:sp>
        <p:nvSpPr>
          <p:cNvPr id="14" name="Ville"/>
          <p:cNvSpPr/>
          <p:nvPr/>
        </p:nvSpPr>
        <p:spPr>
          <a:xfrm>
            <a:off x="11247120" y="2523744"/>
            <a:ext cx="182880" cy="182880"/>
          </a:xfrm>
          <a:prstGeom prst="ellipse">
            <a:avLst/>
          </a:prstGeom>
          <a:solidFill>
            <a:schemeClr val="tx2"/>
          </a:solidFill>
          <a:ln w="19050">
            <a:solidFill>
              <a:schemeClr val="bg1"/>
            </a:solidFill>
            <a:prstDash val="solid"/>
          </a:ln>
        </p:spPr>
      </p:sp>
      <p:sp>
        <p:nvSpPr>
          <p:cNvPr id="15" name="Poste de péage"/>
          <p:cNvSpPr/>
          <p:nvPr/>
        </p:nvSpPr>
        <p:spPr>
          <a:xfrm>
            <a:off x="1366593" y="2816352"/>
            <a:ext cx="164592" cy="164592"/>
          </a:xfrm>
          <a:prstGeom prst="diamond">
            <a:avLst/>
          </a:prstGeom>
          <a:solidFill>
            <a:schemeClr val="tx1"/>
          </a:solidFill>
          <a:ln w="12700">
            <a:solidFill>
              <a:schemeClr val="tx1"/>
            </a:solidFill>
            <a:prstDash val="solid"/>
          </a:ln>
        </p:spPr>
      </p:sp>
      <p:sp>
        <p:nvSpPr>
          <p:cNvPr id="16" name="Poste de péage"/>
          <p:cNvSpPr/>
          <p:nvPr/>
        </p:nvSpPr>
        <p:spPr>
          <a:xfrm>
            <a:off x="2618450" y="2816352"/>
            <a:ext cx="164592" cy="164592"/>
          </a:xfrm>
          <a:prstGeom prst="diamond">
            <a:avLst/>
          </a:prstGeom>
          <a:solidFill>
            <a:schemeClr val="tx1"/>
          </a:solidFill>
          <a:ln w="12700">
            <a:solidFill>
              <a:schemeClr val="tx1"/>
            </a:solidFill>
            <a:prstDash val="solid"/>
          </a:ln>
        </p:spPr>
      </p:sp>
      <p:sp>
        <p:nvSpPr>
          <p:cNvPr id="17" name="Poste de péage"/>
          <p:cNvSpPr/>
          <p:nvPr/>
        </p:nvSpPr>
        <p:spPr>
          <a:xfrm>
            <a:off x="3870307" y="2816352"/>
            <a:ext cx="164592" cy="164592"/>
          </a:xfrm>
          <a:prstGeom prst="diamond">
            <a:avLst/>
          </a:prstGeom>
          <a:solidFill>
            <a:schemeClr val="tx1"/>
          </a:solidFill>
          <a:ln w="12700">
            <a:solidFill>
              <a:schemeClr val="tx1"/>
            </a:solidFill>
            <a:prstDash val="solid"/>
          </a:ln>
        </p:spPr>
      </p:sp>
      <p:sp>
        <p:nvSpPr>
          <p:cNvPr id="18" name="Poste de péage"/>
          <p:cNvSpPr/>
          <p:nvPr/>
        </p:nvSpPr>
        <p:spPr>
          <a:xfrm>
            <a:off x="5122164" y="2816352"/>
            <a:ext cx="164592" cy="164592"/>
          </a:xfrm>
          <a:prstGeom prst="diamond">
            <a:avLst/>
          </a:prstGeom>
          <a:solidFill>
            <a:schemeClr val="tx1"/>
          </a:solidFill>
          <a:ln w="12700">
            <a:solidFill>
              <a:schemeClr val="tx1"/>
            </a:solidFill>
            <a:prstDash val="solid"/>
          </a:ln>
        </p:spPr>
      </p:sp>
      <p:sp>
        <p:nvSpPr>
          <p:cNvPr id="19" name="Poste de péage"/>
          <p:cNvSpPr/>
          <p:nvPr/>
        </p:nvSpPr>
        <p:spPr>
          <a:xfrm>
            <a:off x="6374021" y="2816352"/>
            <a:ext cx="164592" cy="164592"/>
          </a:xfrm>
          <a:prstGeom prst="diamond">
            <a:avLst/>
          </a:prstGeom>
          <a:solidFill>
            <a:schemeClr val="tx1"/>
          </a:solidFill>
          <a:ln w="12700">
            <a:solidFill>
              <a:schemeClr val="tx1"/>
            </a:solidFill>
            <a:prstDash val="solid"/>
          </a:ln>
        </p:spPr>
      </p:sp>
      <p:sp>
        <p:nvSpPr>
          <p:cNvPr id="20" name="Poste de péage"/>
          <p:cNvSpPr/>
          <p:nvPr/>
        </p:nvSpPr>
        <p:spPr>
          <a:xfrm>
            <a:off x="7625878" y="2816352"/>
            <a:ext cx="164592" cy="164592"/>
          </a:xfrm>
          <a:prstGeom prst="diamond">
            <a:avLst/>
          </a:prstGeom>
          <a:solidFill>
            <a:schemeClr val="tx1"/>
          </a:solidFill>
          <a:ln w="12700">
            <a:solidFill>
              <a:schemeClr val="tx1"/>
            </a:solidFill>
            <a:prstDash val="solid"/>
          </a:ln>
        </p:spPr>
      </p:sp>
      <p:sp>
        <p:nvSpPr>
          <p:cNvPr id="21" name="Poste de péage"/>
          <p:cNvSpPr/>
          <p:nvPr/>
        </p:nvSpPr>
        <p:spPr>
          <a:xfrm>
            <a:off x="8877735" y="2816352"/>
            <a:ext cx="164592" cy="164592"/>
          </a:xfrm>
          <a:prstGeom prst="diamond">
            <a:avLst/>
          </a:prstGeom>
          <a:solidFill>
            <a:schemeClr val="tx1"/>
          </a:solidFill>
          <a:ln w="12700">
            <a:solidFill>
              <a:schemeClr val="tx1"/>
            </a:solidFill>
            <a:prstDash val="solid"/>
          </a:ln>
        </p:spPr>
      </p:sp>
      <p:sp>
        <p:nvSpPr>
          <p:cNvPr id="22" name="Poste de péage"/>
          <p:cNvSpPr/>
          <p:nvPr/>
        </p:nvSpPr>
        <p:spPr>
          <a:xfrm>
            <a:off x="10129593" y="2816352"/>
            <a:ext cx="164592" cy="164592"/>
          </a:xfrm>
          <a:prstGeom prst="diamond">
            <a:avLst/>
          </a:prstGeom>
          <a:solidFill>
            <a:schemeClr val="tx1"/>
          </a:solidFill>
          <a:ln w="12700">
            <a:solidFill>
              <a:schemeClr val="tx1"/>
            </a:solidFill>
            <a:prstDash val="solid"/>
          </a:ln>
        </p:spPr>
      </p:sp>
      <p:sp>
        <p:nvSpPr>
          <p:cNvPr id="23" name="Text 21"/>
          <p:cNvSpPr txBox="1"/>
          <p:nvPr/>
        </p:nvSpPr>
        <p:spPr>
          <a:xfrm>
            <a:off x="822960" y="3017520"/>
            <a:ext cx="5486400" cy="274320"/>
          </a:xfrm>
          <a:prstGeom prst="rect">
            <a:avLst/>
          </a:prstGeom>
          <a:noFill/>
          <a:ln/>
        </p:spPr>
        <p:txBody>
          <a:bodyPr wrap="square" lIns="0" tIns="0" rIns="0" bIns="0" rtlCol="0" anchor="ctr"/>
          <a:lstStyle/>
          <a:p>
            <a:pPr indent="0" marL="0">
              <a:buNone/>
            </a:pPr>
            <a:r>
              <a:rPr lang="en-US" sz="1100" dirty="0">
                <a:solidFill>
                  <a:schemeClr val="accent5"/>
                </a:solidFill>
              </a:rPr>
              <a:t>◆ poste de péage indicatif (≈ tous les 50 km)</a:t>
            </a:r>
            <a:endParaRPr lang="en-US" sz="1100" dirty="0"/>
          </a:p>
        </p:txBody>
      </p:sp>
      <p:sp>
        <p:nvSpPr>
          <p:cNvPr id="24" name="Lot 1"/>
          <p:cNvSpPr/>
          <p:nvPr/>
        </p:nvSpPr>
        <p:spPr>
          <a:xfrm>
            <a:off x="548640" y="3566160"/>
            <a:ext cx="3474720" cy="2514600"/>
          </a:xfrm>
          <a:prstGeom prst="roundRect">
            <a:avLst>
              <a:gd name="adj" fmla="val 2909"/>
            </a:avLst>
          </a:prstGeom>
          <a:solidFill>
            <a:schemeClr val="bg2"/>
          </a:solidFill>
          <a:ln w="12700">
            <a:solidFill>
              <a:schemeClr val="bg2"/>
            </a:solidFill>
            <a:prstDash val="solid"/>
          </a:ln>
        </p:spPr>
      </p:sp>
      <p:sp>
        <p:nvSpPr>
          <p:cNvPr id="25" name="Repère lot"/>
          <p:cNvSpPr/>
          <p:nvPr/>
        </p:nvSpPr>
        <p:spPr>
          <a:xfrm>
            <a:off x="777240" y="3822192"/>
            <a:ext cx="274320" cy="274320"/>
          </a:xfrm>
          <a:prstGeom prst="ellipse">
            <a:avLst/>
          </a:prstGeom>
          <a:solidFill>
            <a:schemeClr val="accent3"/>
          </a:solidFill>
          <a:ln w="12700">
            <a:solidFill>
              <a:schemeClr val="accent3"/>
            </a:solidFill>
            <a:prstDash val="solid"/>
          </a:ln>
        </p:spPr>
      </p:sp>
      <p:sp>
        <p:nvSpPr>
          <p:cNvPr id="26" name="Text 24"/>
          <p:cNvSpPr txBox="1"/>
          <p:nvPr/>
        </p:nvSpPr>
        <p:spPr>
          <a:xfrm>
            <a:off x="1188720" y="3749040"/>
            <a:ext cx="2651760" cy="2194560"/>
          </a:xfrm>
          <a:prstGeom prst="rect">
            <a:avLst/>
          </a:prstGeom>
          <a:noFill/>
          <a:ln/>
        </p:spPr>
        <p:txBody>
          <a:bodyPr wrap="square" lIns="0" tIns="0" rIns="0" bIns="0" rtlCol="0" anchor="t"/>
          <a:lstStyle/>
          <a:p>
            <a:pPr indent="0" marL="0">
              <a:buNone/>
            </a:pPr>
            <a:r>
              <a:rPr lang="en-US" sz="1600" b="1" dirty="0">
                <a:solidFill>
                  <a:schemeClr val="tx2"/>
                </a:solidFill>
              </a:rPr>
              <a:t>Lot 1 · Uvira – Baraka</a:t>
            </a:r>
            <a:endParaRPr lang="en-US" sz="1600" dirty="0"/>
          </a:p>
          <a:p>
            <a:pPr indent="0" marL="0">
              <a:spcAft>
                <a:spcPts val="600"/>
              </a:spcAft>
              <a:buNone/>
            </a:pPr>
            <a:r>
              <a:rPr lang="en-US" sz="1400" b="1" dirty="0">
                <a:solidFill>
                  <a:schemeClr val="accent1"/>
                </a:solidFill>
              </a:rPr>
              <a:t>Sud-Kivu · ≈ 100 km</a:t>
            </a:r>
            <a:endParaRPr lang="en-US" sz="1600" dirty="0"/>
          </a:p>
          <a:p>
            <a:pPr indent="0" marL="0">
              <a:buNone/>
            </a:pPr>
            <a:r>
              <a:rPr lang="en-US" sz="1400" dirty="0">
                <a:solidFill>
                  <a:schemeClr val="tx1"/>
                </a:solidFill>
              </a:rPr>
              <a:t>Route en terre ou ancien revêtement très dégradé, trafic local dense</a:t>
            </a:r>
            <a:endParaRPr lang="en-US" sz="1600" dirty="0"/>
          </a:p>
        </p:txBody>
      </p:sp>
      <p:sp>
        <p:nvSpPr>
          <p:cNvPr id="27" name="Lot 2"/>
          <p:cNvSpPr/>
          <p:nvPr/>
        </p:nvSpPr>
        <p:spPr>
          <a:xfrm>
            <a:off x="4297680" y="3566160"/>
            <a:ext cx="3474720" cy="2514600"/>
          </a:xfrm>
          <a:prstGeom prst="roundRect">
            <a:avLst>
              <a:gd name="adj" fmla="val 2909"/>
            </a:avLst>
          </a:prstGeom>
          <a:solidFill>
            <a:schemeClr val="bg2"/>
          </a:solidFill>
          <a:ln w="12700">
            <a:solidFill>
              <a:schemeClr val="bg2"/>
            </a:solidFill>
            <a:prstDash val="solid"/>
          </a:ln>
        </p:spPr>
      </p:sp>
      <p:sp>
        <p:nvSpPr>
          <p:cNvPr id="28" name="Repère lot"/>
          <p:cNvSpPr/>
          <p:nvPr/>
        </p:nvSpPr>
        <p:spPr>
          <a:xfrm>
            <a:off x="4526280" y="3822192"/>
            <a:ext cx="274320" cy="274320"/>
          </a:xfrm>
          <a:prstGeom prst="ellipse">
            <a:avLst/>
          </a:prstGeom>
          <a:solidFill>
            <a:schemeClr val="accent1"/>
          </a:solidFill>
          <a:ln w="12700">
            <a:solidFill>
              <a:schemeClr val="accent1"/>
            </a:solidFill>
            <a:prstDash val="solid"/>
          </a:ln>
        </p:spPr>
      </p:sp>
      <p:sp>
        <p:nvSpPr>
          <p:cNvPr id="29" name="Text 27"/>
          <p:cNvSpPr txBox="1"/>
          <p:nvPr/>
        </p:nvSpPr>
        <p:spPr>
          <a:xfrm>
            <a:off x="4937760" y="3749040"/>
            <a:ext cx="2651760" cy="2194560"/>
          </a:xfrm>
          <a:prstGeom prst="rect">
            <a:avLst/>
          </a:prstGeom>
          <a:noFill/>
          <a:ln/>
        </p:spPr>
        <p:txBody>
          <a:bodyPr wrap="square" lIns="0" tIns="0" rIns="0" bIns="0" rtlCol="0" anchor="t"/>
          <a:lstStyle/>
          <a:p>
            <a:pPr indent="0" marL="0">
              <a:buNone/>
            </a:pPr>
            <a:r>
              <a:rPr lang="en-US" sz="1600" b="1" dirty="0">
                <a:solidFill>
                  <a:schemeClr val="tx2"/>
                </a:solidFill>
              </a:rPr>
              <a:t>Lot 2 · Baraka – limite provinciale</a:t>
            </a:r>
            <a:endParaRPr lang="en-US" sz="1600" dirty="0"/>
          </a:p>
          <a:p>
            <a:pPr indent="0" marL="0">
              <a:spcAft>
                <a:spcPts val="600"/>
              </a:spcAft>
              <a:buNone/>
            </a:pPr>
            <a:r>
              <a:rPr lang="en-US" sz="1400" b="1" dirty="0">
                <a:solidFill>
                  <a:schemeClr val="accent1"/>
                </a:solidFill>
              </a:rPr>
              <a:t>Sud-Kivu · ≈ 120 km</a:t>
            </a:r>
            <a:endParaRPr lang="en-US" sz="1600" dirty="0"/>
          </a:p>
          <a:p>
            <a:pPr indent="0" marL="0">
              <a:buNone/>
            </a:pPr>
            <a:r>
              <a:rPr lang="en-US" sz="1400" dirty="0">
                <a:solidFill>
                  <a:schemeClr val="tx1"/>
                </a:solidFill>
              </a:rPr>
              <a:t>Piste dégradée, zones d'érosion et de glissements le long des escarpements</a:t>
            </a:r>
            <a:endParaRPr lang="en-US" sz="1600" dirty="0"/>
          </a:p>
        </p:txBody>
      </p:sp>
      <p:sp>
        <p:nvSpPr>
          <p:cNvPr id="30" name="Lot 3"/>
          <p:cNvSpPr/>
          <p:nvPr/>
        </p:nvSpPr>
        <p:spPr>
          <a:xfrm>
            <a:off x="8046720" y="3566160"/>
            <a:ext cx="3474720" cy="2514600"/>
          </a:xfrm>
          <a:prstGeom prst="roundRect">
            <a:avLst>
              <a:gd name="adj" fmla="val 2909"/>
            </a:avLst>
          </a:prstGeom>
          <a:solidFill>
            <a:schemeClr val="bg2"/>
          </a:solidFill>
          <a:ln w="12700">
            <a:solidFill>
              <a:schemeClr val="bg2"/>
            </a:solidFill>
            <a:prstDash val="solid"/>
          </a:ln>
        </p:spPr>
      </p:sp>
      <p:sp>
        <p:nvSpPr>
          <p:cNvPr id="31" name="Repère lot"/>
          <p:cNvSpPr/>
          <p:nvPr/>
        </p:nvSpPr>
        <p:spPr>
          <a:xfrm>
            <a:off x="8275320" y="3822192"/>
            <a:ext cx="274320" cy="274320"/>
          </a:xfrm>
          <a:prstGeom prst="ellipse">
            <a:avLst/>
          </a:prstGeom>
          <a:solidFill>
            <a:schemeClr val="accent2"/>
          </a:solidFill>
          <a:ln w="12700">
            <a:solidFill>
              <a:schemeClr val="accent2"/>
            </a:solidFill>
            <a:prstDash val="solid"/>
          </a:ln>
        </p:spPr>
      </p:sp>
      <p:sp>
        <p:nvSpPr>
          <p:cNvPr id="32" name="Text 30"/>
          <p:cNvSpPr txBox="1"/>
          <p:nvPr/>
        </p:nvSpPr>
        <p:spPr>
          <a:xfrm>
            <a:off x="8686800" y="3749040"/>
            <a:ext cx="2651760" cy="2194560"/>
          </a:xfrm>
          <a:prstGeom prst="rect">
            <a:avLst/>
          </a:prstGeom>
          <a:noFill/>
          <a:ln/>
        </p:spPr>
        <p:txBody>
          <a:bodyPr wrap="square" lIns="0" tIns="0" rIns="0" bIns="0" rtlCol="0" anchor="t"/>
          <a:lstStyle/>
          <a:p>
            <a:pPr indent="0" marL="0">
              <a:buNone/>
            </a:pPr>
            <a:r>
              <a:rPr lang="en-US" sz="1600" b="1" dirty="0">
                <a:solidFill>
                  <a:schemeClr val="tx2"/>
                </a:solidFill>
              </a:rPr>
              <a:t>Lot 3 · Limite – Kalemie</a:t>
            </a:r>
            <a:endParaRPr lang="en-US" sz="1600" dirty="0"/>
          </a:p>
          <a:p>
            <a:pPr indent="0" marL="0">
              <a:spcAft>
                <a:spcPts val="600"/>
              </a:spcAft>
              <a:buNone/>
            </a:pPr>
            <a:r>
              <a:rPr lang="en-US" sz="1400" b="1" dirty="0">
                <a:solidFill>
                  <a:schemeClr val="accent1"/>
                </a:solidFill>
              </a:rPr>
              <a:t>Tanganyika · ≈ 200 km</a:t>
            </a:r>
            <a:endParaRPr lang="en-US" sz="1600" dirty="0"/>
          </a:p>
          <a:p>
            <a:pPr indent="0" marL="0">
              <a:buNone/>
            </a:pPr>
            <a:r>
              <a:rPr lang="en-US" sz="1400" dirty="0">
                <a:solidFill>
                  <a:schemeClr val="tx1"/>
                </a:solidFill>
              </a:rPr>
              <a:t>Piste souvent coupée en saison des pluies, ouvrages de franchissement à reconstruire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Principales contraintes identifiées</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Relief, eau et sécurité dictent la conception et le phasage des travaux</a:t>
            </a:r>
            <a:endParaRPr lang="en-US" sz="1600" dirty="0"/>
          </a:p>
        </p:txBody>
      </p:sp>
      <p:sp>
        <p:nvSpPr>
          <p:cNvPr id="4" name="Pastille icône"/>
          <p:cNvSpPr/>
          <p:nvPr/>
        </p:nvSpPr>
        <p:spPr>
          <a:xfrm>
            <a:off x="548640" y="1874520"/>
            <a:ext cx="640080" cy="640080"/>
          </a:xfrm>
          <a:prstGeom prst="ellipse">
            <a:avLst/>
          </a:prstGeom>
          <a:solidFill>
            <a:schemeClr val="accent1"/>
          </a:solidFill>
          <a:ln w="12700">
            <a:solidFill>
              <a:schemeClr val="accent1"/>
            </a:solidFill>
            <a:prstDash val="solid"/>
          </a:ln>
        </p:spPr>
      </p:sp>
      <p:pic>
        <p:nvPicPr>
          <p:cNvPr id="5" name="Icône FaMountain" descr="preencoded.png">    </p:cNvPr>
          <p:cNvPicPr>
            <a:picLocks noChangeAspect="1"/>
          </p:cNvPicPr>
          <p:nvPr/>
        </p:nvPicPr>
        <p:blipFill>
          <a:blip r:embed="rId1"/>
          <a:stretch>
            <a:fillRect/>
          </a:stretch>
        </p:blipFill>
        <p:spPr>
          <a:xfrm>
            <a:off x="708660" y="2034540"/>
            <a:ext cx="320040" cy="320040"/>
          </a:xfrm>
          <a:prstGeom prst="rect">
            <a:avLst/>
          </a:prstGeom>
        </p:spPr>
      </p:pic>
      <p:sp>
        <p:nvSpPr>
          <p:cNvPr id="6" name="Text 3"/>
          <p:cNvSpPr txBox="1"/>
          <p:nvPr/>
        </p:nvSpPr>
        <p:spPr>
          <a:xfrm>
            <a:off x="1371600" y="1828800"/>
            <a:ext cx="2651760" cy="1371600"/>
          </a:xfrm>
          <a:prstGeom prst="rect">
            <a:avLst/>
          </a:prstGeom>
          <a:noFill/>
          <a:ln/>
        </p:spPr>
        <p:txBody>
          <a:bodyPr wrap="square" lIns="0" tIns="0" rIns="0" bIns="0" rtlCol="0" anchor="t"/>
          <a:lstStyle/>
          <a:p>
            <a:pPr indent="0" marL="0">
              <a:buNone/>
            </a:pPr>
            <a:r>
              <a:rPr lang="en-US" sz="1600" b="1" dirty="0">
                <a:solidFill>
                  <a:schemeClr val="tx2"/>
                </a:solidFill>
              </a:rPr>
              <a:t>Relief</a:t>
            </a:r>
            <a:endParaRPr lang="en-US" sz="1600" dirty="0"/>
          </a:p>
          <a:p>
            <a:pPr indent="0" marL="0">
              <a:buNone/>
            </a:pPr>
            <a:r>
              <a:rPr lang="en-US" sz="1400" dirty="0">
                <a:solidFill>
                  <a:schemeClr val="tx1"/>
                </a:solidFill>
              </a:rPr>
              <a:t>Plaine côtière et pentes raides entre le lac et les monts Mitumba</a:t>
            </a:r>
            <a:endParaRPr lang="en-US" sz="1600" dirty="0"/>
          </a:p>
        </p:txBody>
      </p:sp>
      <p:sp>
        <p:nvSpPr>
          <p:cNvPr id="7" name="Pastille icône"/>
          <p:cNvSpPr/>
          <p:nvPr/>
        </p:nvSpPr>
        <p:spPr>
          <a:xfrm>
            <a:off x="4297680" y="1874520"/>
            <a:ext cx="640080" cy="640080"/>
          </a:xfrm>
          <a:prstGeom prst="ellipse">
            <a:avLst/>
          </a:prstGeom>
          <a:solidFill>
            <a:schemeClr val="accent1"/>
          </a:solidFill>
          <a:ln w="12700">
            <a:solidFill>
              <a:schemeClr val="accent1"/>
            </a:solidFill>
            <a:prstDash val="solid"/>
          </a:ln>
        </p:spPr>
      </p:sp>
      <p:pic>
        <p:nvPicPr>
          <p:cNvPr id="8" name="Icône FaWater" descr="preencoded.png">    </p:cNvPr>
          <p:cNvPicPr>
            <a:picLocks noChangeAspect="1"/>
          </p:cNvPicPr>
          <p:nvPr/>
        </p:nvPicPr>
        <p:blipFill>
          <a:blip r:embed="rId2"/>
          <a:stretch>
            <a:fillRect/>
          </a:stretch>
        </p:blipFill>
        <p:spPr>
          <a:xfrm>
            <a:off x="4457700" y="2034540"/>
            <a:ext cx="320040" cy="320040"/>
          </a:xfrm>
          <a:prstGeom prst="rect">
            <a:avLst/>
          </a:prstGeom>
        </p:spPr>
      </p:pic>
      <p:sp>
        <p:nvSpPr>
          <p:cNvPr id="9" name="Text 5"/>
          <p:cNvSpPr txBox="1"/>
          <p:nvPr/>
        </p:nvSpPr>
        <p:spPr>
          <a:xfrm>
            <a:off x="5120640" y="1828800"/>
            <a:ext cx="2651760" cy="1371600"/>
          </a:xfrm>
          <a:prstGeom prst="rect">
            <a:avLst/>
          </a:prstGeom>
          <a:noFill/>
          <a:ln/>
        </p:spPr>
        <p:txBody>
          <a:bodyPr wrap="square" lIns="0" tIns="0" rIns="0" bIns="0" rtlCol="0" anchor="t"/>
          <a:lstStyle/>
          <a:p>
            <a:pPr indent="0" marL="0">
              <a:buNone/>
            </a:pPr>
            <a:r>
              <a:rPr lang="en-US" sz="1600" b="1" dirty="0">
                <a:solidFill>
                  <a:schemeClr val="tx2"/>
                </a:solidFill>
              </a:rPr>
              <a:t>Hydrologie</a:t>
            </a:r>
            <a:endParaRPr lang="en-US" sz="1600" dirty="0"/>
          </a:p>
          <a:p>
            <a:pPr indent="0" marL="0">
              <a:buNone/>
            </a:pPr>
            <a:r>
              <a:rPr lang="en-US" sz="1400" dirty="0">
                <a:solidFill>
                  <a:schemeClr val="tx1"/>
                </a:solidFill>
              </a:rPr>
              <a:t>Nombreuses rivières, crues soudaines, ponts et dalots détruits ou sous-dimensionnés</a:t>
            </a:r>
            <a:endParaRPr lang="en-US" sz="1600" dirty="0"/>
          </a:p>
        </p:txBody>
      </p:sp>
      <p:sp>
        <p:nvSpPr>
          <p:cNvPr id="10" name="Pastille icône"/>
          <p:cNvSpPr/>
          <p:nvPr/>
        </p:nvSpPr>
        <p:spPr>
          <a:xfrm>
            <a:off x="8046720" y="1874520"/>
            <a:ext cx="640080" cy="640080"/>
          </a:xfrm>
          <a:prstGeom prst="ellipse">
            <a:avLst/>
          </a:prstGeom>
          <a:solidFill>
            <a:schemeClr val="accent1"/>
          </a:solidFill>
          <a:ln w="12700">
            <a:solidFill>
              <a:schemeClr val="accent1"/>
            </a:solidFill>
            <a:prstDash val="solid"/>
          </a:ln>
        </p:spPr>
      </p:sp>
      <p:pic>
        <p:nvPicPr>
          <p:cNvPr id="11" name="Icône FaLayerGroup" descr="preencoded.png">    </p:cNvPr>
          <p:cNvPicPr>
            <a:picLocks noChangeAspect="1"/>
          </p:cNvPicPr>
          <p:nvPr/>
        </p:nvPicPr>
        <p:blipFill>
          <a:blip r:embed="rId3"/>
          <a:stretch>
            <a:fillRect/>
          </a:stretch>
        </p:blipFill>
        <p:spPr>
          <a:xfrm>
            <a:off x="8206740" y="2034540"/>
            <a:ext cx="320040" cy="320040"/>
          </a:xfrm>
          <a:prstGeom prst="rect">
            <a:avLst/>
          </a:prstGeom>
        </p:spPr>
      </p:pic>
      <p:sp>
        <p:nvSpPr>
          <p:cNvPr id="12" name="Text 7"/>
          <p:cNvSpPr txBox="1"/>
          <p:nvPr/>
        </p:nvSpPr>
        <p:spPr>
          <a:xfrm>
            <a:off x="8869680" y="1828800"/>
            <a:ext cx="2651760" cy="1371600"/>
          </a:xfrm>
          <a:prstGeom prst="rect">
            <a:avLst/>
          </a:prstGeom>
          <a:noFill/>
          <a:ln/>
        </p:spPr>
        <p:txBody>
          <a:bodyPr wrap="square" lIns="0" tIns="0" rIns="0" bIns="0" rtlCol="0" anchor="t"/>
          <a:lstStyle/>
          <a:p>
            <a:pPr indent="0" marL="0">
              <a:buNone/>
            </a:pPr>
            <a:r>
              <a:rPr lang="en-US" sz="1600" b="1" dirty="0">
                <a:solidFill>
                  <a:schemeClr val="tx2"/>
                </a:solidFill>
              </a:rPr>
              <a:t>Géotechnique</a:t>
            </a:r>
            <a:endParaRPr lang="en-US" sz="1600" dirty="0"/>
          </a:p>
          <a:p>
            <a:pPr indent="0" marL="0">
              <a:buNone/>
            </a:pPr>
            <a:r>
              <a:rPr lang="en-US" sz="1400" dirty="0">
                <a:solidFill>
                  <a:schemeClr val="tx1"/>
                </a:solidFill>
              </a:rPr>
              <a:t>Sols argileux et latéritiques sensibles à l'eau, glissements sur les talus</a:t>
            </a:r>
            <a:endParaRPr lang="en-US" sz="1600" dirty="0"/>
          </a:p>
        </p:txBody>
      </p:sp>
      <p:sp>
        <p:nvSpPr>
          <p:cNvPr id="13" name="Pastille icône"/>
          <p:cNvSpPr/>
          <p:nvPr/>
        </p:nvSpPr>
        <p:spPr>
          <a:xfrm>
            <a:off x="548640" y="3474720"/>
            <a:ext cx="640080" cy="640080"/>
          </a:xfrm>
          <a:prstGeom prst="ellipse">
            <a:avLst/>
          </a:prstGeom>
          <a:solidFill>
            <a:schemeClr val="accent1"/>
          </a:solidFill>
          <a:ln w="12700">
            <a:solidFill>
              <a:schemeClr val="accent1"/>
            </a:solidFill>
            <a:prstDash val="solid"/>
          </a:ln>
        </p:spPr>
      </p:sp>
      <p:pic>
        <p:nvPicPr>
          <p:cNvPr id="14" name="Icône FaCloudRain" descr="preencoded.png">    </p:cNvPr>
          <p:cNvPicPr>
            <a:picLocks noChangeAspect="1"/>
          </p:cNvPicPr>
          <p:nvPr/>
        </p:nvPicPr>
        <p:blipFill>
          <a:blip r:embed="rId4"/>
          <a:stretch>
            <a:fillRect/>
          </a:stretch>
        </p:blipFill>
        <p:spPr>
          <a:xfrm>
            <a:off x="708660" y="3634740"/>
            <a:ext cx="320040" cy="320040"/>
          </a:xfrm>
          <a:prstGeom prst="rect">
            <a:avLst/>
          </a:prstGeom>
        </p:spPr>
      </p:pic>
      <p:sp>
        <p:nvSpPr>
          <p:cNvPr id="15" name="Text 9"/>
          <p:cNvSpPr txBox="1"/>
          <p:nvPr/>
        </p:nvSpPr>
        <p:spPr>
          <a:xfrm>
            <a:off x="1371600" y="3429000"/>
            <a:ext cx="2651760" cy="1371600"/>
          </a:xfrm>
          <a:prstGeom prst="rect">
            <a:avLst/>
          </a:prstGeom>
          <a:noFill/>
          <a:ln/>
        </p:spPr>
        <p:txBody>
          <a:bodyPr wrap="square" lIns="0" tIns="0" rIns="0" bIns="0" rtlCol="0" anchor="t"/>
          <a:lstStyle/>
          <a:p>
            <a:pPr indent="0" marL="0">
              <a:buNone/>
            </a:pPr>
            <a:r>
              <a:rPr lang="en-US" sz="1600" b="1" dirty="0">
                <a:solidFill>
                  <a:schemeClr val="tx2"/>
                </a:solidFill>
              </a:rPr>
              <a:t>Climat</a:t>
            </a:r>
            <a:endParaRPr lang="en-US" sz="1600" dirty="0"/>
          </a:p>
          <a:p>
            <a:pPr indent="0" marL="0">
              <a:buNone/>
            </a:pPr>
            <a:r>
              <a:rPr lang="en-US" sz="1400" dirty="0">
                <a:solidFill>
                  <a:schemeClr val="tx1"/>
                </a:solidFill>
              </a:rPr>
              <a:t>Deux saisons de pluies, forte pluviométrie d'octobre à mai</a:t>
            </a:r>
            <a:endParaRPr lang="en-US" sz="1600" dirty="0"/>
          </a:p>
        </p:txBody>
      </p:sp>
      <p:sp>
        <p:nvSpPr>
          <p:cNvPr id="16" name="Pastille icône"/>
          <p:cNvSpPr/>
          <p:nvPr/>
        </p:nvSpPr>
        <p:spPr>
          <a:xfrm>
            <a:off x="4297680" y="3474720"/>
            <a:ext cx="640080" cy="640080"/>
          </a:xfrm>
          <a:prstGeom prst="ellipse">
            <a:avLst/>
          </a:prstGeom>
          <a:solidFill>
            <a:schemeClr val="accent1"/>
          </a:solidFill>
          <a:ln w="12700">
            <a:solidFill>
              <a:schemeClr val="accent1"/>
            </a:solidFill>
            <a:prstDash val="solid"/>
          </a:ln>
        </p:spPr>
      </p:sp>
      <p:pic>
        <p:nvPicPr>
          <p:cNvPr id="17" name="Icône FaShieldAlt" descr="preencoded.png">    </p:cNvPr>
          <p:cNvPicPr>
            <a:picLocks noChangeAspect="1"/>
          </p:cNvPicPr>
          <p:nvPr/>
        </p:nvPicPr>
        <p:blipFill>
          <a:blip r:embed="rId5"/>
          <a:stretch>
            <a:fillRect/>
          </a:stretch>
        </p:blipFill>
        <p:spPr>
          <a:xfrm>
            <a:off x="4457700" y="3634740"/>
            <a:ext cx="320040" cy="320040"/>
          </a:xfrm>
          <a:prstGeom prst="rect">
            <a:avLst/>
          </a:prstGeom>
        </p:spPr>
      </p:pic>
      <p:sp>
        <p:nvSpPr>
          <p:cNvPr id="18" name="Text 11"/>
          <p:cNvSpPr txBox="1"/>
          <p:nvPr/>
        </p:nvSpPr>
        <p:spPr>
          <a:xfrm>
            <a:off x="5120640" y="3429000"/>
            <a:ext cx="2651760" cy="1371600"/>
          </a:xfrm>
          <a:prstGeom prst="rect">
            <a:avLst/>
          </a:prstGeom>
          <a:noFill/>
          <a:ln/>
        </p:spPr>
        <p:txBody>
          <a:bodyPr wrap="square" lIns="0" tIns="0" rIns="0" bIns="0" rtlCol="0" anchor="t"/>
          <a:lstStyle/>
          <a:p>
            <a:pPr indent="0" marL="0">
              <a:buNone/>
            </a:pPr>
            <a:r>
              <a:rPr lang="en-US" sz="1600" b="1" dirty="0">
                <a:solidFill>
                  <a:schemeClr val="tx2"/>
                </a:solidFill>
              </a:rPr>
              <a:t>Sécurité</a:t>
            </a:r>
            <a:endParaRPr lang="en-US" sz="1600" dirty="0"/>
          </a:p>
          <a:p>
            <a:pPr indent="0" marL="0">
              <a:buNone/>
            </a:pPr>
            <a:r>
              <a:rPr lang="en-US" sz="1400" dirty="0">
                <a:solidFill>
                  <a:schemeClr val="tx1"/>
                </a:solidFill>
              </a:rPr>
              <a:t>Groupes armés dans certaines zones d'Uvira et de Fizi</a:t>
            </a:r>
            <a:endParaRPr lang="en-US" sz="1600" dirty="0"/>
          </a:p>
        </p:txBody>
      </p:sp>
      <p:sp>
        <p:nvSpPr>
          <p:cNvPr id="19" name="Pastille icône"/>
          <p:cNvSpPr/>
          <p:nvPr/>
        </p:nvSpPr>
        <p:spPr>
          <a:xfrm>
            <a:off x="8046720" y="3474720"/>
            <a:ext cx="640080" cy="640080"/>
          </a:xfrm>
          <a:prstGeom prst="ellipse">
            <a:avLst/>
          </a:prstGeom>
          <a:solidFill>
            <a:schemeClr val="accent1"/>
          </a:solidFill>
          <a:ln w="12700">
            <a:solidFill>
              <a:schemeClr val="accent1"/>
            </a:solidFill>
            <a:prstDash val="solid"/>
          </a:ln>
        </p:spPr>
      </p:sp>
      <p:pic>
        <p:nvPicPr>
          <p:cNvPr id="20" name="Icône FaTruck" descr="preencoded.png">    </p:cNvPr>
          <p:cNvPicPr>
            <a:picLocks noChangeAspect="1"/>
          </p:cNvPicPr>
          <p:nvPr/>
        </p:nvPicPr>
        <p:blipFill>
          <a:blip r:embed="rId6"/>
          <a:stretch>
            <a:fillRect/>
          </a:stretch>
        </p:blipFill>
        <p:spPr>
          <a:xfrm>
            <a:off x="8206740" y="3634740"/>
            <a:ext cx="320040" cy="320040"/>
          </a:xfrm>
          <a:prstGeom prst="rect">
            <a:avLst/>
          </a:prstGeom>
        </p:spPr>
      </p:pic>
      <p:sp>
        <p:nvSpPr>
          <p:cNvPr id="21" name="Text 13"/>
          <p:cNvSpPr txBox="1"/>
          <p:nvPr/>
        </p:nvSpPr>
        <p:spPr>
          <a:xfrm>
            <a:off x="8869680" y="3429000"/>
            <a:ext cx="2651760" cy="1371600"/>
          </a:xfrm>
          <a:prstGeom prst="rect">
            <a:avLst/>
          </a:prstGeom>
          <a:noFill/>
          <a:ln/>
        </p:spPr>
        <p:txBody>
          <a:bodyPr wrap="square" lIns="0" tIns="0" rIns="0" bIns="0" rtlCol="0" anchor="t"/>
          <a:lstStyle/>
          <a:p>
            <a:pPr indent="0" marL="0">
              <a:buNone/>
            </a:pPr>
            <a:r>
              <a:rPr lang="en-US" sz="1600" b="1" dirty="0">
                <a:solidFill>
                  <a:schemeClr val="tx2"/>
                </a:solidFill>
              </a:rPr>
              <a:t>Logistique</a:t>
            </a:r>
            <a:endParaRPr lang="en-US" sz="1600" dirty="0"/>
          </a:p>
          <a:p>
            <a:pPr indent="0" marL="0">
              <a:buNone/>
            </a:pPr>
            <a:r>
              <a:rPr lang="en-US" sz="1400" dirty="0">
                <a:solidFill>
                  <a:schemeClr val="tx1"/>
                </a:solidFill>
              </a:rPr>
              <a:t>Ciment, bitume et équipements via Bujumbura, Kalemie (lac et rail) ou Bukavu</a:t>
            </a:r>
            <a:endParaRPr lang="en-US" sz="1600" dirty="0"/>
          </a:p>
        </p:txBody>
      </p:sp>
      <p:sp>
        <p:nvSpPr>
          <p:cNvPr id="22" name="Données à collecter"/>
          <p:cNvSpPr/>
          <p:nvPr/>
        </p:nvSpPr>
        <p:spPr>
          <a:xfrm>
            <a:off x="548640" y="5166360"/>
            <a:ext cx="11064240" cy="960120"/>
          </a:xfrm>
          <a:prstGeom prst="roundRect">
            <a:avLst>
              <a:gd name="adj" fmla="val 7619"/>
            </a:avLst>
          </a:prstGeom>
          <a:solidFill>
            <a:schemeClr val="bg2"/>
          </a:solidFill>
          <a:ln w="12700">
            <a:solidFill>
              <a:schemeClr val="bg2"/>
            </a:solidFill>
            <a:prstDash val="solid"/>
          </a:ln>
        </p:spPr>
      </p:sp>
      <p:sp>
        <p:nvSpPr>
          <p:cNvPr id="23" name="Text 15"/>
          <p:cNvSpPr txBox="1"/>
          <p:nvPr/>
        </p:nvSpPr>
        <p:spPr>
          <a:xfrm>
            <a:off x="822960" y="5166360"/>
            <a:ext cx="10515600" cy="960120"/>
          </a:xfrm>
          <a:prstGeom prst="rect">
            <a:avLst/>
          </a:prstGeom>
          <a:noFill/>
          <a:ln/>
        </p:spPr>
        <p:txBody>
          <a:bodyPr wrap="square" lIns="0" tIns="0" rIns="0" bIns="0" rtlCol="0" anchor="ctr"/>
          <a:lstStyle/>
          <a:p>
            <a:pPr indent="0" marL="0">
              <a:buNone/>
            </a:pPr>
            <a:r>
              <a:rPr lang="en-US" sz="1500" b="1" dirty="0">
                <a:solidFill>
                  <a:schemeClr val="accent1"/>
                </a:solidFill>
              </a:rPr>
              <a:t>Données à collecter en priorité : </a:t>
            </a:r>
            <a:pPr indent="0" marL="0">
              <a:buNone/>
            </a:pPr>
            <a:r>
              <a:rPr lang="en-US" sz="1500" dirty="0">
                <a:solidFill>
                  <a:schemeClr val="tx1"/>
                </a:solidFill>
              </a:rPr>
              <a:t>comptages de trafic, inventaire des ouvrages d'art, sondages de sols, carrières et gisements de matériaux, emprises et occupations.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Une route qui monte de niveau en quatre phases</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D'abord praticable en terre, puis chaque section progresse quand les recettes le permettent</a:t>
            </a:r>
            <a:endParaRPr lang="en-US" sz="1600" dirty="0"/>
          </a:p>
        </p:txBody>
      </p:sp>
      <p:sp>
        <p:nvSpPr>
          <p:cNvPr id="4" name="Phase 1"/>
          <p:cNvSpPr/>
          <p:nvPr/>
        </p:nvSpPr>
        <p:spPr>
          <a:xfrm>
            <a:off x="548640" y="1828800"/>
            <a:ext cx="2628900" cy="4343400"/>
          </a:xfrm>
          <a:prstGeom prst="roundRect">
            <a:avLst>
              <a:gd name="adj" fmla="val 2783"/>
            </a:avLst>
          </a:prstGeom>
          <a:solidFill>
            <a:schemeClr val="bg2"/>
          </a:solidFill>
          <a:ln w="12700">
            <a:solidFill>
              <a:schemeClr val="bg2"/>
            </a:solidFill>
            <a:prstDash val="solid"/>
          </a:ln>
        </p:spPr>
      </p:sp>
      <p:sp>
        <p:nvSpPr>
          <p:cNvPr id="5" name="Numéro phase"/>
          <p:cNvSpPr/>
          <p:nvPr/>
        </p:nvSpPr>
        <p:spPr>
          <a:xfrm>
            <a:off x="731520" y="2011680"/>
            <a:ext cx="548640" cy="548640"/>
          </a:xfrm>
          <a:prstGeom prst="ellipse">
            <a:avLst/>
          </a:prstGeom>
          <a:solidFill>
            <a:schemeClr val="accent3"/>
          </a:solidFill>
          <a:ln w="12700">
            <a:solidFill>
              <a:schemeClr val="accent3"/>
            </a:solidFill>
            <a:prstDash val="solid"/>
          </a:ln>
        </p:spPr>
      </p:sp>
      <p:sp>
        <p:nvSpPr>
          <p:cNvPr id="6" name="Text 4"/>
          <p:cNvSpPr txBox="1"/>
          <p:nvPr/>
        </p:nvSpPr>
        <p:spPr>
          <a:xfrm>
            <a:off x="731520" y="20116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5"/>
          <p:cNvSpPr txBox="1"/>
          <p:nvPr/>
        </p:nvSpPr>
        <p:spPr>
          <a:xfrm>
            <a:off x="731520" y="2651760"/>
            <a:ext cx="2263140" cy="640080"/>
          </a:xfrm>
          <a:prstGeom prst="rect">
            <a:avLst/>
          </a:prstGeom>
          <a:noFill/>
          <a:ln/>
        </p:spPr>
        <p:txBody>
          <a:bodyPr wrap="square" lIns="0" tIns="0" rIns="0" bIns="0" rtlCol="0" anchor="t"/>
          <a:lstStyle/>
          <a:p>
            <a:pPr indent="0" marL="0">
              <a:buNone/>
            </a:pPr>
            <a:r>
              <a:rPr lang="en-US" sz="1700" b="1" dirty="0">
                <a:solidFill>
                  <a:schemeClr val="tx2"/>
                </a:solidFill>
              </a:rPr>
              <a:t>Réouverture</a:t>
            </a:r>
            <a:endParaRPr lang="en-US" sz="1700" dirty="0"/>
          </a:p>
        </p:txBody>
      </p:sp>
      <p:sp>
        <p:nvSpPr>
          <p:cNvPr id="8" name="Text 6"/>
          <p:cNvSpPr txBox="1"/>
          <p:nvPr/>
        </p:nvSpPr>
        <p:spPr>
          <a:xfrm>
            <a:off x="731520" y="3291840"/>
            <a:ext cx="2263140" cy="548640"/>
          </a:xfrm>
          <a:prstGeom prst="rect">
            <a:avLst/>
          </a:prstGeom>
          <a:noFill/>
          <a:ln/>
        </p:spPr>
        <p:txBody>
          <a:bodyPr wrap="square" lIns="0" tIns="0" rIns="0" bIns="0" rtlCol="0" anchor="t"/>
          <a:lstStyle/>
          <a:p>
            <a:pPr indent="0" marL="0">
              <a:buNone/>
            </a:pPr>
            <a:r>
              <a:rPr lang="en-US" sz="1400" i="1" dirty="0">
                <a:solidFill>
                  <a:schemeClr val="accent1"/>
                </a:solidFill>
              </a:rPr>
              <a:t>Route en terre praticable toute l'année</a:t>
            </a:r>
            <a:endParaRPr lang="en-US" sz="1400" dirty="0"/>
          </a:p>
        </p:txBody>
      </p:sp>
      <p:sp>
        <p:nvSpPr>
          <p:cNvPr id="9" name="Text 7"/>
          <p:cNvSpPr txBox="1"/>
          <p:nvPr/>
        </p:nvSpPr>
        <p:spPr>
          <a:xfrm>
            <a:off x="731520" y="3886200"/>
            <a:ext cx="2263140" cy="1371600"/>
          </a:xfrm>
          <a:prstGeom prst="rect">
            <a:avLst/>
          </a:prstGeom>
          <a:noFill/>
          <a:ln/>
        </p:spPr>
        <p:txBody>
          <a:bodyPr wrap="square" lIns="0" tIns="0" rIns="0" bIns="0" rtlCol="0" anchor="t"/>
          <a:lstStyle/>
          <a:p>
            <a:pPr indent="0" marL="0">
              <a:buNone/>
            </a:pPr>
            <a:r>
              <a:rPr lang="en-US" sz="1300" dirty="0">
                <a:solidFill>
                  <a:schemeClr val="tx1"/>
                </a:solidFill>
              </a:rPr>
              <a:t>Débroussaillage, reprofilage, latérite aux points critiques, assainissement, franchissements, postes de péage</a:t>
            </a:r>
            <a:endParaRPr lang="en-US" sz="1300" dirty="0"/>
          </a:p>
        </p:txBody>
      </p:sp>
      <p:sp>
        <p:nvSpPr>
          <p:cNvPr id="10" name="Text 8"/>
          <p:cNvSpPr txBox="1"/>
          <p:nvPr/>
        </p:nvSpPr>
        <p:spPr>
          <a:xfrm>
            <a:off x="731520" y="5303520"/>
            <a:ext cx="2263140" cy="777240"/>
          </a:xfrm>
          <a:prstGeom prst="rect">
            <a:avLst/>
          </a:prstGeom>
          <a:noFill/>
          <a:ln/>
        </p:spPr>
        <p:txBody>
          <a:bodyPr wrap="square" lIns="0" tIns="0" rIns="0" bIns="0" rtlCol="0" anchor="t"/>
          <a:lstStyle/>
          <a:p>
            <a:pPr indent="0" marL="0">
              <a:buNone/>
            </a:pPr>
            <a:r>
              <a:rPr lang="en-US" sz="1100" b="1" dirty="0">
                <a:solidFill>
                  <a:schemeClr val="accent5"/>
                </a:solidFill>
              </a:rPr>
              <a:t>Déclencheur</a:t>
            </a:r>
            <a:endParaRPr lang="en-US" sz="1100" dirty="0"/>
          </a:p>
          <a:p>
            <a:pPr indent="0" marL="0">
              <a:buNone/>
            </a:pPr>
            <a:r>
              <a:rPr lang="en-US" sz="1300" b="1" dirty="0">
                <a:solidFill>
                  <a:schemeClr val="tx2"/>
                </a:solidFill>
              </a:rPr>
              <a:t>Signature de la convention</a:t>
            </a:r>
            <a:endParaRPr lang="en-US" sz="1100" dirty="0"/>
          </a:p>
        </p:txBody>
      </p:sp>
      <p:sp>
        <p:nvSpPr>
          <p:cNvPr id="11" name="Phase 2"/>
          <p:cNvSpPr/>
          <p:nvPr/>
        </p:nvSpPr>
        <p:spPr>
          <a:xfrm>
            <a:off x="3360420" y="1828800"/>
            <a:ext cx="2628900" cy="4343400"/>
          </a:xfrm>
          <a:prstGeom prst="roundRect">
            <a:avLst>
              <a:gd name="adj" fmla="val 2783"/>
            </a:avLst>
          </a:prstGeom>
          <a:solidFill>
            <a:schemeClr val="bg2"/>
          </a:solidFill>
          <a:ln w="12700">
            <a:solidFill>
              <a:schemeClr val="bg2"/>
            </a:solidFill>
            <a:prstDash val="solid"/>
          </a:ln>
        </p:spPr>
      </p:sp>
      <p:sp>
        <p:nvSpPr>
          <p:cNvPr id="12" name="Numéro phase"/>
          <p:cNvSpPr/>
          <p:nvPr/>
        </p:nvSpPr>
        <p:spPr>
          <a:xfrm>
            <a:off x="3543300" y="2011680"/>
            <a:ext cx="548640" cy="548640"/>
          </a:xfrm>
          <a:prstGeom prst="ellipse">
            <a:avLst/>
          </a:prstGeom>
          <a:solidFill>
            <a:schemeClr val="accent1"/>
          </a:solidFill>
          <a:ln w="12700">
            <a:solidFill>
              <a:schemeClr val="accent1"/>
            </a:solidFill>
            <a:prstDash val="solid"/>
          </a:ln>
        </p:spPr>
      </p:sp>
      <p:sp>
        <p:nvSpPr>
          <p:cNvPr id="13" name="Text 11"/>
          <p:cNvSpPr txBox="1"/>
          <p:nvPr/>
        </p:nvSpPr>
        <p:spPr>
          <a:xfrm>
            <a:off x="3543300" y="20116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Text 12"/>
          <p:cNvSpPr txBox="1"/>
          <p:nvPr/>
        </p:nvSpPr>
        <p:spPr>
          <a:xfrm>
            <a:off x="3543300" y="2651760"/>
            <a:ext cx="2263140" cy="640080"/>
          </a:xfrm>
          <a:prstGeom prst="rect">
            <a:avLst/>
          </a:prstGeom>
          <a:noFill/>
          <a:ln/>
        </p:spPr>
        <p:txBody>
          <a:bodyPr wrap="square" lIns="0" tIns="0" rIns="0" bIns="0" rtlCol="0" anchor="t"/>
          <a:lstStyle/>
          <a:p>
            <a:pPr indent="0" marL="0">
              <a:buNone/>
            </a:pPr>
            <a:r>
              <a:rPr lang="en-US" sz="1700" b="1" dirty="0">
                <a:solidFill>
                  <a:schemeClr val="tx2"/>
                </a:solidFill>
              </a:rPr>
              <a:t>Route en terre améliorée</a:t>
            </a:r>
            <a:endParaRPr lang="en-US" sz="1700" dirty="0"/>
          </a:p>
        </p:txBody>
      </p:sp>
      <p:sp>
        <p:nvSpPr>
          <p:cNvPr id="15" name="Text 13"/>
          <p:cNvSpPr txBox="1"/>
          <p:nvPr/>
        </p:nvSpPr>
        <p:spPr>
          <a:xfrm>
            <a:off x="3543300" y="3291840"/>
            <a:ext cx="2263140" cy="548640"/>
          </a:xfrm>
          <a:prstGeom prst="rect">
            <a:avLst/>
          </a:prstGeom>
          <a:noFill/>
          <a:ln/>
        </p:spPr>
        <p:txBody>
          <a:bodyPr wrap="square" lIns="0" tIns="0" rIns="0" bIns="0" rtlCol="0" anchor="t"/>
          <a:lstStyle/>
          <a:p>
            <a:pPr indent="0" marL="0">
              <a:buNone/>
            </a:pPr>
            <a:r>
              <a:rPr lang="en-US" sz="1400" i="1" dirty="0">
                <a:solidFill>
                  <a:schemeClr val="accent1"/>
                </a:solidFill>
              </a:rPr>
              <a:t>Circulation rapide, moins de coupures</a:t>
            </a:r>
            <a:endParaRPr lang="en-US" sz="1400" dirty="0"/>
          </a:p>
        </p:txBody>
      </p:sp>
      <p:sp>
        <p:nvSpPr>
          <p:cNvPr id="16" name="Text 14"/>
          <p:cNvSpPr txBox="1"/>
          <p:nvPr/>
        </p:nvSpPr>
        <p:spPr>
          <a:xfrm>
            <a:off x="3543300" y="3886200"/>
            <a:ext cx="2263140" cy="1371600"/>
          </a:xfrm>
          <a:prstGeom prst="rect">
            <a:avLst/>
          </a:prstGeom>
          <a:noFill/>
          <a:ln/>
        </p:spPr>
        <p:txBody>
          <a:bodyPr wrap="square" lIns="0" tIns="0" rIns="0" bIns="0" rtlCol="0" anchor="t"/>
          <a:lstStyle/>
          <a:p>
            <a:pPr indent="0" marL="0">
              <a:buNone/>
            </a:pPr>
            <a:r>
              <a:rPr lang="en-US" sz="1300" dirty="0">
                <a:solidFill>
                  <a:schemeClr val="tx1"/>
                </a:solidFill>
              </a:rPr>
              <a:t>Rechargement latéritique continu de 20 cm, élargissement de la plate-forme, ouvrages définitifs</a:t>
            </a:r>
            <a:endParaRPr lang="en-US" sz="1300" dirty="0"/>
          </a:p>
        </p:txBody>
      </p:sp>
      <p:sp>
        <p:nvSpPr>
          <p:cNvPr id="17" name="Text 15"/>
          <p:cNvSpPr txBox="1"/>
          <p:nvPr/>
        </p:nvSpPr>
        <p:spPr>
          <a:xfrm>
            <a:off x="3543300" y="5303520"/>
            <a:ext cx="2263140" cy="777240"/>
          </a:xfrm>
          <a:prstGeom prst="rect">
            <a:avLst/>
          </a:prstGeom>
          <a:noFill/>
          <a:ln/>
        </p:spPr>
        <p:txBody>
          <a:bodyPr wrap="square" lIns="0" tIns="0" rIns="0" bIns="0" rtlCol="0" anchor="t"/>
          <a:lstStyle/>
          <a:p>
            <a:pPr indent="0" marL="0">
              <a:buNone/>
            </a:pPr>
            <a:r>
              <a:rPr lang="en-US" sz="1100" b="1" dirty="0">
                <a:solidFill>
                  <a:schemeClr val="accent5"/>
                </a:solidFill>
              </a:rPr>
              <a:t>Déclencheur</a:t>
            </a:r>
            <a:endParaRPr lang="en-US" sz="1100" dirty="0"/>
          </a:p>
          <a:p>
            <a:pPr indent="0" marL="0">
              <a:buNone/>
            </a:pPr>
            <a:r>
              <a:rPr lang="en-US" sz="1300" b="1" dirty="0">
                <a:solidFill>
                  <a:schemeClr val="tx2"/>
                </a:solidFill>
              </a:rPr>
              <a:t>Fonds d'amélioration suffisant pour la section</a:t>
            </a:r>
            <a:endParaRPr lang="en-US" sz="1100" dirty="0"/>
          </a:p>
        </p:txBody>
      </p:sp>
      <p:sp>
        <p:nvSpPr>
          <p:cNvPr id="18" name="Phase 3"/>
          <p:cNvSpPr/>
          <p:nvPr/>
        </p:nvSpPr>
        <p:spPr>
          <a:xfrm>
            <a:off x="6172200" y="1828800"/>
            <a:ext cx="2628900" cy="4343400"/>
          </a:xfrm>
          <a:prstGeom prst="roundRect">
            <a:avLst>
              <a:gd name="adj" fmla="val 2783"/>
            </a:avLst>
          </a:prstGeom>
          <a:solidFill>
            <a:schemeClr val="bg2"/>
          </a:solidFill>
          <a:ln w="12700">
            <a:solidFill>
              <a:schemeClr val="bg2"/>
            </a:solidFill>
            <a:prstDash val="solid"/>
          </a:ln>
        </p:spPr>
      </p:sp>
      <p:sp>
        <p:nvSpPr>
          <p:cNvPr id="19" name="Numéro phase"/>
          <p:cNvSpPr/>
          <p:nvPr/>
        </p:nvSpPr>
        <p:spPr>
          <a:xfrm>
            <a:off x="6355080" y="2011680"/>
            <a:ext cx="548640" cy="548640"/>
          </a:xfrm>
          <a:prstGeom prst="ellipse">
            <a:avLst/>
          </a:prstGeom>
          <a:solidFill>
            <a:schemeClr val="accent2"/>
          </a:solidFill>
          <a:ln w="12700">
            <a:solidFill>
              <a:schemeClr val="accent2"/>
            </a:solidFill>
            <a:prstDash val="solid"/>
          </a:ln>
        </p:spPr>
      </p:sp>
      <p:sp>
        <p:nvSpPr>
          <p:cNvPr id="20" name="Text 18"/>
          <p:cNvSpPr txBox="1"/>
          <p:nvPr/>
        </p:nvSpPr>
        <p:spPr>
          <a:xfrm>
            <a:off x="6355080" y="20116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1" name="Text 19"/>
          <p:cNvSpPr txBox="1"/>
          <p:nvPr/>
        </p:nvSpPr>
        <p:spPr>
          <a:xfrm>
            <a:off x="6355080" y="2651760"/>
            <a:ext cx="2263140" cy="640080"/>
          </a:xfrm>
          <a:prstGeom prst="rect">
            <a:avLst/>
          </a:prstGeom>
          <a:noFill/>
          <a:ln/>
        </p:spPr>
        <p:txBody>
          <a:bodyPr wrap="square" lIns="0" tIns="0" rIns="0" bIns="0" rtlCol="0" anchor="t"/>
          <a:lstStyle/>
          <a:p>
            <a:pPr indent="0" marL="0">
              <a:buNone/>
            </a:pPr>
            <a:r>
              <a:rPr lang="en-US" sz="1700" b="1" dirty="0">
                <a:solidFill>
                  <a:schemeClr val="tx2"/>
                </a:solidFill>
              </a:rPr>
              <a:t>Bitumage progressif</a:t>
            </a:r>
            <a:endParaRPr lang="en-US" sz="1700" dirty="0"/>
          </a:p>
        </p:txBody>
      </p:sp>
      <p:sp>
        <p:nvSpPr>
          <p:cNvPr id="22" name="Text 20"/>
          <p:cNvSpPr txBox="1"/>
          <p:nvPr/>
        </p:nvSpPr>
        <p:spPr>
          <a:xfrm>
            <a:off x="6355080" y="3291840"/>
            <a:ext cx="2263140" cy="548640"/>
          </a:xfrm>
          <a:prstGeom prst="rect">
            <a:avLst/>
          </a:prstGeom>
          <a:noFill/>
          <a:ln/>
        </p:spPr>
        <p:txBody>
          <a:bodyPr wrap="square" lIns="0" tIns="0" rIns="0" bIns="0" rtlCol="0" anchor="t"/>
          <a:lstStyle/>
          <a:p>
            <a:pPr indent="0" marL="0">
              <a:buNone/>
            </a:pPr>
            <a:r>
              <a:rPr lang="en-US" sz="1400" i="1" dirty="0">
                <a:solidFill>
                  <a:schemeClr val="accent1"/>
                </a:solidFill>
              </a:rPr>
              <a:t>Revêtement durable</a:t>
            </a:r>
            <a:endParaRPr lang="en-US" sz="1400" dirty="0"/>
          </a:p>
        </p:txBody>
      </p:sp>
      <p:sp>
        <p:nvSpPr>
          <p:cNvPr id="23" name="Text 21"/>
          <p:cNvSpPr txBox="1"/>
          <p:nvPr/>
        </p:nvSpPr>
        <p:spPr>
          <a:xfrm>
            <a:off x="6355080" y="3886200"/>
            <a:ext cx="2263140" cy="1371600"/>
          </a:xfrm>
          <a:prstGeom prst="rect">
            <a:avLst/>
          </a:prstGeom>
          <a:noFill/>
          <a:ln/>
        </p:spPr>
        <p:txBody>
          <a:bodyPr wrap="square" lIns="0" tIns="0" rIns="0" bIns="0" rtlCol="0" anchor="t"/>
          <a:lstStyle/>
          <a:p>
            <a:pPr indent="0" marL="0">
              <a:buNone/>
            </a:pPr>
            <a:r>
              <a:rPr lang="en-US" sz="1300" dirty="0">
                <a:solidFill>
                  <a:schemeClr val="tx1"/>
                </a:solidFill>
              </a:rPr>
              <a:t>Couche de base renforcée et enduit superficiel bicouche, section par section</a:t>
            </a:r>
            <a:endParaRPr lang="en-US" sz="1300" dirty="0"/>
          </a:p>
        </p:txBody>
      </p:sp>
      <p:sp>
        <p:nvSpPr>
          <p:cNvPr id="24" name="Text 22"/>
          <p:cNvSpPr txBox="1"/>
          <p:nvPr/>
        </p:nvSpPr>
        <p:spPr>
          <a:xfrm>
            <a:off x="6355080" y="5303520"/>
            <a:ext cx="2263140" cy="777240"/>
          </a:xfrm>
          <a:prstGeom prst="rect">
            <a:avLst/>
          </a:prstGeom>
          <a:noFill/>
          <a:ln/>
        </p:spPr>
        <p:txBody>
          <a:bodyPr wrap="square" lIns="0" tIns="0" rIns="0" bIns="0" rtlCol="0" anchor="t"/>
          <a:lstStyle/>
          <a:p>
            <a:pPr indent="0" marL="0">
              <a:buNone/>
            </a:pPr>
            <a:r>
              <a:rPr lang="en-US" sz="1100" b="1" dirty="0">
                <a:solidFill>
                  <a:schemeClr val="accent5"/>
                </a:solidFill>
              </a:rPr>
              <a:t>Déclencheur</a:t>
            </a:r>
            <a:endParaRPr lang="en-US" sz="1100" dirty="0"/>
          </a:p>
          <a:p>
            <a:pPr indent="0" marL="0">
              <a:buNone/>
            </a:pPr>
            <a:r>
              <a:rPr lang="en-US" sz="1300" b="1" dirty="0">
                <a:solidFill>
                  <a:schemeClr val="tx2"/>
                </a:solidFill>
              </a:rPr>
              <a:t>Fonds suffisant + trafic justifiant le revêtement</a:t>
            </a:r>
            <a:endParaRPr lang="en-US" sz="1100" dirty="0"/>
          </a:p>
        </p:txBody>
      </p:sp>
      <p:sp>
        <p:nvSpPr>
          <p:cNvPr id="25" name="Phase 4"/>
          <p:cNvSpPr/>
          <p:nvPr/>
        </p:nvSpPr>
        <p:spPr>
          <a:xfrm>
            <a:off x="8983980" y="1828800"/>
            <a:ext cx="2628900" cy="4343400"/>
          </a:xfrm>
          <a:prstGeom prst="roundRect">
            <a:avLst>
              <a:gd name="adj" fmla="val 2783"/>
            </a:avLst>
          </a:prstGeom>
          <a:solidFill>
            <a:schemeClr val="bg2"/>
          </a:solidFill>
          <a:ln w="12700">
            <a:solidFill>
              <a:schemeClr val="bg2"/>
            </a:solidFill>
            <a:prstDash val="solid"/>
          </a:ln>
        </p:spPr>
      </p:sp>
      <p:sp>
        <p:nvSpPr>
          <p:cNvPr id="26" name="Numéro phase"/>
          <p:cNvSpPr/>
          <p:nvPr/>
        </p:nvSpPr>
        <p:spPr>
          <a:xfrm>
            <a:off x="9166860" y="2011680"/>
            <a:ext cx="548640" cy="548640"/>
          </a:xfrm>
          <a:prstGeom prst="ellipse">
            <a:avLst/>
          </a:prstGeom>
          <a:solidFill>
            <a:schemeClr val="tx2"/>
          </a:solidFill>
          <a:ln w="12700">
            <a:solidFill>
              <a:schemeClr val="tx2"/>
            </a:solidFill>
            <a:prstDash val="solid"/>
          </a:ln>
        </p:spPr>
      </p:sp>
      <p:sp>
        <p:nvSpPr>
          <p:cNvPr id="27" name="Text 25"/>
          <p:cNvSpPr txBox="1"/>
          <p:nvPr/>
        </p:nvSpPr>
        <p:spPr>
          <a:xfrm>
            <a:off x="9166860" y="20116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8" name="Text 26"/>
          <p:cNvSpPr txBox="1"/>
          <p:nvPr/>
        </p:nvSpPr>
        <p:spPr>
          <a:xfrm>
            <a:off x="9166860" y="2651760"/>
            <a:ext cx="2263140" cy="640080"/>
          </a:xfrm>
          <a:prstGeom prst="rect">
            <a:avLst/>
          </a:prstGeom>
          <a:noFill/>
          <a:ln/>
        </p:spPr>
        <p:txBody>
          <a:bodyPr wrap="square" lIns="0" tIns="0" rIns="0" bIns="0" rtlCol="0" anchor="t"/>
          <a:lstStyle/>
          <a:p>
            <a:pPr indent="0" marL="0">
              <a:buNone/>
            </a:pPr>
            <a:r>
              <a:rPr lang="en-US" sz="1700" b="1" dirty="0">
                <a:solidFill>
                  <a:schemeClr val="tx2"/>
                </a:solidFill>
              </a:rPr>
              <a:t>Renforcement</a:t>
            </a:r>
            <a:endParaRPr lang="en-US" sz="1700" dirty="0"/>
          </a:p>
        </p:txBody>
      </p:sp>
      <p:sp>
        <p:nvSpPr>
          <p:cNvPr id="29" name="Text 27"/>
          <p:cNvSpPr txBox="1"/>
          <p:nvPr/>
        </p:nvSpPr>
        <p:spPr>
          <a:xfrm>
            <a:off x="9166860" y="3291840"/>
            <a:ext cx="2263140" cy="548640"/>
          </a:xfrm>
          <a:prstGeom prst="rect">
            <a:avLst/>
          </a:prstGeom>
          <a:noFill/>
          <a:ln/>
        </p:spPr>
        <p:txBody>
          <a:bodyPr wrap="square" lIns="0" tIns="0" rIns="0" bIns="0" rtlCol="0" anchor="t"/>
          <a:lstStyle/>
          <a:p>
            <a:pPr indent="0" marL="0">
              <a:buNone/>
            </a:pPr>
            <a:r>
              <a:rPr lang="en-US" sz="1400" i="1" dirty="0">
                <a:solidFill>
                  <a:schemeClr val="accent1"/>
                </a:solidFill>
              </a:rPr>
              <a:t>Confort et sécurité</a:t>
            </a:r>
            <a:endParaRPr lang="en-US" sz="1400" dirty="0"/>
          </a:p>
        </p:txBody>
      </p:sp>
      <p:sp>
        <p:nvSpPr>
          <p:cNvPr id="30" name="Text 28"/>
          <p:cNvSpPr txBox="1"/>
          <p:nvPr/>
        </p:nvSpPr>
        <p:spPr>
          <a:xfrm>
            <a:off x="9166860" y="3886200"/>
            <a:ext cx="2263140" cy="1371600"/>
          </a:xfrm>
          <a:prstGeom prst="rect">
            <a:avLst/>
          </a:prstGeom>
          <a:noFill/>
          <a:ln/>
        </p:spPr>
        <p:txBody>
          <a:bodyPr wrap="square" lIns="0" tIns="0" rIns="0" bIns="0" rtlCol="0" anchor="t"/>
          <a:lstStyle/>
          <a:p>
            <a:pPr indent="0" marL="0">
              <a:buNone/>
            </a:pPr>
            <a:r>
              <a:rPr lang="en-US" sz="1300" dirty="0">
                <a:solidFill>
                  <a:schemeClr val="tx1"/>
                </a:solidFill>
              </a:rPr>
              <a:t>Béton bitumineux en agglomération et sur sections à fort trafic</a:t>
            </a:r>
            <a:endParaRPr lang="en-US" sz="1300" dirty="0"/>
          </a:p>
        </p:txBody>
      </p:sp>
      <p:sp>
        <p:nvSpPr>
          <p:cNvPr id="31" name="Text 29"/>
          <p:cNvSpPr txBox="1"/>
          <p:nvPr/>
        </p:nvSpPr>
        <p:spPr>
          <a:xfrm>
            <a:off x="9166860" y="5303520"/>
            <a:ext cx="2263140" cy="777240"/>
          </a:xfrm>
          <a:prstGeom prst="rect">
            <a:avLst/>
          </a:prstGeom>
          <a:noFill/>
          <a:ln/>
        </p:spPr>
        <p:txBody>
          <a:bodyPr wrap="square" lIns="0" tIns="0" rIns="0" bIns="0" rtlCol="0" anchor="t"/>
          <a:lstStyle/>
          <a:p>
            <a:pPr indent="0" marL="0">
              <a:buNone/>
            </a:pPr>
            <a:r>
              <a:rPr lang="en-US" sz="1100" b="1" dirty="0">
                <a:solidFill>
                  <a:schemeClr val="accent5"/>
                </a:solidFill>
              </a:rPr>
              <a:t>Déclencheur</a:t>
            </a:r>
            <a:endParaRPr lang="en-US" sz="1100" dirty="0"/>
          </a:p>
          <a:p>
            <a:pPr indent="0" marL="0">
              <a:buNone/>
            </a:pPr>
            <a:r>
              <a:rPr lang="en-US" sz="1300" b="1" dirty="0">
                <a:solidFill>
                  <a:schemeClr val="tx2"/>
                </a:solidFill>
              </a:rPr>
              <a:t>Trafic élevé constaté</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Phase 1 : réouverture en route en terre</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12 à 18 mois pour une route praticable toute l'année à 40–60 km/h</a:t>
            </a:r>
            <a:endParaRPr lang="en-US" sz="1600" dirty="0"/>
          </a:p>
        </p:txBody>
      </p:sp>
      <p:sp>
        <p:nvSpPr>
          <p:cNvPr id="4" name="Travaux phase 1"/>
          <p:cNvSpPr/>
          <p:nvPr/>
        </p:nvSpPr>
        <p:spPr>
          <a:xfrm>
            <a:off x="548640" y="1828800"/>
            <a:ext cx="5440680" cy="1280160"/>
          </a:xfrm>
          <a:prstGeom prst="roundRect">
            <a:avLst>
              <a:gd name="adj" fmla="val 5714"/>
            </a:avLst>
          </a:prstGeom>
          <a:solidFill>
            <a:schemeClr val="bg2"/>
          </a:solidFill>
          <a:ln w="12700">
            <a:solidFill>
              <a:schemeClr val="bg2"/>
            </a:solidFill>
            <a:prstDash val="solid"/>
          </a:ln>
        </p:spPr>
      </p:sp>
      <p:sp>
        <p:nvSpPr>
          <p:cNvPr id="5" name="Pastille icône"/>
          <p:cNvSpPr/>
          <p:nvPr/>
        </p:nvSpPr>
        <p:spPr>
          <a:xfrm>
            <a:off x="777240" y="2103120"/>
            <a:ext cx="731520" cy="731520"/>
          </a:xfrm>
          <a:prstGeom prst="ellipse">
            <a:avLst/>
          </a:prstGeom>
          <a:solidFill>
            <a:schemeClr val="accent3"/>
          </a:solidFill>
          <a:ln w="12700">
            <a:solidFill>
              <a:schemeClr val="accent3"/>
            </a:solidFill>
            <a:prstDash val="solid"/>
          </a:ln>
        </p:spPr>
      </p:sp>
      <p:pic>
        <p:nvPicPr>
          <p:cNvPr id="6" name="Icône FaRulerHorizontal" descr="preencoded.png">    </p:cNvPr>
          <p:cNvPicPr>
            <a:picLocks noChangeAspect="1"/>
          </p:cNvPicPr>
          <p:nvPr/>
        </p:nvPicPr>
        <p:blipFill>
          <a:blip r:embed="rId1"/>
          <a:stretch>
            <a:fillRect/>
          </a:stretch>
        </p:blipFill>
        <p:spPr>
          <a:xfrm>
            <a:off x="960120" y="2286000"/>
            <a:ext cx="365760" cy="365760"/>
          </a:xfrm>
          <a:prstGeom prst="rect">
            <a:avLst/>
          </a:prstGeom>
        </p:spPr>
      </p:pic>
      <p:sp>
        <p:nvSpPr>
          <p:cNvPr id="7" name="Text 4"/>
          <p:cNvSpPr txBox="1"/>
          <p:nvPr/>
        </p:nvSpPr>
        <p:spPr>
          <a:xfrm>
            <a:off x="1737360" y="1920240"/>
            <a:ext cx="4069080" cy="1097280"/>
          </a:xfrm>
          <a:prstGeom prst="rect">
            <a:avLst/>
          </a:prstGeom>
          <a:noFill/>
          <a:ln/>
        </p:spPr>
        <p:txBody>
          <a:bodyPr wrap="square" lIns="0" tIns="0" rIns="0" bIns="0" rtlCol="0" anchor="ctr"/>
          <a:lstStyle/>
          <a:p>
            <a:pPr indent="0" marL="0">
              <a:buNone/>
            </a:pPr>
            <a:r>
              <a:rPr lang="en-US" sz="1500" dirty="0">
                <a:solidFill>
                  <a:schemeClr val="tx1"/>
                </a:solidFill>
              </a:rPr>
              <a:t>Plate-forme de 7 à 8 m, bombée à 4 % pour évacuer l'eau, vitesse de 40 à 60 km/h</a:t>
            </a:r>
            <a:endParaRPr lang="en-US" sz="1500" dirty="0"/>
          </a:p>
        </p:txBody>
      </p:sp>
      <p:sp>
        <p:nvSpPr>
          <p:cNvPr id="8" name="Travaux phase 1"/>
          <p:cNvSpPr/>
          <p:nvPr/>
        </p:nvSpPr>
        <p:spPr>
          <a:xfrm>
            <a:off x="6172200" y="1828800"/>
            <a:ext cx="5440680" cy="1280160"/>
          </a:xfrm>
          <a:prstGeom prst="roundRect">
            <a:avLst>
              <a:gd name="adj" fmla="val 5714"/>
            </a:avLst>
          </a:prstGeom>
          <a:solidFill>
            <a:schemeClr val="bg2"/>
          </a:solidFill>
          <a:ln w="12700">
            <a:solidFill>
              <a:schemeClr val="bg2"/>
            </a:solidFill>
            <a:prstDash val="solid"/>
          </a:ln>
        </p:spPr>
      </p:sp>
      <p:sp>
        <p:nvSpPr>
          <p:cNvPr id="9" name="Pastille icône"/>
          <p:cNvSpPr/>
          <p:nvPr/>
        </p:nvSpPr>
        <p:spPr>
          <a:xfrm>
            <a:off x="6400800" y="2103120"/>
            <a:ext cx="731520" cy="731520"/>
          </a:xfrm>
          <a:prstGeom prst="ellipse">
            <a:avLst/>
          </a:prstGeom>
          <a:solidFill>
            <a:schemeClr val="accent3"/>
          </a:solidFill>
          <a:ln w="12700">
            <a:solidFill>
              <a:schemeClr val="accent3"/>
            </a:solidFill>
            <a:prstDash val="solid"/>
          </a:ln>
        </p:spPr>
      </p:sp>
      <p:pic>
        <p:nvPicPr>
          <p:cNvPr id="10" name="Icône FaLayerGroup" descr="preencoded.png">    </p:cNvPr>
          <p:cNvPicPr>
            <a:picLocks noChangeAspect="1"/>
          </p:cNvPicPr>
          <p:nvPr/>
        </p:nvPicPr>
        <p:blipFill>
          <a:blip r:embed="rId2"/>
          <a:stretch>
            <a:fillRect/>
          </a:stretch>
        </p:blipFill>
        <p:spPr>
          <a:xfrm>
            <a:off x="6583680" y="2286000"/>
            <a:ext cx="365760" cy="365760"/>
          </a:xfrm>
          <a:prstGeom prst="rect">
            <a:avLst/>
          </a:prstGeom>
        </p:spPr>
      </p:pic>
      <p:sp>
        <p:nvSpPr>
          <p:cNvPr id="11" name="Text 7"/>
          <p:cNvSpPr txBox="1"/>
          <p:nvPr/>
        </p:nvSpPr>
        <p:spPr>
          <a:xfrm>
            <a:off x="7360920" y="1920240"/>
            <a:ext cx="4069080" cy="1097280"/>
          </a:xfrm>
          <a:prstGeom prst="rect">
            <a:avLst/>
          </a:prstGeom>
          <a:noFill/>
          <a:ln/>
        </p:spPr>
        <p:txBody>
          <a:bodyPr wrap="square" lIns="0" tIns="0" rIns="0" bIns="0" rtlCol="0" anchor="ctr"/>
          <a:lstStyle/>
          <a:p>
            <a:pPr indent="0" marL="0">
              <a:buNone/>
            </a:pPr>
            <a:r>
              <a:rPr lang="en-US" sz="1500" dirty="0">
                <a:solidFill>
                  <a:schemeClr val="tx1"/>
                </a:solidFill>
              </a:rPr>
              <a:t>Latérite compactée (15 à 20 cm) sur bourbiers, pentes et zones argileuses : 20 à 30 % du linéaire</a:t>
            </a:r>
            <a:endParaRPr lang="en-US" sz="1500" dirty="0"/>
          </a:p>
        </p:txBody>
      </p:sp>
      <p:sp>
        <p:nvSpPr>
          <p:cNvPr id="12" name="Travaux phase 1"/>
          <p:cNvSpPr/>
          <p:nvPr/>
        </p:nvSpPr>
        <p:spPr>
          <a:xfrm>
            <a:off x="548640" y="3291840"/>
            <a:ext cx="5440680" cy="1280160"/>
          </a:xfrm>
          <a:prstGeom prst="roundRect">
            <a:avLst>
              <a:gd name="adj" fmla="val 5714"/>
            </a:avLst>
          </a:prstGeom>
          <a:solidFill>
            <a:schemeClr val="bg2"/>
          </a:solidFill>
          <a:ln w="12700">
            <a:solidFill>
              <a:schemeClr val="bg2"/>
            </a:solidFill>
            <a:prstDash val="solid"/>
          </a:ln>
        </p:spPr>
      </p:sp>
      <p:sp>
        <p:nvSpPr>
          <p:cNvPr id="13" name="Pastille icône"/>
          <p:cNvSpPr/>
          <p:nvPr/>
        </p:nvSpPr>
        <p:spPr>
          <a:xfrm>
            <a:off x="777240" y="3566160"/>
            <a:ext cx="731520" cy="731520"/>
          </a:xfrm>
          <a:prstGeom prst="ellipse">
            <a:avLst/>
          </a:prstGeom>
          <a:solidFill>
            <a:schemeClr val="accent3"/>
          </a:solidFill>
          <a:ln w="12700">
            <a:solidFill>
              <a:schemeClr val="accent3"/>
            </a:solidFill>
            <a:prstDash val="solid"/>
          </a:ln>
        </p:spPr>
      </p:sp>
      <p:pic>
        <p:nvPicPr>
          <p:cNvPr id="14" name="Icône FaWater" descr="preencoded.png">    </p:cNvPr>
          <p:cNvPicPr>
            <a:picLocks noChangeAspect="1"/>
          </p:cNvPicPr>
          <p:nvPr/>
        </p:nvPicPr>
        <p:blipFill>
          <a:blip r:embed="rId3"/>
          <a:stretch>
            <a:fillRect/>
          </a:stretch>
        </p:blipFill>
        <p:spPr>
          <a:xfrm>
            <a:off x="960120" y="3749040"/>
            <a:ext cx="365760" cy="365760"/>
          </a:xfrm>
          <a:prstGeom prst="rect">
            <a:avLst/>
          </a:prstGeom>
        </p:spPr>
      </p:pic>
      <p:sp>
        <p:nvSpPr>
          <p:cNvPr id="15" name="Text 10"/>
          <p:cNvSpPr txBox="1"/>
          <p:nvPr/>
        </p:nvSpPr>
        <p:spPr>
          <a:xfrm>
            <a:off x="1737360" y="3383280"/>
            <a:ext cx="4069080" cy="1097280"/>
          </a:xfrm>
          <a:prstGeom prst="rect">
            <a:avLst/>
          </a:prstGeom>
          <a:noFill/>
          <a:ln/>
        </p:spPr>
        <p:txBody>
          <a:bodyPr wrap="square" lIns="0" tIns="0" rIns="0" bIns="0" rtlCol="0" anchor="ctr"/>
          <a:lstStyle/>
          <a:p>
            <a:pPr indent="0" marL="0">
              <a:buNone/>
            </a:pPr>
            <a:r>
              <a:rPr lang="en-US" sz="1500" dirty="0">
                <a:solidFill>
                  <a:schemeClr val="tx1"/>
                </a:solidFill>
              </a:rPr>
              <a:t>Fossés, exutoires et buses à chaque point bas ; gabions sur les talus instables</a:t>
            </a:r>
            <a:endParaRPr lang="en-US" sz="1500" dirty="0"/>
          </a:p>
        </p:txBody>
      </p:sp>
      <p:sp>
        <p:nvSpPr>
          <p:cNvPr id="16" name="Travaux phase 1"/>
          <p:cNvSpPr/>
          <p:nvPr/>
        </p:nvSpPr>
        <p:spPr>
          <a:xfrm>
            <a:off x="6172200" y="3291840"/>
            <a:ext cx="5440680" cy="1280160"/>
          </a:xfrm>
          <a:prstGeom prst="roundRect">
            <a:avLst>
              <a:gd name="adj" fmla="val 5714"/>
            </a:avLst>
          </a:prstGeom>
          <a:solidFill>
            <a:schemeClr val="bg2"/>
          </a:solidFill>
          <a:ln w="12700">
            <a:solidFill>
              <a:schemeClr val="bg2"/>
            </a:solidFill>
            <a:prstDash val="solid"/>
          </a:ln>
        </p:spPr>
      </p:sp>
      <p:sp>
        <p:nvSpPr>
          <p:cNvPr id="17" name="Pastille icône"/>
          <p:cNvSpPr/>
          <p:nvPr/>
        </p:nvSpPr>
        <p:spPr>
          <a:xfrm>
            <a:off x="6400800" y="3566160"/>
            <a:ext cx="731520" cy="731520"/>
          </a:xfrm>
          <a:prstGeom prst="ellipse">
            <a:avLst/>
          </a:prstGeom>
          <a:solidFill>
            <a:schemeClr val="accent3"/>
          </a:solidFill>
          <a:ln w="12700">
            <a:solidFill>
              <a:schemeClr val="accent3"/>
            </a:solidFill>
            <a:prstDash val="solid"/>
          </a:ln>
        </p:spPr>
      </p:sp>
      <p:pic>
        <p:nvPicPr>
          <p:cNvPr id="18" name="Icône FaArchway" descr="preencoded.png">    </p:cNvPr>
          <p:cNvPicPr>
            <a:picLocks noChangeAspect="1"/>
          </p:cNvPicPr>
          <p:nvPr/>
        </p:nvPicPr>
        <p:blipFill>
          <a:blip r:embed="rId4"/>
          <a:stretch>
            <a:fillRect/>
          </a:stretch>
        </p:blipFill>
        <p:spPr>
          <a:xfrm>
            <a:off x="6583680" y="3749040"/>
            <a:ext cx="365760" cy="365760"/>
          </a:xfrm>
          <a:prstGeom prst="rect">
            <a:avLst/>
          </a:prstGeom>
        </p:spPr>
      </p:pic>
      <p:sp>
        <p:nvSpPr>
          <p:cNvPr id="19" name="Text 13"/>
          <p:cNvSpPr txBox="1"/>
          <p:nvPr/>
        </p:nvSpPr>
        <p:spPr>
          <a:xfrm>
            <a:off x="7360920" y="3383280"/>
            <a:ext cx="4069080" cy="1097280"/>
          </a:xfrm>
          <a:prstGeom prst="rect">
            <a:avLst/>
          </a:prstGeom>
          <a:noFill/>
          <a:ln/>
        </p:spPr>
        <p:txBody>
          <a:bodyPr wrap="square" lIns="0" tIns="0" rIns="0" bIns="0" rtlCol="0" anchor="ctr"/>
          <a:lstStyle/>
          <a:p>
            <a:pPr indent="0" marL="0">
              <a:buNone/>
            </a:pPr>
            <a:r>
              <a:rPr lang="en-US" sz="1500" dirty="0">
                <a:solidFill>
                  <a:schemeClr val="tx1"/>
                </a:solidFill>
              </a:rPr>
              <a:t>Réparation des ponts existants, ponts métalliques modulaires, dalots en béton sur petits cours d'eau</a:t>
            </a:r>
            <a:endParaRPr lang="en-US" sz="1500" dirty="0"/>
          </a:p>
        </p:txBody>
      </p:sp>
      <p:sp>
        <p:nvSpPr>
          <p:cNvPr id="20" name="Travaux phase 1"/>
          <p:cNvSpPr/>
          <p:nvPr/>
        </p:nvSpPr>
        <p:spPr>
          <a:xfrm>
            <a:off x="548640" y="4754880"/>
            <a:ext cx="5440680" cy="1280160"/>
          </a:xfrm>
          <a:prstGeom prst="roundRect">
            <a:avLst>
              <a:gd name="adj" fmla="val 5714"/>
            </a:avLst>
          </a:prstGeom>
          <a:solidFill>
            <a:schemeClr val="bg2"/>
          </a:solidFill>
          <a:ln w="12700">
            <a:solidFill>
              <a:schemeClr val="bg2"/>
            </a:solidFill>
            <a:prstDash val="solid"/>
          </a:ln>
        </p:spPr>
      </p:sp>
      <p:sp>
        <p:nvSpPr>
          <p:cNvPr id="21" name="Pastille icône"/>
          <p:cNvSpPr/>
          <p:nvPr/>
        </p:nvSpPr>
        <p:spPr>
          <a:xfrm>
            <a:off x="777240" y="5029200"/>
            <a:ext cx="731520" cy="731520"/>
          </a:xfrm>
          <a:prstGeom prst="ellipse">
            <a:avLst/>
          </a:prstGeom>
          <a:solidFill>
            <a:schemeClr val="accent3"/>
          </a:solidFill>
          <a:ln w="12700">
            <a:solidFill>
              <a:schemeClr val="accent3"/>
            </a:solidFill>
            <a:prstDash val="solid"/>
          </a:ln>
        </p:spPr>
      </p:sp>
      <p:pic>
        <p:nvPicPr>
          <p:cNvPr id="22" name="Icône FaExclamationTriangle" descr="preencoded.png">    </p:cNvPr>
          <p:cNvPicPr>
            <a:picLocks noChangeAspect="1"/>
          </p:cNvPicPr>
          <p:nvPr/>
        </p:nvPicPr>
        <p:blipFill>
          <a:blip r:embed="rId5"/>
          <a:stretch>
            <a:fillRect/>
          </a:stretch>
        </p:blipFill>
        <p:spPr>
          <a:xfrm>
            <a:off x="960120" y="5212080"/>
            <a:ext cx="365760" cy="365760"/>
          </a:xfrm>
          <a:prstGeom prst="rect">
            <a:avLst/>
          </a:prstGeom>
        </p:spPr>
      </p:pic>
      <p:sp>
        <p:nvSpPr>
          <p:cNvPr id="23" name="Text 16"/>
          <p:cNvSpPr txBox="1"/>
          <p:nvPr/>
        </p:nvSpPr>
        <p:spPr>
          <a:xfrm>
            <a:off x="1737360" y="4846320"/>
            <a:ext cx="4069080" cy="1097280"/>
          </a:xfrm>
          <a:prstGeom prst="rect">
            <a:avLst/>
          </a:prstGeom>
          <a:noFill/>
          <a:ln/>
        </p:spPr>
        <p:txBody>
          <a:bodyPr wrap="square" lIns="0" tIns="0" rIns="0" bIns="0" rtlCol="0" anchor="ctr"/>
          <a:lstStyle/>
          <a:p>
            <a:pPr indent="0" marL="0">
              <a:buNone/>
            </a:pPr>
            <a:r>
              <a:rPr lang="en-US" sz="1500" dirty="0">
                <a:solidFill>
                  <a:schemeClr val="tx1"/>
                </a:solidFill>
              </a:rPr>
              <a:t>Signalisation minimale et barrières de pluie interdisant les poids lourds pendant les fortes averses</a:t>
            </a:r>
            <a:endParaRPr lang="en-US" sz="1500" dirty="0"/>
          </a:p>
        </p:txBody>
      </p:sp>
      <p:sp>
        <p:nvSpPr>
          <p:cNvPr id="24" name="Travaux phase 1"/>
          <p:cNvSpPr/>
          <p:nvPr/>
        </p:nvSpPr>
        <p:spPr>
          <a:xfrm>
            <a:off x="6172200" y="4754880"/>
            <a:ext cx="5440680" cy="1280160"/>
          </a:xfrm>
          <a:prstGeom prst="roundRect">
            <a:avLst>
              <a:gd name="adj" fmla="val 5714"/>
            </a:avLst>
          </a:prstGeom>
          <a:solidFill>
            <a:schemeClr val="bg2"/>
          </a:solidFill>
          <a:ln w="12700">
            <a:solidFill>
              <a:schemeClr val="bg2"/>
            </a:solidFill>
            <a:prstDash val="solid"/>
          </a:ln>
        </p:spPr>
      </p:sp>
      <p:sp>
        <p:nvSpPr>
          <p:cNvPr id="25" name="Pastille icône"/>
          <p:cNvSpPr/>
          <p:nvPr/>
        </p:nvSpPr>
        <p:spPr>
          <a:xfrm>
            <a:off x="6400800" y="5029200"/>
            <a:ext cx="731520" cy="731520"/>
          </a:xfrm>
          <a:prstGeom prst="ellipse">
            <a:avLst/>
          </a:prstGeom>
          <a:solidFill>
            <a:schemeClr val="accent3"/>
          </a:solidFill>
          <a:ln w="12700">
            <a:solidFill>
              <a:schemeClr val="accent3"/>
            </a:solidFill>
            <a:prstDash val="solid"/>
          </a:ln>
        </p:spPr>
      </p:sp>
      <p:pic>
        <p:nvPicPr>
          <p:cNvPr id="26" name="Icône FaTools" descr="preencoded.png">    </p:cNvPr>
          <p:cNvPicPr>
            <a:picLocks noChangeAspect="1"/>
          </p:cNvPicPr>
          <p:nvPr/>
        </p:nvPicPr>
        <p:blipFill>
          <a:blip r:embed="rId6"/>
          <a:stretch>
            <a:fillRect/>
          </a:stretch>
        </p:blipFill>
        <p:spPr>
          <a:xfrm>
            <a:off x="6583680" y="5212080"/>
            <a:ext cx="365760" cy="365760"/>
          </a:xfrm>
          <a:prstGeom prst="rect">
            <a:avLst/>
          </a:prstGeom>
        </p:spPr>
      </p:pic>
      <p:sp>
        <p:nvSpPr>
          <p:cNvPr id="27" name="Text 19"/>
          <p:cNvSpPr txBox="1"/>
          <p:nvPr/>
        </p:nvSpPr>
        <p:spPr>
          <a:xfrm>
            <a:off x="7360920" y="4846320"/>
            <a:ext cx="4069080" cy="1097280"/>
          </a:xfrm>
          <a:prstGeom prst="rect">
            <a:avLst/>
          </a:prstGeom>
          <a:noFill/>
          <a:ln/>
        </p:spPr>
        <p:txBody>
          <a:bodyPr wrap="square" lIns="0" tIns="0" rIns="0" bIns="0" rtlCol="0" anchor="ctr"/>
          <a:lstStyle/>
          <a:p>
            <a:pPr indent="0" marL="0">
              <a:buNone/>
            </a:pPr>
            <a:r>
              <a:rPr lang="en-US" sz="1500" dirty="0">
                <a:solidFill>
                  <a:schemeClr val="tx1"/>
                </a:solidFill>
              </a:rPr>
              <a:t>3 lots en simultané, chacun avec sa brigade d'engins (niveleuses, compacteurs, chargeuses, camions)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Postes de péage et entretien permanent</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Un poste n'ouvre qu'après la réouverture complète des 50 km qu'il dessert</a:t>
            </a:r>
            <a:endParaRPr lang="en-US" sz="1600" dirty="0"/>
          </a:p>
        </p:txBody>
      </p:sp>
      <p:sp>
        <p:nvSpPr>
          <p:cNvPr id="4" name="Postes de péage"/>
          <p:cNvSpPr/>
          <p:nvPr/>
        </p:nvSpPr>
        <p:spPr>
          <a:xfrm>
            <a:off x="548640" y="1828800"/>
            <a:ext cx="5440680" cy="4297680"/>
          </a:xfrm>
          <a:prstGeom prst="roundRect">
            <a:avLst>
              <a:gd name="adj" fmla="val 1702"/>
            </a:avLst>
          </a:prstGeom>
          <a:solidFill>
            <a:schemeClr val="bg2"/>
          </a:solidFill>
          <a:ln w="12700">
            <a:solidFill>
              <a:schemeClr val="bg2"/>
            </a:solidFill>
            <a:prstDash val="solid"/>
          </a:ln>
        </p:spPr>
      </p:sp>
      <p:sp>
        <p:nvSpPr>
          <p:cNvPr id="5" name="Pastille icône"/>
          <p:cNvSpPr/>
          <p:nvPr/>
        </p:nvSpPr>
        <p:spPr>
          <a:xfrm>
            <a:off x="822960" y="2057400"/>
            <a:ext cx="685800" cy="685800"/>
          </a:xfrm>
          <a:prstGeom prst="ellipse">
            <a:avLst/>
          </a:prstGeom>
          <a:solidFill>
            <a:schemeClr val="accent1"/>
          </a:solidFill>
          <a:ln w="12700">
            <a:solidFill>
              <a:schemeClr val="accent1"/>
            </a:solidFill>
            <a:prstDash val="solid"/>
          </a:ln>
        </p:spPr>
      </p:sp>
      <p:pic>
        <p:nvPicPr>
          <p:cNvPr id="6" name="Icône FaTicketAlt" descr="preencoded.png">    </p:cNvPr>
          <p:cNvPicPr>
            <a:picLocks noChangeAspect="1"/>
          </p:cNvPicPr>
          <p:nvPr/>
        </p:nvPicPr>
        <p:blipFill>
          <a:blip r:embed="rId1"/>
          <a:stretch>
            <a:fillRect/>
          </a:stretch>
        </p:blipFill>
        <p:spPr>
          <a:xfrm>
            <a:off x="994410" y="2228850"/>
            <a:ext cx="342900" cy="342900"/>
          </a:xfrm>
          <a:prstGeom prst="rect">
            <a:avLst/>
          </a:prstGeom>
        </p:spPr>
      </p:pic>
      <p:sp>
        <p:nvSpPr>
          <p:cNvPr id="7" name="Text 4"/>
          <p:cNvSpPr txBox="1"/>
          <p:nvPr/>
        </p:nvSpPr>
        <p:spPr>
          <a:xfrm>
            <a:off x="1691640" y="2057400"/>
            <a:ext cx="4023360" cy="685800"/>
          </a:xfrm>
          <a:prstGeom prst="rect">
            <a:avLst/>
          </a:prstGeom>
          <a:noFill/>
          <a:ln/>
        </p:spPr>
        <p:txBody>
          <a:bodyPr wrap="square" lIns="0" tIns="0" rIns="0" bIns="0" rtlCol="0" anchor="ctr"/>
          <a:lstStyle/>
          <a:p>
            <a:pPr indent="0" marL="0">
              <a:buNone/>
            </a:pPr>
            <a:r>
              <a:rPr lang="en-US" sz="2000" b="1" dirty="0">
                <a:solidFill>
                  <a:schemeClr val="tx2"/>
                </a:solidFill>
              </a:rPr>
              <a:t>Postes de péage</a:t>
            </a:r>
            <a:endParaRPr lang="en-US" sz="2000" dirty="0"/>
          </a:p>
        </p:txBody>
      </p:sp>
      <p:sp>
        <p:nvSpPr>
          <p:cNvPr id="8" name="Text 5"/>
          <p:cNvSpPr txBox="1"/>
          <p:nvPr/>
        </p:nvSpPr>
        <p:spPr>
          <a:xfrm>
            <a:off x="822960" y="2971800"/>
            <a:ext cx="4892040" cy="301752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1"/>
                </a:solidFill>
              </a:rPr>
              <a:t>Environ 8 postes, un tous les 50 km, à l'entrée de sections homogènes et hors des centres urbains</a:t>
            </a:r>
            <a:endParaRPr lang="en-US" sz="1500" dirty="0"/>
          </a:p>
          <a:p>
            <a:pPr marL="203200" indent="-203200">
              <a:spcAft>
                <a:spcPts val="1000"/>
              </a:spcAft>
              <a:buSzPct val="100000"/>
              <a:buChar char="•"/>
            </a:pPr>
            <a:r>
              <a:rPr lang="en-US" sz="1500" dirty="0">
                <a:solidFill>
                  <a:schemeClr val="tx1"/>
                </a:solidFill>
              </a:rPr>
              <a:t>Ouverture uniquement après réouverture complète de la section desservie</a:t>
            </a:r>
            <a:endParaRPr lang="en-US" sz="1500" dirty="0"/>
          </a:p>
          <a:p>
            <a:pPr marL="203200" indent="-203200">
              <a:spcAft>
                <a:spcPts val="1000"/>
              </a:spcAft>
              <a:buSzPct val="100000"/>
              <a:buChar char="•"/>
            </a:pPr>
            <a:r>
              <a:rPr lang="en-US" sz="1500" dirty="0">
                <a:solidFill>
                  <a:schemeClr val="tx1"/>
                </a:solidFill>
              </a:rPr>
              <a:t>Billetterie électronique, espèces et mobile money, caméras et comptage automatique</a:t>
            </a:r>
            <a:endParaRPr lang="en-US" sz="1500" dirty="0"/>
          </a:p>
          <a:p>
            <a:pPr marL="203200" indent="-203200">
              <a:spcAft>
                <a:spcPts val="1000"/>
              </a:spcAft>
              <a:buSzPct val="100000"/>
              <a:buChar char="•"/>
            </a:pPr>
            <a:r>
              <a:rPr lang="en-US" sz="1500" dirty="0">
                <a:solidFill>
                  <a:schemeClr val="tx1"/>
                </a:solidFill>
              </a:rPr>
              <a:t>Pesage mobile pour faire respecter la charge à l'essieu</a:t>
            </a:r>
            <a:endParaRPr lang="en-US" sz="1500" dirty="0"/>
          </a:p>
        </p:txBody>
      </p:sp>
      <p:sp>
        <p:nvSpPr>
          <p:cNvPr id="9" name="Entretien permanent"/>
          <p:cNvSpPr/>
          <p:nvPr/>
        </p:nvSpPr>
        <p:spPr>
          <a:xfrm>
            <a:off x="6172200" y="1828800"/>
            <a:ext cx="5440680" cy="4297680"/>
          </a:xfrm>
          <a:prstGeom prst="roundRect">
            <a:avLst>
              <a:gd name="adj" fmla="val 1702"/>
            </a:avLst>
          </a:prstGeom>
          <a:solidFill>
            <a:schemeClr val="bg2"/>
          </a:solidFill>
          <a:ln w="12700">
            <a:solidFill>
              <a:schemeClr val="bg2"/>
            </a:solidFill>
            <a:prstDash val="solid"/>
          </a:ln>
        </p:spPr>
      </p:sp>
      <p:sp>
        <p:nvSpPr>
          <p:cNvPr id="10" name="Pastille icône"/>
          <p:cNvSpPr/>
          <p:nvPr/>
        </p:nvSpPr>
        <p:spPr>
          <a:xfrm>
            <a:off x="6446520" y="2057400"/>
            <a:ext cx="685800" cy="685800"/>
          </a:xfrm>
          <a:prstGeom prst="ellipse">
            <a:avLst/>
          </a:prstGeom>
          <a:solidFill>
            <a:schemeClr val="accent2"/>
          </a:solidFill>
          <a:ln w="12700">
            <a:solidFill>
              <a:schemeClr val="accent2"/>
            </a:solidFill>
            <a:prstDash val="solid"/>
          </a:ln>
        </p:spPr>
      </p:sp>
      <p:pic>
        <p:nvPicPr>
          <p:cNvPr id="11" name="Icône FaWrench" descr="preencoded.png">    </p:cNvPr>
          <p:cNvPicPr>
            <a:picLocks noChangeAspect="1"/>
          </p:cNvPicPr>
          <p:nvPr/>
        </p:nvPicPr>
        <p:blipFill>
          <a:blip r:embed="rId2"/>
          <a:stretch>
            <a:fillRect/>
          </a:stretch>
        </p:blipFill>
        <p:spPr>
          <a:xfrm>
            <a:off x="6617970" y="2228850"/>
            <a:ext cx="342900" cy="342900"/>
          </a:xfrm>
          <a:prstGeom prst="rect">
            <a:avLst/>
          </a:prstGeom>
        </p:spPr>
      </p:pic>
      <p:sp>
        <p:nvSpPr>
          <p:cNvPr id="12" name="Text 8"/>
          <p:cNvSpPr txBox="1"/>
          <p:nvPr/>
        </p:nvSpPr>
        <p:spPr>
          <a:xfrm>
            <a:off x="7315200" y="2057400"/>
            <a:ext cx="4023360" cy="685800"/>
          </a:xfrm>
          <a:prstGeom prst="rect">
            <a:avLst/>
          </a:prstGeom>
          <a:noFill/>
          <a:ln/>
        </p:spPr>
        <p:txBody>
          <a:bodyPr wrap="square" lIns="0" tIns="0" rIns="0" bIns="0" rtlCol="0" anchor="ctr"/>
          <a:lstStyle/>
          <a:p>
            <a:pPr indent="0" marL="0">
              <a:buNone/>
            </a:pPr>
            <a:r>
              <a:rPr lang="en-US" sz="2000" b="1" dirty="0">
                <a:solidFill>
                  <a:schemeClr val="tx2"/>
                </a:solidFill>
              </a:rPr>
              <a:t>Entretien permanent</a:t>
            </a:r>
            <a:endParaRPr lang="en-US" sz="2000" dirty="0"/>
          </a:p>
        </p:txBody>
      </p:sp>
      <p:sp>
        <p:nvSpPr>
          <p:cNvPr id="13" name="Text 9"/>
          <p:cNvSpPr txBox="1"/>
          <p:nvPr/>
        </p:nvSpPr>
        <p:spPr>
          <a:xfrm>
            <a:off x="6446520" y="2971800"/>
            <a:ext cx="4892040" cy="301752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1"/>
                </a:solidFill>
              </a:rPr>
              <a:t>Une brigade d'entretien par lot, basée près des postes de péage</a:t>
            </a:r>
            <a:endParaRPr lang="en-US" sz="1500" dirty="0"/>
          </a:p>
          <a:p>
            <a:pPr marL="203200" indent="-203200">
              <a:spcAft>
                <a:spcPts val="1000"/>
              </a:spcAft>
              <a:buSzPct val="100000"/>
              <a:buChar char="•"/>
            </a:pPr>
            <a:r>
              <a:rPr lang="en-US" sz="1500" dirty="0">
                <a:solidFill>
                  <a:schemeClr val="tx1"/>
                </a:solidFill>
              </a:rPr>
              <a:t>Reprofilage après chaque saison des pluies, rechargement ponctuel, curage des fossés</a:t>
            </a:r>
            <a:endParaRPr lang="en-US" sz="1500" dirty="0"/>
          </a:p>
          <a:p>
            <a:pPr marL="203200" indent="-203200">
              <a:spcAft>
                <a:spcPts val="1000"/>
              </a:spcAft>
              <a:buSzPct val="100000"/>
              <a:buChar char="•"/>
            </a:pPr>
            <a:r>
              <a:rPr lang="en-US" sz="1500" dirty="0">
                <a:solidFill>
                  <a:schemeClr val="tx1"/>
                </a:solidFill>
              </a:rPr>
              <a:t>Délai d'intervention visé : moins de 48 heures pour toute coupure de route</a:t>
            </a:r>
            <a:endParaRPr lang="en-US" sz="1500" dirty="0"/>
          </a:p>
        </p:txBody>
      </p:sp>
      <p:sp>
        <p:nvSpPr>
          <p:cNvPr id="14" name="Text 10"/>
          <p:cNvSpPr txBox="1"/>
          <p:nvPr/>
        </p:nvSpPr>
        <p:spPr>
          <a:xfrm>
            <a:off x="6446520" y="5074920"/>
            <a:ext cx="4892040" cy="8229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&lt; 48 h</a:t>
            </a:r>
            <a:endParaRPr lang="en-US" sz="4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Coût de la phase 1 : 25 à 45 millions USD</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Financés à 100 % par EIS-EKA ; les phases suivantes sont payées par le péage, au fur et à mesure</a:t>
            </a:r>
            <a:endParaRPr lang="en-US" sz="1600" dirty="0"/>
          </a:p>
        </p:txBody>
      </p:sp>
      <p:graphicFrame>
        <p:nvGraphicFramePr>
          <p:cNvPr id="12" name="Tableau coûts phase 1"/>
          <p:cNvGraphicFramePr>
            <a:graphicFrameLocks noGrp="1"/>
          </p:cNvGraphicFramePr>
          <p:nvPr>
            <p:extLst>
              <p:ext uri="{D42A27DB-BD31-4B8C-83A1-F6EECF244321}">
                <p14:modId xmlns:p14="http://schemas.microsoft.com/office/powerpoint/2010/main" val="1579011935"/>
              </p:ext>
            </p:extLst>
          </p:nvPr>
        </p:nvGraphicFramePr>
        <p:xfrm>
          <a:off x="548640" y="1828800"/>
          <a:ext cx="7680960" cy="914400"/>
        </p:xfrm>
        <a:graphic>
          <a:graphicData uri="http://schemas.openxmlformats.org/drawingml/2006/table">
            <a:tbl>
              <a:tblPr/>
              <a:tblGrid>
                <a:gridCol w="3017520"/>
                <a:gridCol w="3474720"/>
                <a:gridCol w="1188720"/>
              </a:tblGrid>
              <a:tr h="475488">
                <a:tc>
                  <a:txBody>
                    <a:bodyPr/>
                    <a:lstStyle/>
                    <a:p>
                      <a:pPr indent="0" marL="0">
                        <a:buNone/>
                      </a:pPr>
                      <a:r>
                        <a:rPr lang="en-US" sz="1400" b="1" dirty="0">
                          <a:solidFill>
                            <a:schemeClr val="bg1"/>
                          </a:solidFill>
                        </a:rPr>
                        <a:t>Poste</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Base de calcul</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r" indent="0" marL="0">
                        <a:buNone/>
                      </a:pPr>
                      <a:r>
                        <a:rPr lang="en-US" sz="1400" b="1" dirty="0">
                          <a:solidFill>
                            <a:schemeClr val="bg1"/>
                          </a:solidFill>
                        </a:rPr>
                        <a:t>M USD</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2"/>
                    </a:solidFill>
                  </a:tcPr>
                </a:tc>
              </a:tr>
              <a:tr h="475488">
                <a:tc>
                  <a:txBody>
                    <a:bodyPr/>
                    <a:lstStyle/>
                    <a:p>
                      <a:pPr indent="0" marL="0">
                        <a:buNone/>
                      </a:pPr>
                      <a:r>
                        <a:rPr lang="en-US" sz="1400" b="1" dirty="0">
                          <a:solidFill>
                            <a:schemeClr val="tx2"/>
                          </a:solidFill>
                        </a:rPr>
                        <a:t>Terrassement et rechargement</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 420 km × 25 000 à 45 000 USD/km</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10,5 – 19</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400" b="1" dirty="0">
                          <a:solidFill>
                            <a:schemeClr val="tx2"/>
                          </a:solidFill>
                        </a:rPr>
                        <a:t>Ponts, dalots, buses, talus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Selon inventaire des franchissements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dirty="0">
                          <a:solidFill>
                            <a:schemeClr val="tx1"/>
                          </a:solidFill>
                        </a:rPr>
                        <a:t>6 – 12</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400" b="1" dirty="0">
                          <a:solidFill>
                            <a:schemeClr val="tx2"/>
                          </a:solidFill>
                        </a:rPr>
                        <a:t>Engins et ateliers d'entretien</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3 brigades complètes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4 – 6</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400" b="1" dirty="0">
                          <a:solidFill>
                            <a:schemeClr val="tx2"/>
                          </a:solidFill>
                        </a:rPr>
                        <a:t>Postes de péage et pesage mobile</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8 postes × 150 000 à 250 000 USD</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dirty="0">
                          <a:solidFill>
                            <a:schemeClr val="tx1"/>
                          </a:solidFill>
                        </a:rPr>
                        <a:t>1,2 – 2</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400" b="1" dirty="0">
                          <a:solidFill>
                            <a:schemeClr val="tx2"/>
                          </a:solidFill>
                        </a:rPr>
                        <a:t>Reconnaissances, topographie, EIES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Forfait</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1 – 2</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400" b="1" dirty="0">
                          <a:solidFill>
                            <a:schemeClr val="tx2"/>
                          </a:solidFill>
                        </a:rPr>
                        <a:t>Imprévus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 10 %</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dirty="0">
                          <a:solidFill>
                            <a:schemeClr val="tx1"/>
                          </a:solidFill>
                        </a:rPr>
                        <a:t>2 – 4</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400" b="1" dirty="0">
                          <a:solidFill>
                            <a:schemeClr val="bg1"/>
                          </a:solidFill>
                        </a:rPr>
                        <a:t>Total phase 1</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r" indent="0" marL="0">
                        <a:buNone/>
                      </a:pPr>
                      <a:r>
                        <a:rPr lang="en-US" sz="1400" b="1" dirty="0">
                          <a:solidFill>
                            <a:schemeClr val="bg1"/>
                          </a:solidFill>
                        </a:rPr>
                        <a:t>25 – 45</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accent1"/>
                    </a:solidFill>
                  </a:tcPr>
                </a:tc>
              </a:tr>
            </a:tbl>
          </a:graphicData>
        </a:graphic>
      </p:graphicFrame>
      <p:sp>
        <p:nvSpPr>
          <p:cNvPr id="5" name="Encadré total"/>
          <p:cNvSpPr/>
          <p:nvPr/>
        </p:nvSpPr>
        <p:spPr>
          <a:xfrm>
            <a:off x="8595360" y="1828800"/>
            <a:ext cx="3017520" cy="3840480"/>
          </a:xfrm>
          <a:prstGeom prst="roundRect">
            <a:avLst>
              <a:gd name="adj" fmla="val 2424"/>
            </a:avLst>
          </a:prstGeom>
          <a:solidFill>
            <a:schemeClr val="tx2"/>
          </a:solidFill>
          <a:ln w="12700">
            <a:solidFill>
              <a:schemeClr val="tx2"/>
            </a:solidFill>
            <a:prstDash val="solid"/>
          </a:ln>
        </p:spPr>
      </p:sp>
      <p:sp>
        <p:nvSpPr>
          <p:cNvPr id="6" name="Text 3"/>
          <p:cNvSpPr txBox="1"/>
          <p:nvPr/>
        </p:nvSpPr>
        <p:spPr>
          <a:xfrm>
            <a:off x="8869680" y="2011680"/>
            <a:ext cx="2560320" cy="3474720"/>
          </a:xfrm>
          <a:prstGeom prst="rect">
            <a:avLst/>
          </a:prstGeom>
          <a:noFill/>
          <a:ln/>
        </p:spPr>
        <p:txBody>
          <a:bodyPr wrap="square" lIns="0" tIns="0" rIns="0" bIns="0" rtlCol="0" anchor="ctr"/>
          <a:lstStyle/>
          <a:p>
            <a:pPr indent="0" marL="0">
              <a:buNone/>
            </a:pPr>
            <a:r>
              <a:rPr lang="en-US" sz="1400" dirty="0">
                <a:solidFill>
                  <a:schemeClr val="bg2"/>
                </a:solidFill>
              </a:rPr>
              <a:t>Investissement</a:t>
            </a:r>
            <a:endParaRPr lang="en-US" sz="1400" dirty="0"/>
          </a:p>
          <a:p>
            <a:pPr indent="0" marL="0">
              <a:buNone/>
            </a:pPr>
            <a:r>
              <a:rPr lang="en-US" sz="4800" b="1" dirty="0">
                <a:solidFill>
                  <a:schemeClr val="accent3"/>
                </a:solidFill>
                <a:latin typeface="Cambria" pitchFamily="34" charset="0"/>
                <a:ea typeface="Cambria" pitchFamily="34" charset="-122"/>
                <a:cs typeface="Cambria" pitchFamily="34" charset="-120"/>
              </a:rPr>
              <a:t>25–45</a:t>
            </a:r>
            <a:endParaRPr lang="en-US" sz="1400" dirty="0"/>
          </a:p>
          <a:p>
            <a:pPr indent="0" marL="0">
              <a:spcAft>
                <a:spcPts val="1400"/>
              </a:spcAft>
              <a:buNone/>
            </a:pPr>
            <a:r>
              <a:rPr lang="en-US" sz="1600" dirty="0">
                <a:solidFill>
                  <a:schemeClr val="bg1"/>
                </a:solidFill>
              </a:rPr>
              <a:t>millions USD</a:t>
            </a:r>
            <a:endParaRPr lang="en-US" sz="1400" dirty="0"/>
          </a:p>
          <a:p>
            <a:pPr indent="0" marL="0">
              <a:buNone/>
            </a:pPr>
            <a:r>
              <a:rPr lang="en-US" sz="1400" dirty="0">
                <a:solidFill>
                  <a:schemeClr val="bg2"/>
                </a:solidFill>
              </a:rPr>
              <a:t>≈ 60 000 à 107 000 USD par km rouvert, tout compris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Phases suivantes et exploitation : ordres de grandeur</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Le bitumage complet représente un multiple de l'investissement initial, d'où un rythme dicté par les recettes</a:t>
            </a:r>
            <a:endParaRPr lang="en-US" sz="1600" dirty="0"/>
          </a:p>
        </p:txBody>
      </p:sp>
      <p:sp>
        <p:nvSpPr>
          <p:cNvPr id="4" name="Coût phase"/>
          <p:cNvSpPr/>
          <p:nvPr/>
        </p:nvSpPr>
        <p:spPr>
          <a:xfrm>
            <a:off x="548640" y="1828800"/>
            <a:ext cx="3474720" cy="2468880"/>
          </a:xfrm>
          <a:prstGeom prst="roundRect">
            <a:avLst>
              <a:gd name="adj" fmla="val 2963"/>
            </a:avLst>
          </a:prstGeom>
          <a:solidFill>
            <a:schemeClr val="bg2"/>
          </a:solidFill>
          <a:ln w="12700">
            <a:solidFill>
              <a:schemeClr val="bg2"/>
            </a:solidFill>
            <a:prstDash val="solid"/>
          </a:ln>
        </p:spPr>
      </p:sp>
      <p:sp>
        <p:nvSpPr>
          <p:cNvPr id="5" name="Text 3"/>
          <p:cNvSpPr txBox="1"/>
          <p:nvPr/>
        </p:nvSpPr>
        <p:spPr>
          <a:xfrm>
            <a:off x="777240" y="2011680"/>
            <a:ext cx="3017520" cy="73152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2 – 3,5 M USD / an</a:t>
            </a:r>
            <a:endParaRPr lang="en-US" sz="2600" dirty="0"/>
          </a:p>
        </p:txBody>
      </p:sp>
      <p:sp>
        <p:nvSpPr>
          <p:cNvPr id="6" name="Text 4"/>
          <p:cNvSpPr txBox="1"/>
          <p:nvPr/>
        </p:nvSpPr>
        <p:spPr>
          <a:xfrm>
            <a:off x="777240" y="2834640"/>
            <a:ext cx="3017520" cy="1371600"/>
          </a:xfrm>
          <a:prstGeom prst="rect">
            <a:avLst/>
          </a:prstGeom>
          <a:noFill/>
          <a:ln/>
        </p:spPr>
        <p:txBody>
          <a:bodyPr wrap="square" lIns="0" tIns="0" rIns="0" bIns="0" rtlCol="0" anchor="t"/>
          <a:lstStyle/>
          <a:p>
            <a:pPr indent="0" marL="0">
              <a:spcAft>
                <a:spcPts val="600"/>
              </a:spcAft>
              <a:buNone/>
            </a:pPr>
            <a:r>
              <a:rPr lang="en-US" sz="1500" b="1" dirty="0">
                <a:solidFill>
                  <a:schemeClr val="tx2"/>
                </a:solidFill>
              </a:rPr>
              <a:t>Entretien de la route en terre et exploitation des péages</a:t>
            </a:r>
            <a:endParaRPr lang="en-US" sz="1500" dirty="0"/>
          </a:p>
          <a:p>
            <a:pPr indent="0" marL="0">
              <a:buNone/>
            </a:pPr>
            <a:r>
              <a:rPr lang="en-US" sz="1400" dirty="0">
                <a:solidFill>
                  <a:schemeClr val="accent5"/>
                </a:solidFill>
              </a:rPr>
              <a:t>5 000 à 8 000 USD/km/an</a:t>
            </a:r>
            <a:endParaRPr lang="en-US" sz="1500" dirty="0"/>
          </a:p>
        </p:txBody>
      </p:sp>
      <p:sp>
        <p:nvSpPr>
          <p:cNvPr id="7" name="Coût phase"/>
          <p:cNvSpPr/>
          <p:nvPr/>
        </p:nvSpPr>
        <p:spPr>
          <a:xfrm>
            <a:off x="4297680" y="1828800"/>
            <a:ext cx="3474720" cy="2468880"/>
          </a:xfrm>
          <a:prstGeom prst="roundRect">
            <a:avLst>
              <a:gd name="adj" fmla="val 2963"/>
            </a:avLst>
          </a:prstGeom>
          <a:solidFill>
            <a:schemeClr val="bg2"/>
          </a:solidFill>
          <a:ln w="12700">
            <a:solidFill>
              <a:schemeClr val="bg2"/>
            </a:solidFill>
            <a:prstDash val="solid"/>
          </a:ln>
        </p:spPr>
      </p:sp>
      <p:sp>
        <p:nvSpPr>
          <p:cNvPr id="8" name="Text 6"/>
          <p:cNvSpPr txBox="1"/>
          <p:nvPr/>
        </p:nvSpPr>
        <p:spPr>
          <a:xfrm>
            <a:off x="4526280" y="2011680"/>
            <a:ext cx="3017520" cy="73152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45 – 80 M USD</a:t>
            </a:r>
            <a:endParaRPr lang="en-US" sz="2600" dirty="0"/>
          </a:p>
        </p:txBody>
      </p:sp>
      <p:sp>
        <p:nvSpPr>
          <p:cNvPr id="9" name="Text 7"/>
          <p:cNvSpPr txBox="1"/>
          <p:nvPr/>
        </p:nvSpPr>
        <p:spPr>
          <a:xfrm>
            <a:off x="4526280" y="2834640"/>
            <a:ext cx="3017520" cy="1371600"/>
          </a:xfrm>
          <a:prstGeom prst="rect">
            <a:avLst/>
          </a:prstGeom>
          <a:noFill/>
          <a:ln/>
        </p:spPr>
        <p:txBody>
          <a:bodyPr wrap="square" lIns="0" tIns="0" rIns="0" bIns="0" rtlCol="0" anchor="t"/>
          <a:lstStyle/>
          <a:p>
            <a:pPr indent="0" marL="0">
              <a:spcAft>
                <a:spcPts val="600"/>
              </a:spcAft>
              <a:buNone/>
            </a:pPr>
            <a:r>
              <a:rPr lang="en-US" sz="1500" b="1" dirty="0">
                <a:solidFill>
                  <a:schemeClr val="tx2"/>
                </a:solidFill>
              </a:rPr>
              <a:t>Phase 2 : route en terre améliorée</a:t>
            </a:r>
            <a:endParaRPr lang="en-US" sz="1500" dirty="0"/>
          </a:p>
          <a:p>
            <a:pPr indent="0" marL="0">
              <a:buNone/>
            </a:pPr>
            <a:r>
              <a:rPr lang="en-US" sz="1400" dirty="0">
                <a:solidFill>
                  <a:schemeClr val="accent5"/>
                </a:solidFill>
              </a:rPr>
              <a:t>100 000 à 190 000 USD/km</a:t>
            </a:r>
            <a:endParaRPr lang="en-US" sz="1500" dirty="0"/>
          </a:p>
        </p:txBody>
      </p:sp>
      <p:sp>
        <p:nvSpPr>
          <p:cNvPr id="10" name="Coût phase"/>
          <p:cNvSpPr/>
          <p:nvPr/>
        </p:nvSpPr>
        <p:spPr>
          <a:xfrm>
            <a:off x="8046720" y="1828800"/>
            <a:ext cx="3474720" cy="2468880"/>
          </a:xfrm>
          <a:prstGeom prst="roundRect">
            <a:avLst>
              <a:gd name="adj" fmla="val 2963"/>
            </a:avLst>
          </a:prstGeom>
          <a:solidFill>
            <a:schemeClr val="bg2"/>
          </a:solidFill>
          <a:ln w="12700">
            <a:solidFill>
              <a:schemeClr val="bg2"/>
            </a:solidFill>
            <a:prstDash val="solid"/>
          </a:ln>
        </p:spPr>
      </p:sp>
      <p:sp>
        <p:nvSpPr>
          <p:cNvPr id="11" name="Text 9"/>
          <p:cNvSpPr txBox="1"/>
          <p:nvPr/>
        </p:nvSpPr>
        <p:spPr>
          <a:xfrm>
            <a:off x="8275320" y="2011680"/>
            <a:ext cx="3017520" cy="73152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150 – 210 M USD</a:t>
            </a:r>
            <a:endParaRPr lang="en-US" sz="2600" dirty="0"/>
          </a:p>
        </p:txBody>
      </p:sp>
      <p:sp>
        <p:nvSpPr>
          <p:cNvPr id="12" name="Text 10"/>
          <p:cNvSpPr txBox="1"/>
          <p:nvPr/>
        </p:nvSpPr>
        <p:spPr>
          <a:xfrm>
            <a:off x="8275320" y="2834640"/>
            <a:ext cx="3017520" cy="1371600"/>
          </a:xfrm>
          <a:prstGeom prst="rect">
            <a:avLst/>
          </a:prstGeom>
          <a:noFill/>
          <a:ln/>
        </p:spPr>
        <p:txBody>
          <a:bodyPr wrap="square" lIns="0" tIns="0" rIns="0" bIns="0" rtlCol="0" anchor="t"/>
          <a:lstStyle/>
          <a:p>
            <a:pPr indent="0" marL="0">
              <a:spcAft>
                <a:spcPts val="600"/>
              </a:spcAft>
              <a:buNone/>
            </a:pPr>
            <a:r>
              <a:rPr lang="en-US" sz="1500" b="1" dirty="0">
                <a:solidFill>
                  <a:schemeClr val="tx2"/>
                </a:solidFill>
              </a:rPr>
              <a:t>Phase 3 : bitumage en enduit bicouche</a:t>
            </a:r>
            <a:endParaRPr lang="en-US" sz="1500" dirty="0"/>
          </a:p>
          <a:p>
            <a:pPr indent="0" marL="0">
              <a:buNone/>
            </a:pPr>
            <a:r>
              <a:rPr lang="en-US" sz="1400" dirty="0">
                <a:solidFill>
                  <a:schemeClr val="accent5"/>
                </a:solidFill>
              </a:rPr>
              <a:t>350 000 à 500 000 USD/km</a:t>
            </a:r>
            <a:endParaRPr lang="en-US" sz="1500" dirty="0"/>
          </a:p>
        </p:txBody>
      </p:sp>
      <p:sp>
        <p:nvSpPr>
          <p:cNvPr id="13" name="Pastille icône"/>
          <p:cNvSpPr/>
          <p:nvPr/>
        </p:nvSpPr>
        <p:spPr>
          <a:xfrm>
            <a:off x="548640" y="4754880"/>
            <a:ext cx="731520" cy="731520"/>
          </a:xfrm>
          <a:prstGeom prst="ellipse">
            <a:avLst/>
          </a:prstGeom>
          <a:solidFill>
            <a:schemeClr val="accent3"/>
          </a:solidFill>
          <a:ln w="12700">
            <a:solidFill>
              <a:schemeClr val="accent3"/>
            </a:solidFill>
            <a:prstDash val="solid"/>
          </a:ln>
        </p:spPr>
      </p:sp>
      <p:pic>
        <p:nvPicPr>
          <p:cNvPr id="14" name="Icône FaMotorcycle" descr="preencoded.png">    </p:cNvPr>
          <p:cNvPicPr>
            <a:picLocks noChangeAspect="1"/>
          </p:cNvPicPr>
          <p:nvPr/>
        </p:nvPicPr>
        <p:blipFill>
          <a:blip r:embed="rId1"/>
          <a:stretch>
            <a:fillRect/>
          </a:stretch>
        </p:blipFill>
        <p:spPr>
          <a:xfrm>
            <a:off x="731520" y="4937760"/>
            <a:ext cx="365760" cy="365760"/>
          </a:xfrm>
          <a:prstGeom prst="rect">
            <a:avLst/>
          </a:prstGeom>
        </p:spPr>
      </p:pic>
      <p:sp>
        <p:nvSpPr>
          <p:cNvPr id="15" name="Text 12"/>
          <p:cNvSpPr txBox="1"/>
          <p:nvPr/>
        </p:nvSpPr>
        <p:spPr>
          <a:xfrm>
            <a:off x="1463040" y="4663440"/>
            <a:ext cx="2743200" cy="914400"/>
          </a:xfrm>
          <a:prstGeom prst="rect">
            <a:avLst/>
          </a:prstGeom>
          <a:noFill/>
          <a:ln/>
        </p:spPr>
        <p:txBody>
          <a:bodyPr wrap="square" lIns="0" tIns="0" rIns="0" bIns="0" rtlCol="0" anchor="ctr"/>
          <a:lstStyle/>
          <a:p>
            <a:pPr indent="0" marL="0">
              <a:buNone/>
            </a:pPr>
            <a:r>
              <a:rPr lang="en-US" sz="2200" b="1" dirty="0">
                <a:solidFill>
                  <a:schemeClr val="tx2"/>
                </a:solidFill>
              </a:rPr>
              <a:t>≈ 0,5 USD</a:t>
            </a:r>
            <a:endParaRPr lang="en-US" sz="2200" dirty="0"/>
          </a:p>
          <a:p>
            <a:pPr indent="0" marL="0">
              <a:buNone/>
            </a:pPr>
            <a:r>
              <a:rPr lang="en-US" sz="1400" dirty="0">
                <a:solidFill>
                  <a:schemeClr val="tx1"/>
                </a:solidFill>
              </a:rPr>
              <a:t>par passage pour une moto</a:t>
            </a:r>
            <a:endParaRPr lang="en-US" sz="2200" dirty="0"/>
          </a:p>
        </p:txBody>
      </p:sp>
      <p:sp>
        <p:nvSpPr>
          <p:cNvPr id="16" name="Pastille icône"/>
          <p:cNvSpPr/>
          <p:nvPr/>
        </p:nvSpPr>
        <p:spPr>
          <a:xfrm>
            <a:off x="4389120" y="4754880"/>
            <a:ext cx="731520" cy="731520"/>
          </a:xfrm>
          <a:prstGeom prst="ellipse">
            <a:avLst/>
          </a:prstGeom>
          <a:solidFill>
            <a:schemeClr val="accent1"/>
          </a:solidFill>
          <a:ln w="12700">
            <a:solidFill>
              <a:schemeClr val="accent1"/>
            </a:solidFill>
            <a:prstDash val="solid"/>
          </a:ln>
        </p:spPr>
      </p:sp>
      <p:pic>
        <p:nvPicPr>
          <p:cNvPr id="17" name="Icône FaTruck" descr="preencoded.png">    </p:cNvPr>
          <p:cNvPicPr>
            <a:picLocks noChangeAspect="1"/>
          </p:cNvPicPr>
          <p:nvPr/>
        </p:nvPicPr>
        <p:blipFill>
          <a:blip r:embed="rId2"/>
          <a:stretch>
            <a:fillRect/>
          </a:stretch>
        </p:blipFill>
        <p:spPr>
          <a:xfrm>
            <a:off x="4572000" y="4937760"/>
            <a:ext cx="365760" cy="365760"/>
          </a:xfrm>
          <a:prstGeom prst="rect">
            <a:avLst/>
          </a:prstGeom>
        </p:spPr>
      </p:pic>
      <p:sp>
        <p:nvSpPr>
          <p:cNvPr id="18" name="Text 14"/>
          <p:cNvSpPr txBox="1"/>
          <p:nvPr/>
        </p:nvSpPr>
        <p:spPr>
          <a:xfrm>
            <a:off x="5303520" y="4663440"/>
            <a:ext cx="3108960" cy="914400"/>
          </a:xfrm>
          <a:prstGeom prst="rect">
            <a:avLst/>
          </a:prstGeom>
          <a:noFill/>
          <a:ln/>
        </p:spPr>
        <p:txBody>
          <a:bodyPr wrap="square" lIns="0" tIns="0" rIns="0" bIns="0" rtlCol="0" anchor="ctr"/>
          <a:lstStyle/>
          <a:p>
            <a:pPr indent="0" marL="0">
              <a:buNone/>
            </a:pPr>
            <a:r>
              <a:rPr lang="en-US" sz="2200" b="1" dirty="0">
                <a:solidFill>
                  <a:schemeClr val="tx2"/>
                </a:solidFill>
              </a:rPr>
              <a:t>20 – 30 USD</a:t>
            </a:r>
            <a:endParaRPr lang="en-US" sz="2200" dirty="0"/>
          </a:p>
          <a:p>
            <a:pPr indent="0" marL="0">
              <a:buNone/>
            </a:pPr>
            <a:r>
              <a:rPr lang="en-US" sz="1400" dirty="0">
                <a:solidFill>
                  <a:schemeClr val="tx1"/>
                </a:solidFill>
              </a:rPr>
              <a:t>par passage pour un poids lourd de 3 essieux ou plus</a:t>
            </a:r>
            <a:endParaRPr lang="en-US" sz="2200" dirty="0"/>
          </a:p>
        </p:txBody>
      </p:sp>
      <p:sp>
        <p:nvSpPr>
          <p:cNvPr id="19" name="Text 15"/>
          <p:cNvSpPr txBox="1"/>
          <p:nvPr/>
        </p:nvSpPr>
        <p:spPr>
          <a:xfrm>
            <a:off x="8595360" y="4663440"/>
            <a:ext cx="3017520" cy="1005840"/>
          </a:xfrm>
          <a:prstGeom prst="rect">
            <a:avLst/>
          </a:prstGeom>
          <a:noFill/>
          <a:ln/>
        </p:spPr>
        <p:txBody>
          <a:bodyPr wrap="square" lIns="0" tIns="0" rIns="0" bIns="0" rtlCol="0" anchor="ctr"/>
          <a:lstStyle/>
          <a:p>
            <a:pPr indent="0" marL="0">
              <a:buNone/>
            </a:pPr>
            <a:r>
              <a:rPr lang="en-US" sz="1400" i="1" dirty="0">
                <a:solidFill>
                  <a:schemeClr val="accent2"/>
                </a:solidFill>
              </a:rPr>
              <a:t>Tarifs proposés, à faire approuver par l'État. Les recettes dépendent surtout du nombre de camions, qui reste à mesurer.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Recettes de péage : trois scénarios</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Au scénario moyen, l'entretien est couvert et 2 à 3 M USD par an restent pour le retour et l'amélioration</a:t>
            </a:r>
            <a:endParaRPr lang="en-US" sz="1600" dirty="0"/>
          </a:p>
        </p:txBody>
      </p:sp>
      <p:graphicFrame>
        <p:nvGraphicFramePr>
          <p:cNvPr id="4" name="Graphique scénarios" descr=""/>
          <p:cNvGraphicFramePr/>
          <p:nvPr/>
        </p:nvGraphicFramePr>
        <p:xfrm>
          <a:off x="548640" y="1783080"/>
          <a:ext cx="5852160" cy="4389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766560" y="1828800"/>
            <a:ext cx="4846320" cy="4297680"/>
          </a:xfrm>
          <a:prstGeom prst="rect">
            <a:avLst/>
          </a:prstGeom>
          <a:noFill/>
          <a:ln/>
        </p:spPr>
        <p:txBody>
          <a:bodyPr wrap="square" lIns="0" tIns="0" rIns="0" bIns="0" rtlCol="0" anchor="t"/>
          <a:lstStyle/>
          <a:p>
            <a:pPr marL="203200" indent="-203200">
              <a:buSzPct val="100000"/>
              <a:buChar char="•"/>
            </a:pPr>
            <a:r>
              <a:rPr lang="en-US" sz="1500" b="1" dirty="0">
                <a:solidFill>
                  <a:schemeClr val="accent1"/>
                </a:solidFill>
              </a:rPr>
              <a:t>Faible – </a:t>
            </a:r>
            <a:pPr indent="0" marL="0">
              <a:spcAft>
                <a:spcPts val="1200"/>
              </a:spcAft>
              <a:buNone/>
            </a:pPr>
            <a:r>
              <a:rPr lang="en-US" sz="1500" dirty="0">
                <a:solidFill>
                  <a:schemeClr val="tx1"/>
                </a:solidFill>
              </a:rPr>
              <a:t>Le péage couvre à peine l'entretien ; l'amélioration attendrait la croissance du trafic.</a:t>
            </a:r>
            <a:endParaRPr lang="en-US" sz="1500" dirty="0"/>
          </a:p>
          <a:p>
            <a:pPr marL="203200" indent="-203200">
              <a:buSzPct val="100000"/>
              <a:buChar char="•"/>
            </a:pPr>
            <a:r>
              <a:rPr lang="en-US" sz="1500" b="1" dirty="0">
                <a:solidFill>
                  <a:schemeClr val="accent1"/>
                </a:solidFill>
              </a:rPr>
              <a:t>Moyen – </a:t>
            </a:r>
            <a:pPr indent="0" marL="0">
              <a:spcAft>
                <a:spcPts val="1200"/>
              </a:spcAft>
              <a:buNone/>
            </a:pPr>
            <a:r>
              <a:rPr lang="en-US" sz="1500" dirty="0">
                <a:solidFill>
                  <a:schemeClr val="tx1"/>
                </a:solidFill>
              </a:rPr>
              <a:t>Entretien couvert, environ 2 à 3 M USD par an pour le retour sur investissement et l'amélioration.</a:t>
            </a:r>
            <a:endParaRPr lang="en-US" sz="1500" dirty="0"/>
          </a:p>
          <a:p>
            <a:pPr marL="203200" indent="-203200">
              <a:buSzPct val="100000"/>
              <a:buChar char="•"/>
            </a:pPr>
            <a:r>
              <a:rPr lang="en-US" sz="1500" b="1" dirty="0">
                <a:solidFill>
                  <a:schemeClr val="accent1"/>
                </a:solidFill>
              </a:rPr>
              <a:t>Trafic induit – </a:t>
            </a:r>
            <a:pPr indent="0" marL="0">
              <a:spcAft>
                <a:spcPts val="1200"/>
              </a:spcAft>
              <a:buNone/>
            </a:pPr>
            <a:r>
              <a:rPr lang="en-US" sz="1500" dirty="0">
                <a:solidFill>
                  <a:schemeClr val="tx1"/>
                </a:solidFill>
              </a:rPr>
              <a:t>Le trafic augmente fortement après la réouverture d'une route coupée : c'est lui qui financera le bitumage.</a:t>
            </a:r>
            <a:endParaRPr lang="en-US" sz="1500" dirty="0"/>
          </a:p>
          <a:p>
            <a:pPr marL="203200" indent="-203200">
              <a:buSzPct val="100000"/>
              <a:buChar char="•"/>
            </a:pPr>
            <a:r>
              <a:rPr lang="en-US" sz="1500" b="1" dirty="0">
                <a:solidFill>
                  <a:schemeClr val="accent1"/>
                </a:solidFill>
              </a:rPr>
              <a:t>Bitumage – </a:t>
            </a:r>
            <a:pPr indent="0" marL="0">
              <a:spcAft>
                <a:spcPts val="1200"/>
              </a:spcAft>
              <a:buNone/>
            </a:pPr>
            <a:r>
              <a:rPr lang="en-US" sz="1500" dirty="0">
                <a:solidFill>
                  <a:schemeClr val="tx1"/>
                </a:solidFill>
              </a:rPr>
              <a:t>Commence par les sections à plus fort trafic (Uvira, Kalemie) ; EIS-EKA peut emprunter sur les recettes constatées.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Montage contractuel : une concession de 30 ans à péage</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L'État ne paie rien et ne garantit rien : il concède le droit de percevoir le péage</a:t>
            </a:r>
            <a:endParaRPr lang="en-US" sz="1600" dirty="0"/>
          </a:p>
        </p:txBody>
      </p:sp>
      <p:sp>
        <p:nvSpPr>
          <p:cNvPr id="4" name="Cadre juridique"/>
          <p:cNvSpPr/>
          <p:nvPr/>
        </p:nvSpPr>
        <p:spPr>
          <a:xfrm>
            <a:off x="548640" y="1828800"/>
            <a:ext cx="5669280" cy="4297680"/>
          </a:xfrm>
          <a:prstGeom prst="roundRect">
            <a:avLst>
              <a:gd name="adj" fmla="val 1702"/>
            </a:avLst>
          </a:prstGeom>
          <a:solidFill>
            <a:schemeClr val="bg2"/>
          </a:solidFill>
          <a:ln w="12700">
            <a:solidFill>
              <a:schemeClr val="bg2"/>
            </a:solidFill>
            <a:prstDash val="solid"/>
          </a:ln>
        </p:spPr>
      </p:sp>
      <p:sp>
        <p:nvSpPr>
          <p:cNvPr id="5" name="Pastille icône"/>
          <p:cNvSpPr/>
          <p:nvPr/>
        </p:nvSpPr>
        <p:spPr>
          <a:xfrm>
            <a:off x="822960" y="2057400"/>
            <a:ext cx="640080" cy="640080"/>
          </a:xfrm>
          <a:prstGeom prst="ellipse">
            <a:avLst/>
          </a:prstGeom>
          <a:solidFill>
            <a:schemeClr val="tx2"/>
          </a:solidFill>
          <a:ln w="12700">
            <a:solidFill>
              <a:schemeClr val="tx2"/>
            </a:solidFill>
            <a:prstDash val="solid"/>
          </a:ln>
        </p:spPr>
      </p:sp>
      <p:pic>
        <p:nvPicPr>
          <p:cNvPr id="6" name="Icône FaBalanceScale" descr="preencoded.png">    </p:cNvPr>
          <p:cNvPicPr>
            <a:picLocks noChangeAspect="1"/>
          </p:cNvPicPr>
          <p:nvPr/>
        </p:nvPicPr>
        <p:blipFill>
          <a:blip r:embed="rId1"/>
          <a:stretch>
            <a:fillRect/>
          </a:stretch>
        </p:blipFill>
        <p:spPr>
          <a:xfrm>
            <a:off x="982980" y="2217420"/>
            <a:ext cx="320040" cy="320040"/>
          </a:xfrm>
          <a:prstGeom prst="rect">
            <a:avLst/>
          </a:prstGeom>
        </p:spPr>
      </p:pic>
      <p:sp>
        <p:nvSpPr>
          <p:cNvPr id="7" name="Text 4"/>
          <p:cNvSpPr txBox="1"/>
          <p:nvPr/>
        </p:nvSpPr>
        <p:spPr>
          <a:xfrm>
            <a:off x="1645920" y="2057400"/>
            <a:ext cx="4389120" cy="640080"/>
          </a:xfrm>
          <a:prstGeom prst="rect">
            <a:avLst/>
          </a:prstGeom>
          <a:noFill/>
          <a:ln/>
        </p:spPr>
        <p:txBody>
          <a:bodyPr wrap="square" lIns="0" tIns="0" rIns="0" bIns="0" rtlCol="0" anchor="ctr"/>
          <a:lstStyle/>
          <a:p>
            <a:pPr indent="0" marL="0">
              <a:buNone/>
            </a:pPr>
            <a:r>
              <a:rPr lang="en-US" sz="2000" b="1" dirty="0">
                <a:solidFill>
                  <a:schemeClr val="tx2"/>
                </a:solidFill>
              </a:rPr>
              <a:t>Cadre juridique</a:t>
            </a:r>
            <a:endParaRPr lang="en-US" sz="2000" dirty="0"/>
          </a:p>
        </p:txBody>
      </p:sp>
      <p:sp>
        <p:nvSpPr>
          <p:cNvPr id="8" name="Text 5"/>
          <p:cNvSpPr txBox="1"/>
          <p:nvPr/>
        </p:nvSpPr>
        <p:spPr>
          <a:xfrm>
            <a:off x="822960" y="2880360"/>
            <a:ext cx="5120640" cy="31089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Loi n°18/016 du 9 juillet 2018 sur les PPP et ses mesures d'application, dont la procédure des offres spontanées</a:t>
            </a:r>
            <a:endParaRPr lang="en-US" sz="1400" dirty="0"/>
          </a:p>
          <a:p>
            <a:pPr marL="203200" indent="-203200">
              <a:spcAft>
                <a:spcPts val="800"/>
              </a:spcAft>
              <a:buSzPct val="100000"/>
              <a:buChar char="•"/>
            </a:pPr>
            <a:r>
              <a:rPr lang="en-US" sz="1400" dirty="0">
                <a:solidFill>
                  <a:schemeClr val="tx1"/>
                </a:solidFill>
              </a:rPr>
              <a:t>Autorité concédante : l'État, représenté par le Ministère des ITP, avec l'Office des Routes pour le contrôle technique</a:t>
            </a:r>
            <a:endParaRPr lang="en-US" sz="1400" dirty="0"/>
          </a:p>
          <a:p>
            <a:pPr marL="203200" indent="-203200">
              <a:spcAft>
                <a:spcPts val="800"/>
              </a:spcAft>
              <a:buSzPct val="100000"/>
              <a:buChar char="•"/>
            </a:pPr>
            <a:r>
              <a:rPr lang="en-US" sz="1400" dirty="0">
                <a:solidFill>
                  <a:schemeClr val="tx1"/>
                </a:solidFill>
              </a:rPr>
              <a:t>Arrêté des ministres compétents autorisant le péage et fixant les tarifs</a:t>
            </a:r>
            <a:endParaRPr lang="en-US" sz="1400" dirty="0"/>
          </a:p>
          <a:p>
            <a:pPr marL="203200" indent="-203200">
              <a:spcAft>
                <a:spcPts val="800"/>
              </a:spcAft>
              <a:buSzPct val="100000"/>
              <a:buChar char="•"/>
            </a:pPr>
            <a:r>
              <a:rPr lang="en-US" sz="1400" dirty="0">
                <a:solidFill>
                  <a:schemeClr val="tx1"/>
                </a:solidFill>
              </a:rPr>
              <a:t>Coordination avec le FONER et les provinces pour éviter toute double perception</a:t>
            </a:r>
            <a:endParaRPr lang="en-US" sz="1400" dirty="0"/>
          </a:p>
        </p:txBody>
      </p:sp>
      <p:sp>
        <p:nvSpPr>
          <p:cNvPr id="9" name="Pastille icône"/>
          <p:cNvSpPr/>
          <p:nvPr/>
        </p:nvSpPr>
        <p:spPr>
          <a:xfrm>
            <a:off x="6583680" y="1920240"/>
            <a:ext cx="594360" cy="594360"/>
          </a:xfrm>
          <a:prstGeom prst="ellipse">
            <a:avLst/>
          </a:prstGeom>
          <a:solidFill>
            <a:schemeClr val="accent1"/>
          </a:solidFill>
          <a:ln w="12700">
            <a:solidFill>
              <a:schemeClr val="accent1"/>
            </a:solidFill>
            <a:prstDash val="solid"/>
          </a:ln>
        </p:spPr>
      </p:sp>
      <p:pic>
        <p:nvPicPr>
          <p:cNvPr id="10" name="Icône FaBuilding" descr="preencoded.png">    </p:cNvPr>
          <p:cNvPicPr>
            <a:picLocks noChangeAspect="1"/>
          </p:cNvPicPr>
          <p:nvPr/>
        </p:nvPicPr>
        <p:blipFill>
          <a:blip r:embed="rId2"/>
          <a:stretch>
            <a:fillRect/>
          </a:stretch>
        </p:blipFill>
        <p:spPr>
          <a:xfrm>
            <a:off x="6732270" y="2068830"/>
            <a:ext cx="297180" cy="297180"/>
          </a:xfrm>
          <a:prstGeom prst="rect">
            <a:avLst/>
          </a:prstGeom>
        </p:spPr>
      </p:pic>
      <p:sp>
        <p:nvSpPr>
          <p:cNvPr id="11" name="Text 7"/>
          <p:cNvSpPr txBox="1"/>
          <p:nvPr/>
        </p:nvSpPr>
        <p:spPr>
          <a:xfrm>
            <a:off x="7360920" y="1828800"/>
            <a:ext cx="4251960" cy="1371600"/>
          </a:xfrm>
          <a:prstGeom prst="rect">
            <a:avLst/>
          </a:prstGeom>
          <a:noFill/>
          <a:ln/>
        </p:spPr>
        <p:txBody>
          <a:bodyPr wrap="square" lIns="0" tIns="0" rIns="0" bIns="0" rtlCol="0" anchor="t"/>
          <a:lstStyle/>
          <a:p>
            <a:pPr indent="0" marL="0">
              <a:buNone/>
            </a:pPr>
            <a:r>
              <a:rPr lang="en-US" sz="1600" b="1" dirty="0">
                <a:solidFill>
                  <a:schemeClr val="tx2"/>
                </a:solidFill>
              </a:rPr>
              <a:t>Société de projet</a:t>
            </a:r>
            <a:endParaRPr lang="en-US" sz="1600" dirty="0"/>
          </a:p>
          <a:p>
            <a:pPr indent="0" marL="0">
              <a:buNone/>
            </a:pPr>
            <a:r>
              <a:rPr lang="en-US" sz="1400" dirty="0">
                <a:solidFill>
                  <a:schemeClr val="tx1"/>
                </a:solidFill>
              </a:rPr>
              <a:t>« RN5 Tanganyika S.A. » (nom provisoire), de droit congolais, détenue par EIS-EKA ; participation gratuite minoritaire possible pour l'État.</a:t>
            </a:r>
            <a:endParaRPr lang="en-US" sz="1600" dirty="0"/>
          </a:p>
        </p:txBody>
      </p:sp>
      <p:sp>
        <p:nvSpPr>
          <p:cNvPr id="12" name="Pastille icône"/>
          <p:cNvSpPr/>
          <p:nvPr/>
        </p:nvSpPr>
        <p:spPr>
          <a:xfrm>
            <a:off x="6583680" y="3383280"/>
            <a:ext cx="594360" cy="594360"/>
          </a:xfrm>
          <a:prstGeom prst="ellipse">
            <a:avLst/>
          </a:prstGeom>
          <a:solidFill>
            <a:schemeClr val="accent1"/>
          </a:solidFill>
          <a:ln w="12700">
            <a:solidFill>
              <a:schemeClr val="accent1"/>
            </a:solidFill>
            <a:prstDash val="solid"/>
          </a:ln>
        </p:spPr>
      </p:sp>
      <p:pic>
        <p:nvPicPr>
          <p:cNvPr id="13" name="Icône FaChartLine" descr="preencoded.png">    </p:cNvPr>
          <p:cNvPicPr>
            <a:picLocks noChangeAspect="1"/>
          </p:cNvPicPr>
          <p:nvPr/>
        </p:nvPicPr>
        <p:blipFill>
          <a:blip r:embed="rId3"/>
          <a:stretch>
            <a:fillRect/>
          </a:stretch>
        </p:blipFill>
        <p:spPr>
          <a:xfrm>
            <a:off x="6732270" y="3531870"/>
            <a:ext cx="297180" cy="297180"/>
          </a:xfrm>
          <a:prstGeom prst="rect">
            <a:avLst/>
          </a:prstGeom>
        </p:spPr>
      </p:pic>
      <p:sp>
        <p:nvSpPr>
          <p:cNvPr id="14" name="Text 9"/>
          <p:cNvSpPr txBox="1"/>
          <p:nvPr/>
        </p:nvSpPr>
        <p:spPr>
          <a:xfrm>
            <a:off x="7360920" y="3291840"/>
            <a:ext cx="4251960" cy="1371600"/>
          </a:xfrm>
          <a:prstGeom prst="rect">
            <a:avLst/>
          </a:prstGeom>
          <a:noFill/>
          <a:ln/>
        </p:spPr>
        <p:txBody>
          <a:bodyPr wrap="square" lIns="0" tIns="0" rIns="0" bIns="0" rtlCol="0" anchor="t"/>
          <a:lstStyle/>
          <a:p>
            <a:pPr indent="0" marL="0">
              <a:buNone/>
            </a:pPr>
            <a:r>
              <a:rPr lang="en-US" sz="1600" b="1" dirty="0">
                <a:solidFill>
                  <a:schemeClr val="tx2"/>
                </a:solidFill>
              </a:rPr>
              <a:t>Amélioration selon les moyens</a:t>
            </a:r>
            <a:endParaRPr lang="en-US" sz="1600" dirty="0"/>
          </a:p>
          <a:p>
            <a:pPr indent="0" marL="0">
              <a:buNone/>
            </a:pPr>
            <a:r>
              <a:rPr lang="en-US" sz="1400" dirty="0">
                <a:solidFill>
                  <a:schemeClr val="tx1"/>
                </a:solidFill>
              </a:rPr>
              <a:t>Programme annuel soumis à l'Office des Routes ; une section passe à la phase suivante dès que le fonds couvre son coût.</a:t>
            </a:r>
            <a:endParaRPr lang="en-US" sz="1600" dirty="0"/>
          </a:p>
        </p:txBody>
      </p:sp>
      <p:sp>
        <p:nvSpPr>
          <p:cNvPr id="15" name="Pastille icône"/>
          <p:cNvSpPr/>
          <p:nvPr/>
        </p:nvSpPr>
        <p:spPr>
          <a:xfrm>
            <a:off x="6583680" y="4846320"/>
            <a:ext cx="594360" cy="594360"/>
          </a:xfrm>
          <a:prstGeom prst="ellipse">
            <a:avLst/>
          </a:prstGeom>
          <a:solidFill>
            <a:schemeClr val="accent1"/>
          </a:solidFill>
          <a:ln w="12700">
            <a:solidFill>
              <a:schemeClr val="accent1"/>
            </a:solidFill>
            <a:prstDash val="solid"/>
          </a:ln>
        </p:spPr>
      </p:sp>
      <p:pic>
        <p:nvPicPr>
          <p:cNvPr id="16" name="Icône FaCalendarAlt" descr="preencoded.png">    </p:cNvPr>
          <p:cNvPicPr>
            <a:picLocks noChangeAspect="1"/>
          </p:cNvPicPr>
          <p:nvPr/>
        </p:nvPicPr>
        <p:blipFill>
          <a:blip r:embed="rId4"/>
          <a:stretch>
            <a:fillRect/>
          </a:stretch>
        </p:blipFill>
        <p:spPr>
          <a:xfrm>
            <a:off x="6732270" y="4994910"/>
            <a:ext cx="297180" cy="297180"/>
          </a:xfrm>
          <a:prstGeom prst="rect">
            <a:avLst/>
          </a:prstGeom>
        </p:spPr>
      </p:pic>
      <p:sp>
        <p:nvSpPr>
          <p:cNvPr id="17" name="Text 11"/>
          <p:cNvSpPr txBox="1"/>
          <p:nvPr/>
        </p:nvSpPr>
        <p:spPr>
          <a:xfrm>
            <a:off x="7360920" y="4754880"/>
            <a:ext cx="4251960" cy="1371600"/>
          </a:xfrm>
          <a:prstGeom prst="rect">
            <a:avLst/>
          </a:prstGeom>
          <a:noFill/>
          <a:ln/>
        </p:spPr>
        <p:txBody>
          <a:bodyPr wrap="square" lIns="0" tIns="0" rIns="0" bIns="0" rtlCol="0" anchor="t"/>
          <a:lstStyle/>
          <a:p>
            <a:pPr indent="0" marL="0">
              <a:buNone/>
            </a:pPr>
            <a:r>
              <a:rPr lang="en-US" sz="1600" b="1" dirty="0">
                <a:solidFill>
                  <a:schemeClr val="tx2"/>
                </a:solidFill>
              </a:rPr>
              <a:t>Durée et fin de contrat</a:t>
            </a:r>
            <a:endParaRPr lang="en-US" sz="1600" dirty="0"/>
          </a:p>
          <a:p>
            <a:pPr indent="0" marL="0">
              <a:buNone/>
            </a:pPr>
            <a:r>
              <a:rPr lang="en-US" sz="1400" dirty="0">
                <a:solidFill>
                  <a:schemeClr val="tx1"/>
                </a:solidFill>
              </a:rPr>
              <a:t>30 ans, prolongeable si non amorti ; remise gratuite de la route en bon état, après audit 3 ans avant la fin.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Engagements des parties</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Chaque engagement d'EIS-EKA trouve sa contrepartie du côté de l'État</a:t>
            </a:r>
            <a:endParaRPr lang="en-US" sz="1600" dirty="0"/>
          </a:p>
        </p:txBody>
      </p:sp>
      <p:graphicFrame>
        <p:nvGraphicFramePr>
          <p:cNvPr id="16" name="Tableau engagements"/>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5532120"/>
                <a:gridCol w="5532120"/>
              </a:tblGrid>
              <a:tr h="457200">
                <a:tc>
                  <a:txBody>
                    <a:bodyPr/>
                    <a:lstStyle/>
                    <a:p>
                      <a:pPr indent="0" marL="0">
                        <a:buNone/>
                      </a:pPr>
                      <a:r>
                        <a:rPr lang="en-US" sz="1500" b="1" dirty="0">
                          <a:solidFill>
                            <a:schemeClr val="bg1"/>
                          </a:solidFill>
                        </a:rPr>
                        <a:t>EIS-EKA s'engage à</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500" b="1" dirty="0">
                          <a:solidFill>
                            <a:schemeClr val="bg1"/>
                          </a:solidFill>
                        </a:rPr>
                        <a:t>L'État s'engage à</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tx2"/>
                    </a:solidFill>
                  </a:tcPr>
                </a:tc>
              </a:tr>
              <a:tr h="749808">
                <a:tc>
                  <a:txBody>
                    <a:bodyPr/>
                    <a:lstStyle/>
                    <a:p>
                      <a:pPr indent="0" marL="0">
                        <a:buNone/>
                      </a:pPr>
                      <a:r>
                        <a:rPr lang="en-US" sz="1500" dirty="0">
                          <a:solidFill>
                            <a:schemeClr val="tx1"/>
                          </a:solidFill>
                        </a:rPr>
                        <a:t>Financer 100 % de la phase 1 et démarrer les travaux dans les 60 jours suivant la signature</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Accorder le droit exclusif de péage sur le tronçon pendant 30 ans</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r>
              <a:tr h="749808">
                <a:tc>
                  <a:txBody>
                    <a:bodyPr/>
                    <a:lstStyle/>
                    <a:p>
                      <a:pPr indent="0" marL="0">
                        <a:buNone/>
                      </a:pPr>
                      <a:r>
                        <a:rPr lang="en-US" sz="1500" dirty="0">
                          <a:solidFill>
                            <a:schemeClr val="tx1"/>
                          </a:solidFill>
                        </a:rPr>
                        <a:t>Rendre la route praticable toute l'année et la maintenir dans cet état</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Approuver les tarifs et leur révision annuelle selon l'inflation</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r>
              <a:tr h="749808">
                <a:tc>
                  <a:txBody>
                    <a:bodyPr/>
                    <a:lstStyle/>
                    <a:p>
                      <a:pPr indent="0" marL="0">
                        <a:buNone/>
                      </a:pPr>
                      <a:r>
                        <a:rPr lang="en-US" sz="1500" dirty="0">
                          <a:solidFill>
                            <a:schemeClr val="tx1"/>
                          </a:solidFill>
                        </a:rPr>
                        <a:t>N'ouvrir un poste de péage qu'après réouverture de la section desservie</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Libérer les emprises et assurer la sécurité des chantiers et des postes</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r>
              <a:tr h="749808">
                <a:tc>
                  <a:txBody>
                    <a:bodyPr/>
                    <a:lstStyle/>
                    <a:p>
                      <a:pPr indent="0" marL="0">
                        <a:buNone/>
                      </a:pPr>
                      <a:r>
                        <a:rPr lang="en-US" sz="1500" dirty="0">
                          <a:solidFill>
                            <a:schemeClr val="tx1"/>
                          </a:solidFill>
                        </a:rPr>
                        <a:t>Alimenter un fonds d'amélioration et exécuter les phases 2 à 4 selon le programme approuvé</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Accorder le régime fiscal et douanier prévu pour les PPP sur équipements et intrants</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1"/>
                    </a:solidFill>
                  </a:tcPr>
                </a:tc>
              </a:tr>
              <a:tr h="749808">
                <a:tc>
                  <a:txBody>
                    <a:bodyPr/>
                    <a:lstStyle/>
                    <a:p>
                      <a:pPr indent="0" marL="0">
                        <a:buNone/>
                      </a:pPr>
                      <a:r>
                        <a:rPr lang="en-US" sz="1500" dirty="0">
                          <a:solidFill>
                            <a:schemeClr val="tx1"/>
                          </a:solidFill>
                        </a:rPr>
                        <a:t>Publier recettes et comptages, et accepter un audit annuel indépendant</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Garantir qu'aucune autre taxe de passage ne sera perçue sur le tronçon</a:t>
                      </a:r>
                      <a:endParaRPr lang="en-US" sz="1500" dirty="0"/>
                    </a:p>
                  </a:txBody>
                  <a:tcPr marL="137160" marR="137160" marT="73152" marB="73152"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Répartition mensuelle des recettes de péage</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Clé à négocier : l'entretien d'abord, puis l'État, le fonds d'amélioration et EIS-EKA</a:t>
            </a:r>
            <a:endParaRPr lang="en-US" sz="1600" dirty="0"/>
          </a:p>
        </p:txBody>
      </p:sp>
      <p:sp>
        <p:nvSpPr>
          <p:cNvPr id="4" name="Étape 1"/>
          <p:cNvSpPr/>
          <p:nvPr/>
        </p:nvSpPr>
        <p:spPr>
          <a:xfrm>
            <a:off x="548640" y="1828800"/>
            <a:ext cx="6035040" cy="896112"/>
          </a:xfrm>
          <a:prstGeom prst="roundRect">
            <a:avLst>
              <a:gd name="adj" fmla="val 8163"/>
            </a:avLst>
          </a:prstGeom>
          <a:solidFill>
            <a:schemeClr val="bg2"/>
          </a:solidFill>
          <a:ln w="12700">
            <a:solidFill>
              <a:schemeClr val="bg2"/>
            </a:solidFill>
            <a:prstDash val="solid"/>
          </a:ln>
        </p:spPr>
      </p:sp>
      <p:sp>
        <p:nvSpPr>
          <p:cNvPr id="5" name="Ordre"/>
          <p:cNvSpPr/>
          <p:nvPr/>
        </p:nvSpPr>
        <p:spPr>
          <a:xfrm>
            <a:off x="731520" y="2002536"/>
            <a:ext cx="548640" cy="548640"/>
          </a:xfrm>
          <a:prstGeom prst="ellipse">
            <a:avLst/>
          </a:prstGeom>
          <a:solidFill>
            <a:schemeClr val="accent5"/>
          </a:solidFill>
          <a:ln w="12700">
            <a:solidFill>
              <a:schemeClr val="accent5"/>
            </a:solidFill>
            <a:prstDash val="solid"/>
          </a:ln>
        </p:spPr>
      </p:sp>
      <p:sp>
        <p:nvSpPr>
          <p:cNvPr id="6" name="Text 4"/>
          <p:cNvSpPr txBox="1"/>
          <p:nvPr/>
        </p:nvSpPr>
        <p:spPr>
          <a:xfrm>
            <a:off x="731520" y="200253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1508760" y="1874520"/>
            <a:ext cx="4937760" cy="804672"/>
          </a:xfrm>
          <a:prstGeom prst="rect">
            <a:avLst/>
          </a:prstGeom>
          <a:noFill/>
          <a:ln/>
        </p:spPr>
        <p:txBody>
          <a:bodyPr wrap="square" lIns="0" tIns="0" rIns="0" bIns="0" rtlCol="0" anchor="ctr"/>
          <a:lstStyle/>
          <a:p>
            <a:pPr indent="0" marL="0">
              <a:buNone/>
            </a:pPr>
            <a:r>
              <a:rPr lang="en-US" sz="1600" b="1" dirty="0">
                <a:solidFill>
                  <a:schemeClr val="tx2"/>
                </a:solidFill>
              </a:rPr>
              <a:t>Exploitation et entretien courant</a:t>
            </a:r>
            <a:endParaRPr lang="en-US" sz="1600" dirty="0"/>
          </a:p>
          <a:p>
            <a:pPr indent="0" marL="0">
              <a:buNone/>
            </a:pPr>
            <a:r>
              <a:rPr lang="en-US" sz="1400" dirty="0">
                <a:solidFill>
                  <a:schemeClr val="tx1"/>
                </a:solidFill>
              </a:rPr>
              <a:t>En priorité, sans plafond</a:t>
            </a:r>
            <a:endParaRPr lang="en-US" sz="1600" dirty="0"/>
          </a:p>
        </p:txBody>
      </p:sp>
      <p:sp>
        <p:nvSpPr>
          <p:cNvPr id="8" name="Étape 2"/>
          <p:cNvSpPr/>
          <p:nvPr/>
        </p:nvSpPr>
        <p:spPr>
          <a:xfrm>
            <a:off x="548640" y="2852928"/>
            <a:ext cx="6035040" cy="896112"/>
          </a:xfrm>
          <a:prstGeom prst="roundRect">
            <a:avLst>
              <a:gd name="adj" fmla="val 8163"/>
            </a:avLst>
          </a:prstGeom>
          <a:solidFill>
            <a:schemeClr val="bg2"/>
          </a:solidFill>
          <a:ln w="12700">
            <a:solidFill>
              <a:schemeClr val="bg2"/>
            </a:solidFill>
            <a:prstDash val="solid"/>
          </a:ln>
        </p:spPr>
      </p:sp>
      <p:sp>
        <p:nvSpPr>
          <p:cNvPr id="9" name="Ordre"/>
          <p:cNvSpPr/>
          <p:nvPr/>
        </p:nvSpPr>
        <p:spPr>
          <a:xfrm>
            <a:off x="731520" y="3026664"/>
            <a:ext cx="548640" cy="548640"/>
          </a:xfrm>
          <a:prstGeom prst="ellipse">
            <a:avLst/>
          </a:prstGeom>
          <a:solidFill>
            <a:schemeClr val="tx2"/>
          </a:solidFill>
          <a:ln w="12700">
            <a:solidFill>
              <a:schemeClr val="tx2"/>
            </a:solidFill>
            <a:prstDash val="solid"/>
          </a:ln>
        </p:spPr>
      </p:sp>
      <p:sp>
        <p:nvSpPr>
          <p:cNvPr id="10" name="Text 8"/>
          <p:cNvSpPr txBox="1"/>
          <p:nvPr/>
        </p:nvSpPr>
        <p:spPr>
          <a:xfrm>
            <a:off x="731520" y="3026664"/>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1508760" y="2898648"/>
            <a:ext cx="4937760" cy="804672"/>
          </a:xfrm>
          <a:prstGeom prst="rect">
            <a:avLst/>
          </a:prstGeom>
          <a:noFill/>
          <a:ln/>
        </p:spPr>
        <p:txBody>
          <a:bodyPr wrap="square" lIns="0" tIns="0" rIns="0" bIns="0" rtlCol="0" anchor="ctr"/>
          <a:lstStyle/>
          <a:p>
            <a:pPr indent="0" marL="0">
              <a:buNone/>
            </a:pPr>
            <a:r>
              <a:rPr lang="en-US" sz="1600" b="1" dirty="0">
                <a:solidFill>
                  <a:schemeClr val="tx2"/>
                </a:solidFill>
              </a:rPr>
              <a:t>Redevance à l'État – 10 %</a:t>
            </a:r>
            <a:endParaRPr lang="en-US" sz="1600" dirty="0"/>
          </a:p>
          <a:p>
            <a:pPr indent="0" marL="0">
              <a:buNone/>
            </a:pPr>
            <a:r>
              <a:rPr lang="en-US" sz="1400" dirty="0">
                <a:solidFill>
                  <a:schemeClr val="tx1"/>
                </a:solidFill>
              </a:rPr>
              <a:t>Versée au Trésor ou au FONER</a:t>
            </a:r>
            <a:endParaRPr lang="en-US" sz="1600" dirty="0"/>
          </a:p>
        </p:txBody>
      </p:sp>
      <p:sp>
        <p:nvSpPr>
          <p:cNvPr id="12" name="Étape 3"/>
          <p:cNvSpPr/>
          <p:nvPr/>
        </p:nvSpPr>
        <p:spPr>
          <a:xfrm>
            <a:off x="548640" y="3877056"/>
            <a:ext cx="6035040" cy="896112"/>
          </a:xfrm>
          <a:prstGeom prst="roundRect">
            <a:avLst>
              <a:gd name="adj" fmla="val 8163"/>
            </a:avLst>
          </a:prstGeom>
          <a:solidFill>
            <a:schemeClr val="bg2"/>
          </a:solidFill>
          <a:ln w="12700">
            <a:solidFill>
              <a:schemeClr val="bg2"/>
            </a:solidFill>
            <a:prstDash val="solid"/>
          </a:ln>
        </p:spPr>
      </p:sp>
      <p:sp>
        <p:nvSpPr>
          <p:cNvPr id="13" name="Ordre"/>
          <p:cNvSpPr/>
          <p:nvPr/>
        </p:nvSpPr>
        <p:spPr>
          <a:xfrm>
            <a:off x="731520" y="4050792"/>
            <a:ext cx="548640" cy="548640"/>
          </a:xfrm>
          <a:prstGeom prst="ellipse">
            <a:avLst/>
          </a:prstGeom>
          <a:solidFill>
            <a:schemeClr val="accent2"/>
          </a:solidFill>
          <a:ln w="12700">
            <a:solidFill>
              <a:schemeClr val="accent2"/>
            </a:solidFill>
            <a:prstDash val="solid"/>
          </a:ln>
        </p:spPr>
      </p:sp>
      <p:sp>
        <p:nvSpPr>
          <p:cNvPr id="14" name="Text 12"/>
          <p:cNvSpPr txBox="1"/>
          <p:nvPr/>
        </p:nvSpPr>
        <p:spPr>
          <a:xfrm>
            <a:off x="731520" y="405079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3"/>
          <p:cNvSpPr txBox="1"/>
          <p:nvPr/>
        </p:nvSpPr>
        <p:spPr>
          <a:xfrm>
            <a:off x="1508760" y="3922776"/>
            <a:ext cx="4937760" cy="804672"/>
          </a:xfrm>
          <a:prstGeom prst="rect">
            <a:avLst/>
          </a:prstGeom>
          <a:noFill/>
          <a:ln/>
        </p:spPr>
        <p:txBody>
          <a:bodyPr wrap="square" lIns="0" tIns="0" rIns="0" bIns="0" rtlCol="0" anchor="ctr"/>
          <a:lstStyle/>
          <a:p>
            <a:pPr indent="0" marL="0">
              <a:buNone/>
            </a:pPr>
            <a:r>
              <a:rPr lang="en-US" sz="1600" b="1" dirty="0">
                <a:solidFill>
                  <a:schemeClr val="tx2"/>
                </a:solidFill>
              </a:rPr>
              <a:t>Fonds d'amélioration – 40 %</a:t>
            </a:r>
            <a:endParaRPr lang="en-US" sz="1600" dirty="0"/>
          </a:p>
          <a:p>
            <a:pPr indent="0" marL="0">
              <a:buNone/>
            </a:pPr>
            <a:r>
              <a:rPr lang="en-US" sz="1400" dirty="0">
                <a:solidFill>
                  <a:schemeClr val="tx1"/>
                </a:solidFill>
              </a:rPr>
              <a:t>Bloqué pour les phases 2 à 4</a:t>
            </a:r>
            <a:endParaRPr lang="en-US" sz="1600" dirty="0"/>
          </a:p>
        </p:txBody>
      </p:sp>
      <p:sp>
        <p:nvSpPr>
          <p:cNvPr id="16" name="Étape 4"/>
          <p:cNvSpPr/>
          <p:nvPr/>
        </p:nvSpPr>
        <p:spPr>
          <a:xfrm>
            <a:off x="548640" y="4901184"/>
            <a:ext cx="6035040" cy="896112"/>
          </a:xfrm>
          <a:prstGeom prst="roundRect">
            <a:avLst>
              <a:gd name="adj" fmla="val 8163"/>
            </a:avLst>
          </a:prstGeom>
          <a:solidFill>
            <a:schemeClr val="bg2"/>
          </a:solidFill>
          <a:ln w="12700">
            <a:solidFill>
              <a:schemeClr val="bg2"/>
            </a:solidFill>
            <a:prstDash val="solid"/>
          </a:ln>
        </p:spPr>
      </p:sp>
      <p:sp>
        <p:nvSpPr>
          <p:cNvPr id="17" name="Ordre"/>
          <p:cNvSpPr/>
          <p:nvPr/>
        </p:nvSpPr>
        <p:spPr>
          <a:xfrm>
            <a:off x="731520" y="5074920"/>
            <a:ext cx="548640" cy="548640"/>
          </a:xfrm>
          <a:prstGeom prst="ellipse">
            <a:avLst/>
          </a:prstGeom>
          <a:solidFill>
            <a:schemeClr val="accent1"/>
          </a:solidFill>
          <a:ln w="12700">
            <a:solidFill>
              <a:schemeClr val="accent1"/>
            </a:solidFill>
            <a:prstDash val="solid"/>
          </a:ln>
        </p:spPr>
      </p:sp>
      <p:sp>
        <p:nvSpPr>
          <p:cNvPr id="18" name="Text 16"/>
          <p:cNvSpPr txBox="1"/>
          <p:nvPr/>
        </p:nvSpPr>
        <p:spPr>
          <a:xfrm>
            <a:off x="731520" y="5074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Text 17"/>
          <p:cNvSpPr txBox="1"/>
          <p:nvPr/>
        </p:nvSpPr>
        <p:spPr>
          <a:xfrm>
            <a:off x="1508760" y="4946904"/>
            <a:ext cx="4937760" cy="804672"/>
          </a:xfrm>
          <a:prstGeom prst="rect">
            <a:avLst/>
          </a:prstGeom>
          <a:noFill/>
          <a:ln/>
        </p:spPr>
        <p:txBody>
          <a:bodyPr wrap="square" lIns="0" tIns="0" rIns="0" bIns="0" rtlCol="0" anchor="ctr"/>
          <a:lstStyle/>
          <a:p>
            <a:pPr indent="0" marL="0">
              <a:buNone/>
            </a:pPr>
            <a:r>
              <a:rPr lang="en-US" sz="1600" b="1" dirty="0">
                <a:solidFill>
                  <a:schemeClr val="tx2"/>
                </a:solidFill>
              </a:rPr>
              <a:t>EIS-EKA – 50 %</a:t>
            </a:r>
            <a:endParaRPr lang="en-US" sz="1600" dirty="0"/>
          </a:p>
          <a:p>
            <a:pPr indent="0" marL="0">
              <a:buNone/>
            </a:pPr>
            <a:r>
              <a:rPr lang="en-US" sz="1400" dirty="0">
                <a:solidFill>
                  <a:schemeClr val="tx1"/>
                </a:solidFill>
              </a:rPr>
              <a:t>Remboursement et rémunération de l'investissement</a:t>
            </a:r>
            <a:endParaRPr lang="en-US" sz="1600" dirty="0"/>
          </a:p>
        </p:txBody>
      </p:sp>
      <p:sp>
        <p:nvSpPr>
          <p:cNvPr id="20" name="Text 18"/>
          <p:cNvSpPr txBox="1"/>
          <p:nvPr/>
        </p:nvSpPr>
        <p:spPr>
          <a:xfrm>
            <a:off x="548640" y="5943600"/>
            <a:ext cx="6035040" cy="365760"/>
          </a:xfrm>
          <a:prstGeom prst="rect">
            <a:avLst/>
          </a:prstGeom>
          <a:noFill/>
          <a:ln/>
        </p:spPr>
        <p:txBody>
          <a:bodyPr wrap="square" lIns="0" tIns="0" rIns="0" bIns="0" rtlCol="0" anchor="ctr"/>
          <a:lstStyle/>
          <a:p>
            <a:pPr indent="0" marL="0">
              <a:buNone/>
            </a:pPr>
            <a:r>
              <a:rPr lang="en-US" sz="1300" i="1" dirty="0">
                <a:solidFill>
                  <a:schemeClr val="accent1"/>
                </a:solidFill>
              </a:rPr>
              <a:t>Une fois la phase 1 remboursée, la part du fonds d'amélioration augmente pour accélérer le bitumage.</a:t>
            </a:r>
            <a:endParaRPr lang="en-US" sz="1300" dirty="0"/>
          </a:p>
        </p:txBody>
      </p:sp>
      <p:graphicFrame>
        <p:nvGraphicFramePr>
          <p:cNvPr id="21" name="Graphique répartition" descr=""/>
          <p:cNvGraphicFramePr/>
          <p:nvPr/>
        </p:nvGraphicFramePr>
        <p:xfrm>
          <a:off x="6949440" y="1783080"/>
          <a:ext cx="4663440" cy="43891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Matrice des risques (1/2) : les risques élevés</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EIS-EKA porte financement, travaux et trafic ; l'État porte ce qui relève de sa souveraineté</a:t>
            </a:r>
            <a:endParaRPr lang="en-US" sz="1600" dirty="0"/>
          </a:p>
        </p:txBody>
      </p:sp>
      <p:graphicFrame>
        <p:nvGraphicFramePr>
          <p:cNvPr id="18" name="Matrice des risques"/>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2651760"/>
                <a:gridCol w="1188720"/>
                <a:gridCol w="1280160"/>
                <a:gridCol w="5943600"/>
              </a:tblGrid>
              <a:tr h="411480">
                <a:tc>
                  <a:txBody>
                    <a:bodyPr/>
                    <a:lstStyle/>
                    <a:p>
                      <a:pPr indent="0" marL="0">
                        <a:buNone/>
                      </a:pPr>
                      <a:r>
                        <a:rPr lang="en-US" sz="1400" b="1" dirty="0">
                          <a:solidFill>
                            <a:schemeClr val="bg1"/>
                          </a:solidFill>
                        </a:rPr>
                        <a:t>Risque</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Niveau</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Porté par</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Mesures d'atténuation</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914400">
                <a:tc>
                  <a:txBody>
                    <a:bodyPr/>
                    <a:lstStyle/>
                    <a:p>
                      <a:pPr indent="0" marL="0">
                        <a:buNone/>
                      </a:pPr>
                      <a:r>
                        <a:rPr lang="en-US" sz="1400" b="1" dirty="0">
                          <a:solidFill>
                            <a:schemeClr val="tx2"/>
                          </a:solidFill>
                        </a:rPr>
                        <a:t>Trafic et recettes insuffisants</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bg1"/>
                          </a:solidFill>
                        </a:rPr>
                        <a:t>Élevé</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rPr>
                        <a:t>EIS-EKA</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Comptages avant engagement, phase 1 limitée au strict nécessaire, péages ouverts lot par lot, prolongation si non amorti</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914400">
                <a:tc>
                  <a:txBody>
                    <a:bodyPr/>
                    <a:lstStyle/>
                    <a:p>
                      <a:pPr indent="0" marL="0">
                        <a:buNone/>
                      </a:pPr>
                      <a:r>
                        <a:rPr lang="en-US" sz="1400" b="1" dirty="0">
                          <a:solidFill>
                            <a:schemeClr val="tx2"/>
                          </a:solidFill>
                        </a:rPr>
                        <a:t>Sécurité et conflits armés</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bg1"/>
                          </a:solidFill>
                        </a:rPr>
                        <a:t>Élevé</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rPr>
                        <a:t>État</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Sécurisation des chantiers et postes par les FARDC et la PNC, démarrage par les sections sûres, suspension des délais</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914400">
                <a:tc>
                  <a:txBody>
                    <a:bodyPr/>
                    <a:lstStyle/>
                    <a:p>
                      <a:pPr indent="0" marL="0">
                        <a:buNone/>
                      </a:pPr>
                      <a:r>
                        <a:rPr lang="en-US" sz="1400" b="1" dirty="0">
                          <a:solidFill>
                            <a:schemeClr val="tx2"/>
                          </a:solidFill>
                        </a:rPr>
                        <a:t>Refus du péage par usagers et riverains</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bg1"/>
                          </a:solidFill>
                        </a:rPr>
                        <a:t>Élevé</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rPr>
                        <a:t>Partagé</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Pas de péage avant réouverture, tarifs modérés, exonération ou tarif réduit pour piétons, vélos et motos locales, sensibilisation</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914400">
                <a:tc>
                  <a:txBody>
                    <a:bodyPr/>
                    <a:lstStyle/>
                    <a:p>
                      <a:pPr indent="0" marL="0">
                        <a:buNone/>
                      </a:pPr>
                      <a:r>
                        <a:rPr lang="en-US" sz="1400" b="1" dirty="0">
                          <a:solidFill>
                            <a:schemeClr val="tx2"/>
                          </a:solidFill>
                        </a:rPr>
                        <a:t>Dégradation rapide en saison des pluies</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bg1"/>
                          </a:solidFill>
                        </a:rPr>
                        <a:t>Élevé</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rPr>
                        <a:t>EIS-EKA</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Brigades permanentes, barrières de pluie, pesage des camions, rechargement prioritaire des zones fragiles</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Matrice des risques (2/2) : risques moyens et faibles</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Le risque principal reste un trafic trop faible : les comptages sont la première tâche</a:t>
            </a:r>
            <a:endParaRPr lang="en-US" sz="1600" dirty="0"/>
          </a:p>
        </p:txBody>
      </p:sp>
      <p:graphicFrame>
        <p:nvGraphicFramePr>
          <p:cNvPr id="19" name="Matrice des risques"/>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2651760"/>
                <a:gridCol w="1188720"/>
                <a:gridCol w="1280160"/>
                <a:gridCol w="5943600"/>
              </a:tblGrid>
              <a:tr h="411480">
                <a:tc>
                  <a:txBody>
                    <a:bodyPr/>
                    <a:lstStyle/>
                    <a:p>
                      <a:pPr indent="0" marL="0">
                        <a:buNone/>
                      </a:pPr>
                      <a:r>
                        <a:rPr lang="en-US" sz="1400" b="1" dirty="0">
                          <a:solidFill>
                            <a:schemeClr val="bg1"/>
                          </a:solidFill>
                        </a:rPr>
                        <a:t>Risque</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Niveau</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Porté par</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Mesures d'atténuation</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621792">
                <a:tc>
                  <a:txBody>
                    <a:bodyPr/>
                    <a:lstStyle/>
                    <a:p>
                      <a:pPr indent="0" marL="0">
                        <a:buNone/>
                      </a:pPr>
                      <a:r>
                        <a:rPr lang="en-US" sz="1400" b="1" dirty="0">
                          <a:solidFill>
                            <a:schemeClr val="tx2"/>
                          </a:solidFill>
                        </a:rPr>
                        <a:t>Double perception (FONER, provinces, entités locales)</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rPr>
                        <a:t>Moyen</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3"/>
                    </a:solidFill>
                  </a:tcPr>
                </a:tc>
                <a:tc>
                  <a:txBody>
                    <a:bodyPr/>
                    <a:lstStyle/>
                    <a:p>
                      <a:pPr indent="0" marL="0">
                        <a:buNone/>
                      </a:pPr>
                      <a:r>
                        <a:rPr lang="en-US" sz="1400" dirty="0">
                          <a:solidFill>
                            <a:schemeClr val="tx1"/>
                          </a:solidFill>
                        </a:rPr>
                        <a:t>État</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Clause d'exclusivité et arrêté interministériel, compensation si une nouvelle taxe est créée</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621792">
                <a:tc>
                  <a:txBody>
                    <a:bodyPr/>
                    <a:lstStyle/>
                    <a:p>
                      <a:pPr indent="0" marL="0">
                        <a:buNone/>
                      </a:pPr>
                      <a:r>
                        <a:rPr lang="en-US" sz="1400" b="1" dirty="0">
                          <a:solidFill>
                            <a:schemeClr val="tx2"/>
                          </a:solidFill>
                        </a:rPr>
                        <a:t>Fraude ou détournement des recettes</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Moyen</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3"/>
                    </a:solidFill>
                  </a:tcPr>
                </a:tc>
                <a:tc>
                  <a:txBody>
                    <a:bodyPr/>
                    <a:lstStyle/>
                    <a:p>
                      <a:pPr indent="0" marL="0">
                        <a:buNone/>
                      </a:pPr>
                      <a:r>
                        <a:rPr lang="en-US" sz="1400" dirty="0">
                          <a:solidFill>
                            <a:schemeClr val="tx1"/>
                          </a:solidFill>
                        </a:rPr>
                        <a:t>EIS-EKA</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Billetterie électronique, paiement mobile, comptage automatique, audit annuel publié</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621792">
                <a:tc>
                  <a:txBody>
                    <a:bodyPr/>
                    <a:lstStyle/>
                    <a:p>
                      <a:pPr indent="0" marL="0">
                        <a:buNone/>
                      </a:pPr>
                      <a:r>
                        <a:rPr lang="en-US" sz="1400" b="1" dirty="0">
                          <a:solidFill>
                            <a:schemeClr val="tx2"/>
                          </a:solidFill>
                        </a:rPr>
                        <a:t>Libération des emprises</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rPr>
                        <a:t>Moyen</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3"/>
                    </a:solidFill>
                  </a:tcPr>
                </a:tc>
                <a:tc>
                  <a:txBody>
                    <a:bodyPr/>
                    <a:lstStyle/>
                    <a:p>
                      <a:pPr indent="0" marL="0">
                        <a:buNone/>
                      </a:pPr>
                      <a:r>
                        <a:rPr lang="en-US" sz="1400" dirty="0">
                          <a:solidFill>
                            <a:schemeClr val="tx1"/>
                          </a:solidFill>
                        </a:rPr>
                        <a:t>État</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Réouverture dans l'emprise existante, élargissements limités et indemnisés</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621792">
                <a:tc>
                  <a:txBody>
                    <a:bodyPr/>
                    <a:lstStyle/>
                    <a:p>
                      <a:pPr indent="0" marL="0">
                        <a:buNone/>
                      </a:pPr>
                      <a:r>
                        <a:rPr lang="en-US" sz="1400" b="1" dirty="0">
                          <a:solidFill>
                            <a:schemeClr val="tx2"/>
                          </a:solidFill>
                        </a:rPr>
                        <a:t>Change (USD / CDF)</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Moyen</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3"/>
                    </a:solidFill>
                  </a:tcPr>
                </a:tc>
                <a:tc>
                  <a:txBody>
                    <a:bodyPr/>
                    <a:lstStyle/>
                    <a:p>
                      <a:pPr indent="0" marL="0">
                        <a:buNone/>
                      </a:pPr>
                      <a:r>
                        <a:rPr lang="en-US" sz="1400" dirty="0">
                          <a:solidFill>
                            <a:schemeClr val="tx1"/>
                          </a:solidFill>
                        </a:rPr>
                        <a:t>Partagé</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Tarifs fixés en USD, payables en CDF au taux du jour, révision annuelle</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621792">
                <a:tc>
                  <a:txBody>
                    <a:bodyPr/>
                    <a:lstStyle/>
                    <a:p>
                      <a:pPr indent="0" marL="0">
                        <a:buNone/>
                      </a:pPr>
                      <a:r>
                        <a:rPr lang="en-US" sz="1400" b="1" dirty="0">
                          <a:solidFill>
                            <a:schemeClr val="tx2"/>
                          </a:solidFill>
                        </a:rPr>
                        <a:t>Changement de loi ou de fiscalité</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bg1"/>
                          </a:solidFill>
                        </a:rPr>
                        <a:t>Faible à moyen</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4"/>
                    </a:solidFill>
                  </a:tcPr>
                </a:tc>
                <a:tc>
                  <a:txBody>
                    <a:bodyPr/>
                    <a:lstStyle/>
                    <a:p>
                      <a:pPr indent="0" marL="0">
                        <a:buNone/>
                      </a:pPr>
                      <a:r>
                        <a:rPr lang="en-US" sz="1400" dirty="0">
                          <a:solidFill>
                            <a:schemeClr val="tx1"/>
                          </a:solidFill>
                        </a:rPr>
                        <a:t>État</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Clause de stabilité et d'équilibre financier</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5623560"/>
            <a:ext cx="11064240" cy="502920"/>
          </a:xfrm>
          <a:prstGeom prst="rect">
            <a:avLst/>
          </a:prstGeom>
          <a:noFill/>
          <a:ln/>
        </p:spPr>
        <p:txBody>
          <a:bodyPr wrap="square" lIns="0" tIns="0" rIns="0" bIns="0" rtlCol="0" anchor="ctr"/>
          <a:lstStyle/>
          <a:p>
            <a:pPr indent="0" marL="0">
              <a:buNone/>
            </a:pPr>
            <a:r>
              <a:rPr lang="en-US" sz="1500" b="1" dirty="0">
                <a:solidFill>
                  <a:schemeClr val="accent1"/>
                </a:solidFill>
              </a:rPr>
              <a:t>Retour sur investissement indicatif (phase 1 ≈ 35 M USD) : </a:t>
            </a:r>
            <a:pPr indent="0" marL="0">
              <a:buNone/>
            </a:pPr>
            <a:r>
              <a:rPr lang="en-US" sz="1500" dirty="0">
                <a:solidFill>
                  <a:schemeClr val="tx1"/>
                </a:solidFill>
              </a:rPr>
              <a:t>plus de 20 ans au scénario moyen, 6 à 8 ans au scénario fort.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Impacts socio-économiques attendus</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Des temps et coûts de transport fortement réduits entre Uvira et Kalemie</a:t>
            </a:r>
            <a:endParaRPr lang="en-US" sz="1600" dirty="0"/>
          </a:p>
        </p:txBody>
      </p:sp>
      <p:sp>
        <p:nvSpPr>
          <p:cNvPr id="4" name="Pastille icône"/>
          <p:cNvSpPr/>
          <p:nvPr/>
        </p:nvSpPr>
        <p:spPr>
          <a:xfrm>
            <a:off x="548640" y="1920240"/>
            <a:ext cx="731520" cy="731520"/>
          </a:xfrm>
          <a:prstGeom prst="ellipse">
            <a:avLst/>
          </a:prstGeom>
          <a:solidFill>
            <a:schemeClr val="accent4"/>
          </a:solidFill>
          <a:ln w="12700">
            <a:solidFill>
              <a:schemeClr val="accent4"/>
            </a:solidFill>
            <a:prstDash val="solid"/>
          </a:ln>
        </p:spPr>
      </p:sp>
      <p:pic>
        <p:nvPicPr>
          <p:cNvPr id="5" name="Icône FaCoins" descr="preencoded.png">    </p:cNvPr>
          <p:cNvPicPr>
            <a:picLocks noChangeAspect="1"/>
          </p:cNvPicPr>
          <p:nvPr/>
        </p:nvPicPr>
        <p:blipFill>
          <a:blip r:embed="rId1"/>
          <a:stretch>
            <a:fillRect/>
          </a:stretch>
        </p:blipFill>
        <p:spPr>
          <a:xfrm>
            <a:off x="731520" y="2103120"/>
            <a:ext cx="365760" cy="365760"/>
          </a:xfrm>
          <a:prstGeom prst="rect">
            <a:avLst/>
          </a:prstGeom>
        </p:spPr>
      </p:pic>
      <p:sp>
        <p:nvSpPr>
          <p:cNvPr id="6" name="Text 3"/>
          <p:cNvSpPr txBox="1"/>
          <p:nvPr/>
        </p:nvSpPr>
        <p:spPr>
          <a:xfrm>
            <a:off x="1508760" y="1828800"/>
            <a:ext cx="4434840" cy="1234440"/>
          </a:xfrm>
          <a:prstGeom prst="rect">
            <a:avLst/>
          </a:prstGeom>
          <a:noFill/>
          <a:ln/>
        </p:spPr>
        <p:txBody>
          <a:bodyPr wrap="square" lIns="0" tIns="0" rIns="0" bIns="0" rtlCol="0" anchor="t"/>
          <a:lstStyle/>
          <a:p>
            <a:pPr indent="0" marL="0">
              <a:buNone/>
            </a:pPr>
            <a:r>
              <a:rPr lang="en-US" sz="1700" b="1" dirty="0">
                <a:solidFill>
                  <a:schemeClr val="tx2"/>
                </a:solidFill>
              </a:rPr>
              <a:t>Coûts et prix en baisse</a:t>
            </a:r>
            <a:endParaRPr lang="en-US" sz="1700" dirty="0"/>
          </a:p>
          <a:p>
            <a:pPr indent="0" marL="0">
              <a:buNone/>
            </a:pPr>
            <a:r>
              <a:rPr lang="en-US" sz="1400" dirty="0">
                <a:solidFill>
                  <a:schemeClr val="tx1"/>
                </a:solidFill>
              </a:rPr>
              <a:t>Baisse des coûts de transport et des prix des produits de base à Uvira, Fizi et Kalemie</a:t>
            </a:r>
            <a:endParaRPr lang="en-US" sz="1700" dirty="0"/>
          </a:p>
        </p:txBody>
      </p:sp>
      <p:sp>
        <p:nvSpPr>
          <p:cNvPr id="7" name="Pastille icône"/>
          <p:cNvSpPr/>
          <p:nvPr/>
        </p:nvSpPr>
        <p:spPr>
          <a:xfrm>
            <a:off x="548640" y="3337560"/>
            <a:ext cx="731520" cy="731520"/>
          </a:xfrm>
          <a:prstGeom prst="ellipse">
            <a:avLst/>
          </a:prstGeom>
          <a:solidFill>
            <a:schemeClr val="accent4"/>
          </a:solidFill>
          <a:ln w="12700">
            <a:solidFill>
              <a:schemeClr val="accent4"/>
            </a:solidFill>
            <a:prstDash val="solid"/>
          </a:ln>
        </p:spPr>
      </p:sp>
      <p:pic>
        <p:nvPicPr>
          <p:cNvPr id="8" name="Icône FaFish" descr="preencoded.png">    </p:cNvPr>
          <p:cNvPicPr>
            <a:picLocks noChangeAspect="1"/>
          </p:cNvPicPr>
          <p:nvPr/>
        </p:nvPicPr>
        <p:blipFill>
          <a:blip r:embed="rId2"/>
          <a:stretch>
            <a:fillRect/>
          </a:stretch>
        </p:blipFill>
        <p:spPr>
          <a:xfrm>
            <a:off x="731520" y="3520440"/>
            <a:ext cx="365760" cy="365760"/>
          </a:xfrm>
          <a:prstGeom prst="rect">
            <a:avLst/>
          </a:prstGeom>
        </p:spPr>
      </p:pic>
      <p:sp>
        <p:nvSpPr>
          <p:cNvPr id="9" name="Text 5"/>
          <p:cNvSpPr txBox="1"/>
          <p:nvPr/>
        </p:nvSpPr>
        <p:spPr>
          <a:xfrm>
            <a:off x="1508760" y="3246120"/>
            <a:ext cx="4434840" cy="1234440"/>
          </a:xfrm>
          <a:prstGeom prst="rect">
            <a:avLst/>
          </a:prstGeom>
          <a:noFill/>
          <a:ln/>
        </p:spPr>
        <p:txBody>
          <a:bodyPr wrap="square" lIns="0" tIns="0" rIns="0" bIns="0" rtlCol="0" anchor="t"/>
          <a:lstStyle/>
          <a:p>
            <a:pPr indent="0" marL="0">
              <a:buNone/>
            </a:pPr>
            <a:r>
              <a:rPr lang="en-US" sz="1700" b="1" dirty="0">
                <a:solidFill>
                  <a:schemeClr val="tx2"/>
                </a:solidFill>
              </a:rPr>
              <a:t>Production écoulée</a:t>
            </a:r>
            <a:endParaRPr lang="en-US" sz="1700" dirty="0"/>
          </a:p>
          <a:p>
            <a:pPr indent="0" marL="0">
              <a:buNone/>
            </a:pPr>
            <a:r>
              <a:rPr lang="en-US" sz="1400" dirty="0">
                <a:solidFill>
                  <a:schemeClr val="tx1"/>
                </a:solidFill>
              </a:rPr>
              <a:t>Manioc, maïs, huile de palme, poisson du lac</a:t>
            </a:r>
            <a:endParaRPr lang="en-US" sz="1700" dirty="0"/>
          </a:p>
        </p:txBody>
      </p:sp>
      <p:sp>
        <p:nvSpPr>
          <p:cNvPr id="10" name="Pastille icône"/>
          <p:cNvSpPr/>
          <p:nvPr/>
        </p:nvSpPr>
        <p:spPr>
          <a:xfrm>
            <a:off x="548640" y="4754880"/>
            <a:ext cx="731520" cy="731520"/>
          </a:xfrm>
          <a:prstGeom prst="ellipse">
            <a:avLst/>
          </a:prstGeom>
          <a:solidFill>
            <a:schemeClr val="accent4"/>
          </a:solidFill>
          <a:ln w="12700">
            <a:solidFill>
              <a:schemeClr val="accent4"/>
            </a:solidFill>
            <a:prstDash val="solid"/>
          </a:ln>
        </p:spPr>
      </p:sp>
      <p:pic>
        <p:nvPicPr>
          <p:cNvPr id="11" name="Icône FaHospital" descr="preencoded.png">    </p:cNvPr>
          <p:cNvPicPr>
            <a:picLocks noChangeAspect="1"/>
          </p:cNvPicPr>
          <p:nvPr/>
        </p:nvPicPr>
        <p:blipFill>
          <a:blip r:embed="rId3"/>
          <a:stretch>
            <a:fillRect/>
          </a:stretch>
        </p:blipFill>
        <p:spPr>
          <a:xfrm>
            <a:off x="731520" y="4937760"/>
            <a:ext cx="365760" cy="365760"/>
          </a:xfrm>
          <a:prstGeom prst="rect">
            <a:avLst/>
          </a:prstGeom>
        </p:spPr>
      </p:pic>
      <p:sp>
        <p:nvSpPr>
          <p:cNvPr id="12" name="Text 7"/>
          <p:cNvSpPr txBox="1"/>
          <p:nvPr/>
        </p:nvSpPr>
        <p:spPr>
          <a:xfrm>
            <a:off x="1508760" y="4663440"/>
            <a:ext cx="4434840" cy="1234440"/>
          </a:xfrm>
          <a:prstGeom prst="rect">
            <a:avLst/>
          </a:prstGeom>
          <a:noFill/>
          <a:ln/>
        </p:spPr>
        <p:txBody>
          <a:bodyPr wrap="square" lIns="0" tIns="0" rIns="0" bIns="0" rtlCol="0" anchor="t"/>
          <a:lstStyle/>
          <a:p>
            <a:pPr indent="0" marL="0">
              <a:buNone/>
            </a:pPr>
            <a:r>
              <a:rPr lang="en-US" sz="1700" b="1" dirty="0">
                <a:solidFill>
                  <a:schemeClr val="tx2"/>
                </a:solidFill>
              </a:rPr>
              <a:t>Services accessibles</a:t>
            </a:r>
            <a:endParaRPr lang="en-US" sz="1700" dirty="0"/>
          </a:p>
          <a:p>
            <a:pPr indent="0" marL="0">
              <a:buNone/>
            </a:pPr>
            <a:r>
              <a:rPr lang="en-US" sz="1400" dirty="0">
                <a:solidFill>
                  <a:schemeClr val="tx1"/>
                </a:solidFill>
              </a:rPr>
              <a:t>Accès permanent aux hôpitaux, écoles et services administratifs</a:t>
            </a:r>
            <a:endParaRPr lang="en-US" sz="1700" dirty="0"/>
          </a:p>
        </p:txBody>
      </p:sp>
      <p:sp>
        <p:nvSpPr>
          <p:cNvPr id="13" name="Pastille icône"/>
          <p:cNvSpPr/>
          <p:nvPr/>
        </p:nvSpPr>
        <p:spPr>
          <a:xfrm>
            <a:off x="6172200" y="1920240"/>
            <a:ext cx="731520" cy="731520"/>
          </a:xfrm>
          <a:prstGeom prst="ellipse">
            <a:avLst/>
          </a:prstGeom>
          <a:solidFill>
            <a:schemeClr val="accent4"/>
          </a:solidFill>
          <a:ln w="12700">
            <a:solidFill>
              <a:schemeClr val="accent4"/>
            </a:solidFill>
            <a:prstDash val="solid"/>
          </a:ln>
        </p:spPr>
      </p:sp>
      <p:pic>
        <p:nvPicPr>
          <p:cNvPr id="14" name="Icône FaHardHat" descr="preencoded.png">    </p:cNvPr>
          <p:cNvPicPr>
            <a:picLocks noChangeAspect="1"/>
          </p:cNvPicPr>
          <p:nvPr/>
        </p:nvPicPr>
        <p:blipFill>
          <a:blip r:embed="rId4"/>
          <a:stretch>
            <a:fillRect/>
          </a:stretch>
        </p:blipFill>
        <p:spPr>
          <a:xfrm>
            <a:off x="6355080" y="2103120"/>
            <a:ext cx="365760" cy="365760"/>
          </a:xfrm>
          <a:prstGeom prst="rect">
            <a:avLst/>
          </a:prstGeom>
        </p:spPr>
      </p:pic>
      <p:sp>
        <p:nvSpPr>
          <p:cNvPr id="15" name="Text 9"/>
          <p:cNvSpPr txBox="1"/>
          <p:nvPr/>
        </p:nvSpPr>
        <p:spPr>
          <a:xfrm>
            <a:off x="7132320" y="1828800"/>
            <a:ext cx="4434840" cy="1234440"/>
          </a:xfrm>
          <a:prstGeom prst="rect">
            <a:avLst/>
          </a:prstGeom>
          <a:noFill/>
          <a:ln/>
        </p:spPr>
        <p:txBody>
          <a:bodyPr wrap="square" lIns="0" tIns="0" rIns="0" bIns="0" rtlCol="0" anchor="t"/>
          <a:lstStyle/>
          <a:p>
            <a:pPr indent="0" marL="0">
              <a:buNone/>
            </a:pPr>
            <a:r>
              <a:rPr lang="en-US" sz="1700" b="1" dirty="0">
                <a:solidFill>
                  <a:schemeClr val="tx2"/>
                </a:solidFill>
              </a:rPr>
              <a:t>Emplois locaux</a:t>
            </a:r>
            <a:endParaRPr lang="en-US" sz="1700" dirty="0"/>
          </a:p>
          <a:p>
            <a:pPr indent="0" marL="0">
              <a:buNone/>
            </a:pPr>
            <a:r>
              <a:rPr lang="en-US" sz="1400" dirty="0">
                <a:solidFill>
                  <a:schemeClr val="tx1"/>
                </a:solidFill>
              </a:rPr>
              <a:t>Plusieurs centaines d'emplois directs dès la réouverture, puis des emplois permanents aux péages et à l'entretien</a:t>
            </a:r>
            <a:endParaRPr lang="en-US" sz="1700" dirty="0"/>
          </a:p>
        </p:txBody>
      </p:sp>
      <p:sp>
        <p:nvSpPr>
          <p:cNvPr id="16" name="Pastille icône"/>
          <p:cNvSpPr/>
          <p:nvPr/>
        </p:nvSpPr>
        <p:spPr>
          <a:xfrm>
            <a:off x="6172200" y="3337560"/>
            <a:ext cx="731520" cy="731520"/>
          </a:xfrm>
          <a:prstGeom prst="ellipse">
            <a:avLst/>
          </a:prstGeom>
          <a:solidFill>
            <a:schemeClr val="accent4"/>
          </a:solidFill>
          <a:ln w="12700">
            <a:solidFill>
              <a:schemeClr val="accent4"/>
            </a:solidFill>
            <a:prstDash val="solid"/>
          </a:ln>
        </p:spPr>
      </p:sp>
      <p:pic>
        <p:nvPicPr>
          <p:cNvPr id="17" name="Icône FaLandmark" descr="preencoded.png">    </p:cNvPr>
          <p:cNvPicPr>
            <a:picLocks noChangeAspect="1"/>
          </p:cNvPicPr>
          <p:nvPr/>
        </p:nvPicPr>
        <p:blipFill>
          <a:blip r:embed="rId5"/>
          <a:stretch>
            <a:fillRect/>
          </a:stretch>
        </p:blipFill>
        <p:spPr>
          <a:xfrm>
            <a:off x="6355080" y="3520440"/>
            <a:ext cx="365760" cy="365760"/>
          </a:xfrm>
          <a:prstGeom prst="rect">
            <a:avLst/>
          </a:prstGeom>
        </p:spPr>
      </p:pic>
      <p:sp>
        <p:nvSpPr>
          <p:cNvPr id="18" name="Text 11"/>
          <p:cNvSpPr txBox="1"/>
          <p:nvPr/>
        </p:nvSpPr>
        <p:spPr>
          <a:xfrm>
            <a:off x="7132320" y="3246120"/>
            <a:ext cx="4434840" cy="1234440"/>
          </a:xfrm>
          <a:prstGeom prst="rect">
            <a:avLst/>
          </a:prstGeom>
          <a:noFill/>
          <a:ln/>
        </p:spPr>
        <p:txBody>
          <a:bodyPr wrap="square" lIns="0" tIns="0" rIns="0" bIns="0" rtlCol="0" anchor="t"/>
          <a:lstStyle/>
          <a:p>
            <a:pPr indent="0" marL="0">
              <a:buNone/>
            </a:pPr>
            <a:r>
              <a:rPr lang="en-US" sz="1700" b="1" dirty="0">
                <a:solidFill>
                  <a:schemeClr val="tx2"/>
                </a:solidFill>
              </a:rPr>
              <a:t>Recettes publiques</a:t>
            </a:r>
            <a:endParaRPr lang="en-US" sz="1700" dirty="0"/>
          </a:p>
          <a:p>
            <a:pPr indent="0" marL="0">
              <a:buNone/>
            </a:pPr>
            <a:r>
              <a:rPr lang="en-US" sz="1400" dirty="0">
                <a:solidFill>
                  <a:schemeClr val="tx1"/>
                </a:solidFill>
              </a:rPr>
              <a:t>Droits de douane et taxes liés au commerce régional</a:t>
            </a:r>
            <a:endParaRPr lang="en-US" sz="1700" dirty="0"/>
          </a:p>
        </p:txBody>
      </p:sp>
      <p:sp>
        <p:nvSpPr>
          <p:cNvPr id="19" name="Text 12"/>
          <p:cNvSpPr txBox="1"/>
          <p:nvPr/>
        </p:nvSpPr>
        <p:spPr>
          <a:xfrm>
            <a:off x="6172200" y="4937760"/>
            <a:ext cx="5440680" cy="731520"/>
          </a:xfrm>
          <a:prstGeom prst="rect">
            <a:avLst/>
          </a:prstGeom>
          <a:noFill/>
          <a:ln/>
        </p:spPr>
        <p:txBody>
          <a:bodyPr wrap="square" lIns="0" tIns="0" rIns="0" bIns="0" rtlCol="0" anchor="ctr"/>
          <a:lstStyle/>
          <a:p>
            <a:pPr indent="0" marL="0">
              <a:buNone/>
            </a:pPr>
            <a:r>
              <a:rPr lang="en-US" sz="1500" i="1" dirty="0">
                <a:solidFill>
                  <a:schemeClr val="accent2"/>
                </a:solidFill>
              </a:rPr>
              <a:t>Les gains chiffrés seront établis par l'étude socio-économique.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Gestion environnementale et sociale</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Aux normes reconnues par les banques, avec une EIES approuvée avant tout démarrage</a:t>
            </a:r>
            <a:endParaRPr lang="en-US" sz="1600" dirty="0"/>
          </a:p>
        </p:txBody>
      </p:sp>
      <p:sp>
        <p:nvSpPr>
          <p:cNvPr id="4" name="Mesure E&amp;S"/>
          <p:cNvSpPr/>
          <p:nvPr/>
        </p:nvSpPr>
        <p:spPr>
          <a:xfrm>
            <a:off x="548640" y="1828800"/>
            <a:ext cx="3474720" cy="2011680"/>
          </a:xfrm>
          <a:prstGeom prst="roundRect">
            <a:avLst>
              <a:gd name="adj" fmla="val 3636"/>
            </a:avLst>
          </a:prstGeom>
          <a:solidFill>
            <a:schemeClr val="bg2"/>
          </a:solidFill>
          <a:ln w="12700">
            <a:solidFill>
              <a:schemeClr val="bg2"/>
            </a:solidFill>
            <a:prstDash val="solid"/>
          </a:ln>
        </p:spPr>
      </p:sp>
      <p:sp>
        <p:nvSpPr>
          <p:cNvPr id="5" name="Pastille icône"/>
          <p:cNvSpPr/>
          <p:nvPr/>
        </p:nvSpPr>
        <p:spPr>
          <a:xfrm>
            <a:off x="777240" y="2057400"/>
            <a:ext cx="594360" cy="594360"/>
          </a:xfrm>
          <a:prstGeom prst="ellipse">
            <a:avLst/>
          </a:prstGeom>
          <a:solidFill>
            <a:schemeClr val="accent4"/>
          </a:solidFill>
          <a:ln w="12700">
            <a:solidFill>
              <a:schemeClr val="accent4"/>
            </a:solidFill>
            <a:prstDash val="solid"/>
          </a:ln>
        </p:spPr>
      </p:sp>
      <p:pic>
        <p:nvPicPr>
          <p:cNvPr id="6" name="Icône FaClipboardCheck" descr="preencoded.png">    </p:cNvPr>
          <p:cNvPicPr>
            <a:picLocks noChangeAspect="1"/>
          </p:cNvPicPr>
          <p:nvPr/>
        </p:nvPicPr>
        <p:blipFill>
          <a:blip r:embed="rId1"/>
          <a:stretch>
            <a:fillRect/>
          </a:stretch>
        </p:blipFill>
        <p:spPr>
          <a:xfrm>
            <a:off x="925830" y="2205990"/>
            <a:ext cx="297180" cy="297180"/>
          </a:xfrm>
          <a:prstGeom prst="rect">
            <a:avLst/>
          </a:prstGeom>
        </p:spPr>
      </p:pic>
      <p:sp>
        <p:nvSpPr>
          <p:cNvPr id="7" name="Text 4"/>
          <p:cNvSpPr txBox="1"/>
          <p:nvPr/>
        </p:nvSpPr>
        <p:spPr>
          <a:xfrm>
            <a:off x="777240" y="2743200"/>
            <a:ext cx="3017520" cy="1005840"/>
          </a:xfrm>
          <a:prstGeom prst="rect">
            <a:avLst/>
          </a:prstGeom>
          <a:noFill/>
          <a:ln/>
        </p:spPr>
        <p:txBody>
          <a:bodyPr wrap="square" lIns="0" tIns="0" rIns="0" bIns="0" rtlCol="0" anchor="t"/>
          <a:lstStyle/>
          <a:p>
            <a:pPr indent="0" marL="0">
              <a:buNone/>
            </a:pPr>
            <a:r>
              <a:rPr lang="en-US" sz="1400" dirty="0">
                <a:solidFill>
                  <a:schemeClr val="tx1"/>
                </a:solidFill>
              </a:rPr>
              <a:t>EIES approuvée par l'Agence Congolaise de l'Environnement avant les travaux</a:t>
            </a:r>
            <a:endParaRPr lang="en-US" sz="1400" dirty="0"/>
          </a:p>
        </p:txBody>
      </p:sp>
      <p:sp>
        <p:nvSpPr>
          <p:cNvPr id="8" name="Mesure E&amp;S"/>
          <p:cNvSpPr/>
          <p:nvPr/>
        </p:nvSpPr>
        <p:spPr>
          <a:xfrm>
            <a:off x="4297680" y="1828800"/>
            <a:ext cx="3474720" cy="2011680"/>
          </a:xfrm>
          <a:prstGeom prst="roundRect">
            <a:avLst>
              <a:gd name="adj" fmla="val 3636"/>
            </a:avLst>
          </a:prstGeom>
          <a:solidFill>
            <a:schemeClr val="bg2"/>
          </a:solidFill>
          <a:ln w="12700">
            <a:solidFill>
              <a:schemeClr val="bg2"/>
            </a:solidFill>
            <a:prstDash val="solid"/>
          </a:ln>
        </p:spPr>
      </p:sp>
      <p:sp>
        <p:nvSpPr>
          <p:cNvPr id="9" name="Pastille icône"/>
          <p:cNvSpPr/>
          <p:nvPr/>
        </p:nvSpPr>
        <p:spPr>
          <a:xfrm>
            <a:off x="4526280" y="2057400"/>
            <a:ext cx="594360" cy="594360"/>
          </a:xfrm>
          <a:prstGeom prst="ellipse">
            <a:avLst/>
          </a:prstGeom>
          <a:solidFill>
            <a:schemeClr val="accent4"/>
          </a:solidFill>
          <a:ln w="12700">
            <a:solidFill>
              <a:schemeClr val="accent4"/>
            </a:solidFill>
            <a:prstDash val="solid"/>
          </a:ln>
        </p:spPr>
      </p:sp>
      <p:pic>
        <p:nvPicPr>
          <p:cNvPr id="10" name="Icône FaUniversity" descr="preencoded.png">    </p:cNvPr>
          <p:cNvPicPr>
            <a:picLocks noChangeAspect="1"/>
          </p:cNvPicPr>
          <p:nvPr/>
        </p:nvPicPr>
        <p:blipFill>
          <a:blip r:embed="rId2"/>
          <a:stretch>
            <a:fillRect/>
          </a:stretch>
        </p:blipFill>
        <p:spPr>
          <a:xfrm>
            <a:off x="4674870" y="2205990"/>
            <a:ext cx="297180" cy="297180"/>
          </a:xfrm>
          <a:prstGeom prst="rect">
            <a:avLst/>
          </a:prstGeom>
        </p:spPr>
      </p:pic>
      <p:sp>
        <p:nvSpPr>
          <p:cNvPr id="11" name="Text 7"/>
          <p:cNvSpPr txBox="1"/>
          <p:nvPr/>
        </p:nvSpPr>
        <p:spPr>
          <a:xfrm>
            <a:off x="4526280" y="2743200"/>
            <a:ext cx="3017520" cy="1005840"/>
          </a:xfrm>
          <a:prstGeom prst="rect">
            <a:avLst/>
          </a:prstGeom>
          <a:noFill/>
          <a:ln/>
        </p:spPr>
        <p:txBody>
          <a:bodyPr wrap="square" lIns="0" tIns="0" rIns="0" bIns="0" rtlCol="0" anchor="t"/>
          <a:lstStyle/>
          <a:p>
            <a:pPr indent="0" marL="0">
              <a:buNone/>
            </a:pPr>
            <a:r>
              <a:rPr lang="en-US" sz="1400" dirty="0">
                <a:solidFill>
                  <a:schemeClr val="tx1"/>
                </a:solidFill>
              </a:rPr>
              <a:t>Normes de performance environnementale et sociale de la SFI</a:t>
            </a:r>
            <a:endParaRPr lang="en-US" sz="1400" dirty="0"/>
          </a:p>
        </p:txBody>
      </p:sp>
      <p:sp>
        <p:nvSpPr>
          <p:cNvPr id="12" name="Mesure E&amp;S"/>
          <p:cNvSpPr/>
          <p:nvPr/>
        </p:nvSpPr>
        <p:spPr>
          <a:xfrm>
            <a:off x="8046720" y="1828800"/>
            <a:ext cx="3474720" cy="2011680"/>
          </a:xfrm>
          <a:prstGeom prst="roundRect">
            <a:avLst>
              <a:gd name="adj" fmla="val 3636"/>
            </a:avLst>
          </a:prstGeom>
          <a:solidFill>
            <a:schemeClr val="bg2"/>
          </a:solidFill>
          <a:ln w="12700">
            <a:solidFill>
              <a:schemeClr val="bg2"/>
            </a:solidFill>
            <a:prstDash val="solid"/>
          </a:ln>
        </p:spPr>
      </p:sp>
      <p:sp>
        <p:nvSpPr>
          <p:cNvPr id="13" name="Pastille icône"/>
          <p:cNvSpPr/>
          <p:nvPr/>
        </p:nvSpPr>
        <p:spPr>
          <a:xfrm>
            <a:off x="8275320" y="2057400"/>
            <a:ext cx="594360" cy="594360"/>
          </a:xfrm>
          <a:prstGeom prst="ellipse">
            <a:avLst/>
          </a:prstGeom>
          <a:solidFill>
            <a:schemeClr val="accent4"/>
          </a:solidFill>
          <a:ln w="12700">
            <a:solidFill>
              <a:schemeClr val="accent4"/>
            </a:solidFill>
            <a:prstDash val="solid"/>
          </a:ln>
        </p:spPr>
      </p:sp>
      <p:pic>
        <p:nvPicPr>
          <p:cNvPr id="14" name="Icône FaLeaf" descr="preencoded.png">    </p:cNvPr>
          <p:cNvPicPr>
            <a:picLocks noChangeAspect="1"/>
          </p:cNvPicPr>
          <p:nvPr/>
        </p:nvPicPr>
        <p:blipFill>
          <a:blip r:embed="rId3"/>
          <a:stretch>
            <a:fillRect/>
          </a:stretch>
        </p:blipFill>
        <p:spPr>
          <a:xfrm>
            <a:off x="8423910" y="2205990"/>
            <a:ext cx="297180" cy="297180"/>
          </a:xfrm>
          <a:prstGeom prst="rect">
            <a:avLst/>
          </a:prstGeom>
        </p:spPr>
      </p:pic>
      <p:sp>
        <p:nvSpPr>
          <p:cNvPr id="15" name="Text 10"/>
          <p:cNvSpPr txBox="1"/>
          <p:nvPr/>
        </p:nvSpPr>
        <p:spPr>
          <a:xfrm>
            <a:off x="8275320" y="2743200"/>
            <a:ext cx="3017520" cy="1005840"/>
          </a:xfrm>
          <a:prstGeom prst="rect">
            <a:avLst/>
          </a:prstGeom>
          <a:noFill/>
          <a:ln/>
        </p:spPr>
        <p:txBody>
          <a:bodyPr wrap="square" lIns="0" tIns="0" rIns="0" bIns="0" rtlCol="0" anchor="t"/>
          <a:lstStyle/>
          <a:p>
            <a:pPr indent="0" marL="0">
              <a:buNone/>
            </a:pPr>
            <a:r>
              <a:rPr lang="en-US" sz="1400" dirty="0">
                <a:solidFill>
                  <a:schemeClr val="tx1"/>
                </a:solidFill>
              </a:rPr>
              <a:t>Protection des rives du lac Tanganyika ; remise en état des carrières et emprunts</a:t>
            </a:r>
            <a:endParaRPr lang="en-US" sz="1400" dirty="0"/>
          </a:p>
        </p:txBody>
      </p:sp>
      <p:sp>
        <p:nvSpPr>
          <p:cNvPr id="16" name="Mesure E&amp;S"/>
          <p:cNvSpPr/>
          <p:nvPr/>
        </p:nvSpPr>
        <p:spPr>
          <a:xfrm>
            <a:off x="548640" y="4023360"/>
            <a:ext cx="3474720" cy="2011680"/>
          </a:xfrm>
          <a:prstGeom prst="roundRect">
            <a:avLst>
              <a:gd name="adj" fmla="val 3636"/>
            </a:avLst>
          </a:prstGeom>
          <a:solidFill>
            <a:schemeClr val="bg2"/>
          </a:solidFill>
          <a:ln w="12700">
            <a:solidFill>
              <a:schemeClr val="bg2"/>
            </a:solidFill>
            <a:prstDash val="solid"/>
          </a:ln>
        </p:spPr>
      </p:sp>
      <p:sp>
        <p:nvSpPr>
          <p:cNvPr id="17" name="Pastille icône"/>
          <p:cNvSpPr/>
          <p:nvPr/>
        </p:nvSpPr>
        <p:spPr>
          <a:xfrm>
            <a:off x="777240" y="4251960"/>
            <a:ext cx="594360" cy="594360"/>
          </a:xfrm>
          <a:prstGeom prst="ellipse">
            <a:avLst/>
          </a:prstGeom>
          <a:solidFill>
            <a:schemeClr val="accent4"/>
          </a:solidFill>
          <a:ln w="12700">
            <a:solidFill>
              <a:schemeClr val="accent4"/>
            </a:solidFill>
            <a:prstDash val="solid"/>
          </a:ln>
        </p:spPr>
      </p:sp>
      <p:pic>
        <p:nvPicPr>
          <p:cNvPr id="18" name="Icône FaUsers" descr="preencoded.png">    </p:cNvPr>
          <p:cNvPicPr>
            <a:picLocks noChangeAspect="1"/>
          </p:cNvPicPr>
          <p:nvPr/>
        </p:nvPicPr>
        <p:blipFill>
          <a:blip r:embed="rId4"/>
          <a:stretch>
            <a:fillRect/>
          </a:stretch>
        </p:blipFill>
        <p:spPr>
          <a:xfrm>
            <a:off x="925830" y="4400550"/>
            <a:ext cx="297180" cy="297180"/>
          </a:xfrm>
          <a:prstGeom prst="rect">
            <a:avLst/>
          </a:prstGeom>
        </p:spPr>
      </p:pic>
      <p:sp>
        <p:nvSpPr>
          <p:cNvPr id="19" name="Text 13"/>
          <p:cNvSpPr txBox="1"/>
          <p:nvPr/>
        </p:nvSpPr>
        <p:spPr>
          <a:xfrm>
            <a:off x="777240" y="4937760"/>
            <a:ext cx="3017520" cy="1005840"/>
          </a:xfrm>
          <a:prstGeom prst="rect">
            <a:avLst/>
          </a:prstGeom>
          <a:noFill/>
          <a:ln/>
        </p:spPr>
        <p:txBody>
          <a:bodyPr wrap="square" lIns="0" tIns="0" rIns="0" bIns="0" rtlCol="0" anchor="t"/>
          <a:lstStyle/>
          <a:p>
            <a:pPr indent="0" marL="0">
              <a:buNone/>
            </a:pPr>
            <a:r>
              <a:rPr lang="en-US" sz="1400" dirty="0">
                <a:solidFill>
                  <a:schemeClr val="tx1"/>
                </a:solidFill>
              </a:rPr>
              <a:t>Plan d'action de réinstallation, avec indemnisation préalable</a:t>
            </a:r>
            <a:endParaRPr lang="en-US" sz="1400" dirty="0"/>
          </a:p>
        </p:txBody>
      </p:sp>
      <p:sp>
        <p:nvSpPr>
          <p:cNvPr id="20" name="Mesure E&amp;S"/>
          <p:cNvSpPr/>
          <p:nvPr/>
        </p:nvSpPr>
        <p:spPr>
          <a:xfrm>
            <a:off x="4297680" y="4023360"/>
            <a:ext cx="3474720" cy="2011680"/>
          </a:xfrm>
          <a:prstGeom prst="roundRect">
            <a:avLst>
              <a:gd name="adj" fmla="val 3636"/>
            </a:avLst>
          </a:prstGeom>
          <a:solidFill>
            <a:schemeClr val="bg2"/>
          </a:solidFill>
          <a:ln w="12700">
            <a:solidFill>
              <a:schemeClr val="bg2"/>
            </a:solidFill>
            <a:prstDash val="solid"/>
          </a:ln>
        </p:spPr>
      </p:sp>
      <p:sp>
        <p:nvSpPr>
          <p:cNvPr id="21" name="Pastille icône"/>
          <p:cNvSpPr/>
          <p:nvPr/>
        </p:nvSpPr>
        <p:spPr>
          <a:xfrm>
            <a:off x="4526280" y="4251960"/>
            <a:ext cx="594360" cy="594360"/>
          </a:xfrm>
          <a:prstGeom prst="ellipse">
            <a:avLst/>
          </a:prstGeom>
          <a:solidFill>
            <a:schemeClr val="accent4"/>
          </a:solidFill>
          <a:ln w="12700">
            <a:solidFill>
              <a:schemeClr val="accent4"/>
            </a:solidFill>
            <a:prstDash val="solid"/>
          </a:ln>
        </p:spPr>
      </p:sp>
      <p:pic>
        <p:nvPicPr>
          <p:cNvPr id="22" name="Icône FaComments" descr="preencoded.png">    </p:cNvPr>
          <p:cNvPicPr>
            <a:picLocks noChangeAspect="1"/>
          </p:cNvPicPr>
          <p:nvPr/>
        </p:nvPicPr>
        <p:blipFill>
          <a:blip r:embed="rId5"/>
          <a:stretch>
            <a:fillRect/>
          </a:stretch>
        </p:blipFill>
        <p:spPr>
          <a:xfrm>
            <a:off x="4674870" y="4400550"/>
            <a:ext cx="297180" cy="297180"/>
          </a:xfrm>
          <a:prstGeom prst="rect">
            <a:avLst/>
          </a:prstGeom>
        </p:spPr>
      </p:pic>
      <p:sp>
        <p:nvSpPr>
          <p:cNvPr id="23" name="Text 16"/>
          <p:cNvSpPr txBox="1"/>
          <p:nvPr/>
        </p:nvSpPr>
        <p:spPr>
          <a:xfrm>
            <a:off x="4526280" y="4937760"/>
            <a:ext cx="3017520" cy="1005840"/>
          </a:xfrm>
          <a:prstGeom prst="rect">
            <a:avLst/>
          </a:prstGeom>
          <a:noFill/>
          <a:ln/>
        </p:spPr>
        <p:txBody>
          <a:bodyPr wrap="square" lIns="0" tIns="0" rIns="0" bIns="0" rtlCol="0" anchor="t"/>
          <a:lstStyle/>
          <a:p>
            <a:pPr indent="0" marL="0">
              <a:buNone/>
            </a:pPr>
            <a:r>
              <a:rPr lang="en-US" sz="1400" dirty="0">
                <a:solidFill>
                  <a:schemeClr val="tx1"/>
                </a:solidFill>
              </a:rPr>
              <a:t>Gestion des plaintes, prévention des VBG, sensibilisation au VIH en chantier</a:t>
            </a:r>
            <a:endParaRPr lang="en-US" sz="1400" dirty="0"/>
          </a:p>
        </p:txBody>
      </p:sp>
      <p:sp>
        <p:nvSpPr>
          <p:cNvPr id="24" name="Mesure E&amp;S"/>
          <p:cNvSpPr/>
          <p:nvPr/>
        </p:nvSpPr>
        <p:spPr>
          <a:xfrm>
            <a:off x="8046720" y="4023360"/>
            <a:ext cx="3474720" cy="2011680"/>
          </a:xfrm>
          <a:prstGeom prst="roundRect">
            <a:avLst>
              <a:gd name="adj" fmla="val 3636"/>
            </a:avLst>
          </a:prstGeom>
          <a:solidFill>
            <a:schemeClr val="bg2"/>
          </a:solidFill>
          <a:ln w="12700">
            <a:solidFill>
              <a:schemeClr val="bg2"/>
            </a:solidFill>
            <a:prstDash val="solid"/>
          </a:ln>
        </p:spPr>
      </p:sp>
      <p:sp>
        <p:nvSpPr>
          <p:cNvPr id="25" name="Pastille icône"/>
          <p:cNvSpPr/>
          <p:nvPr/>
        </p:nvSpPr>
        <p:spPr>
          <a:xfrm>
            <a:off x="8275320" y="4251960"/>
            <a:ext cx="594360" cy="594360"/>
          </a:xfrm>
          <a:prstGeom prst="ellipse">
            <a:avLst/>
          </a:prstGeom>
          <a:solidFill>
            <a:schemeClr val="accent4"/>
          </a:solidFill>
          <a:ln w="12700">
            <a:solidFill>
              <a:schemeClr val="accent4"/>
            </a:solidFill>
            <a:prstDash val="solid"/>
          </a:ln>
        </p:spPr>
      </p:sp>
      <p:pic>
        <p:nvPicPr>
          <p:cNvPr id="26" name="Icône FaHandshake" descr="preencoded.png">    </p:cNvPr>
          <p:cNvPicPr>
            <a:picLocks noChangeAspect="1"/>
          </p:cNvPicPr>
          <p:nvPr/>
        </p:nvPicPr>
        <p:blipFill>
          <a:blip r:embed="rId6"/>
          <a:stretch>
            <a:fillRect/>
          </a:stretch>
        </p:blipFill>
        <p:spPr>
          <a:xfrm>
            <a:off x="8423910" y="4400550"/>
            <a:ext cx="297180" cy="297180"/>
          </a:xfrm>
          <a:prstGeom prst="rect">
            <a:avLst/>
          </a:prstGeom>
        </p:spPr>
      </p:pic>
      <p:sp>
        <p:nvSpPr>
          <p:cNvPr id="27" name="Text 19"/>
          <p:cNvSpPr txBox="1"/>
          <p:nvPr/>
        </p:nvSpPr>
        <p:spPr>
          <a:xfrm>
            <a:off x="8275320" y="4937760"/>
            <a:ext cx="3017520" cy="1005840"/>
          </a:xfrm>
          <a:prstGeom prst="rect">
            <a:avLst/>
          </a:prstGeom>
          <a:noFill/>
          <a:ln/>
        </p:spPr>
        <p:txBody>
          <a:bodyPr wrap="square" lIns="0" tIns="0" rIns="0" bIns="0" rtlCol="0" anchor="t"/>
          <a:lstStyle/>
          <a:p>
            <a:pPr indent="0" marL="0">
              <a:buNone/>
            </a:pPr>
            <a:r>
              <a:rPr lang="en-US" sz="1400" dirty="0">
                <a:solidFill>
                  <a:schemeClr val="tx1"/>
                </a:solidFill>
              </a:rPr>
              <a:t>Cahier des charges social avec les riverains : points d'eau, écoles, centres de santé</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Le Groupe EIS-EKA et son consortium</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EIS-EKA porte et finance seul le projet, entouré de partenaires techniques spécialisés</a:t>
            </a:r>
            <a:endParaRPr lang="en-US" sz="1600" dirty="0"/>
          </a:p>
        </p:txBody>
      </p:sp>
      <p:graphicFrame>
        <p:nvGraphicFramePr>
          <p:cNvPr id="22" name="Fiche Groupe"/>
          <p:cNvGraphicFramePr>
            <a:graphicFrameLocks noGrp="1"/>
          </p:cNvGraphicFramePr>
          <p:nvPr>
            <p:extLst>
              <p:ext uri="{D42A27DB-BD31-4B8C-83A1-F6EECF244321}">
                <p14:modId xmlns:p14="http://schemas.microsoft.com/office/powerpoint/2010/main" val="1579011935"/>
              </p:ext>
            </p:extLst>
          </p:nvPr>
        </p:nvGraphicFramePr>
        <p:xfrm>
          <a:off x="548640" y="1828800"/>
          <a:ext cx="6400800" cy="914400"/>
        </p:xfrm>
        <a:graphic>
          <a:graphicData uri="http://schemas.openxmlformats.org/drawingml/2006/table">
            <a:tbl>
              <a:tblPr/>
              <a:tblGrid>
                <a:gridCol w="3017520"/>
                <a:gridCol w="3383280"/>
              </a:tblGrid>
              <a:tr h="457200">
                <a:tc>
                  <a:txBody>
                    <a:bodyPr/>
                    <a:lstStyle/>
                    <a:p>
                      <a:pPr indent="0" marL="0">
                        <a:buNone/>
                      </a:pPr>
                      <a:r>
                        <a:rPr lang="en-US" sz="1300" b="1" dirty="0">
                          <a:solidFill>
                            <a:schemeClr val="bg1"/>
                          </a:solidFill>
                        </a:rPr>
                        <a:t>Rubrique</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Information</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r>
              <a:tr h="457200">
                <a:tc>
                  <a:txBody>
                    <a:bodyPr/>
                    <a:lstStyle/>
                    <a:p>
                      <a:pPr indent="0" marL="0">
                        <a:buNone/>
                      </a:pPr>
                      <a:r>
                        <a:rPr lang="en-US" sz="1300" b="1" dirty="0">
                          <a:solidFill>
                            <a:schemeClr val="tx2"/>
                          </a:solidFill>
                        </a:rPr>
                        <a:t>Raison sociale et forme juridique</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i="1" dirty="0">
                          <a:solidFill>
                            <a:schemeClr val="accent5"/>
                          </a:solidFill>
                        </a:rPr>
                        <a:t>[à compléter]</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300" b="1" dirty="0">
                          <a:solidFill>
                            <a:schemeClr val="tx2"/>
                          </a:solidFill>
                        </a:rPr>
                        <a:t>Siège et représentation en RDC</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i="1" dirty="0">
                          <a:solidFill>
                            <a:schemeClr val="accent5"/>
                          </a:solidFill>
                        </a:rPr>
                        <a:t>[à compléter]</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300" b="1" dirty="0">
                          <a:solidFill>
                            <a:schemeClr val="tx2"/>
                          </a:solidFill>
                        </a:rPr>
                        <a:t>Domaines d'activité</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i="1" dirty="0">
                          <a:solidFill>
                            <a:schemeClr val="accent5"/>
                          </a:solidFill>
                        </a:rPr>
                        <a:t>[infrastructures, BTP, ingénierie, énergie…]</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300" b="1" dirty="0">
                          <a:solidFill>
                            <a:schemeClr val="tx2"/>
                          </a:solidFill>
                        </a:rPr>
                        <a:t>Références routières / infrastructures</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i="1" dirty="0">
                          <a:solidFill>
                            <a:schemeClr val="accent5"/>
                          </a:solidFill>
                        </a:rPr>
                        <a:t>[projets, pays, montants, années]</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300" b="1" dirty="0">
                          <a:solidFill>
                            <a:schemeClr val="tx2"/>
                          </a:solidFill>
                        </a:rPr>
                        <a:t>Capacité financière</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i="1" dirty="0">
                          <a:solidFill>
                            <a:schemeClr val="accent5"/>
                          </a:solidFill>
                        </a:rPr>
                        <a:t>[CA, fonds propres, attestation bancaire phase 1]</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300" b="1" dirty="0">
                          <a:solidFill>
                            <a:schemeClr val="tx2"/>
                          </a:solidFill>
                        </a:rPr>
                        <a:t>Partenaires techniques</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i="1" dirty="0">
                          <a:solidFill>
                            <a:schemeClr val="accent5"/>
                          </a:solidFill>
                        </a:rPr>
                        <a:t>[noms et lettres d'intention]</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300" b="1" dirty="0">
                          <a:solidFill>
                            <a:schemeClr val="tx2"/>
                          </a:solidFill>
                        </a:rPr>
                        <a:t>Partenaires bancaires</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i="1" dirty="0">
                          <a:solidFill>
                            <a:schemeClr val="accent5"/>
                          </a:solidFill>
                        </a:rPr>
                        <a:t>[banques, lignes de crédit phases suivantes]</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300" b="1" dirty="0">
                          <a:solidFill>
                            <a:schemeClr val="tx2"/>
                          </a:solidFill>
                        </a:rPr>
                        <a:t>Expérience en PPP</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i="1" dirty="0">
                          <a:solidFill>
                            <a:schemeClr val="accent5"/>
                          </a:solidFill>
                        </a:rPr>
                        <a:t>[concessions, contrats d'entretien…]</a:t>
                      </a:r>
                      <a:endParaRPr lang="en-US" sz="13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5" name="Consortium"/>
          <p:cNvSpPr/>
          <p:nvPr/>
        </p:nvSpPr>
        <p:spPr>
          <a:xfrm>
            <a:off x="7315200" y="1828800"/>
            <a:ext cx="4297680" cy="4114800"/>
          </a:xfrm>
          <a:prstGeom prst="roundRect">
            <a:avLst>
              <a:gd name="adj" fmla="val 1778"/>
            </a:avLst>
          </a:prstGeom>
          <a:solidFill>
            <a:schemeClr val="bg2"/>
          </a:solidFill>
          <a:ln w="12700">
            <a:solidFill>
              <a:schemeClr val="bg2"/>
            </a:solidFill>
            <a:prstDash val="solid"/>
          </a:ln>
        </p:spPr>
      </p:sp>
      <p:sp>
        <p:nvSpPr>
          <p:cNvPr id="6" name="Text 3"/>
          <p:cNvSpPr txBox="1"/>
          <p:nvPr/>
        </p:nvSpPr>
        <p:spPr>
          <a:xfrm>
            <a:off x="7589520" y="1965960"/>
            <a:ext cx="3840480" cy="502920"/>
          </a:xfrm>
          <a:prstGeom prst="rect">
            <a:avLst/>
          </a:prstGeom>
          <a:noFill/>
          <a:ln/>
        </p:spPr>
        <p:txBody>
          <a:bodyPr wrap="square" lIns="0" tIns="0" rIns="0" bIns="0" rtlCol="0" anchor="ctr"/>
          <a:lstStyle/>
          <a:p>
            <a:pPr indent="0" marL="0">
              <a:buNone/>
            </a:pPr>
            <a:r>
              <a:rPr lang="en-US" sz="1700" b="1" dirty="0">
                <a:solidFill>
                  <a:schemeClr val="tx2"/>
                </a:solidFill>
              </a:rPr>
              <a:t>Organisation du consortium</a:t>
            </a:r>
            <a:endParaRPr lang="en-US" sz="1700" dirty="0"/>
          </a:p>
        </p:txBody>
      </p:sp>
      <p:sp>
        <p:nvSpPr>
          <p:cNvPr id="7" name="Text 4"/>
          <p:cNvSpPr txBox="1"/>
          <p:nvPr/>
        </p:nvSpPr>
        <p:spPr>
          <a:xfrm>
            <a:off x="7589520" y="2560320"/>
            <a:ext cx="3840480" cy="32918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EIS-EKA : chef de file, développement, relations avec l'État, actionnaire principal</a:t>
            </a:r>
            <a:endParaRPr lang="en-US" sz="1400" dirty="0"/>
          </a:p>
          <a:p>
            <a:pPr marL="203200" indent="-203200">
              <a:spcAft>
                <a:spcPts val="600"/>
              </a:spcAft>
              <a:buSzPct val="100000"/>
              <a:buChar char="•"/>
            </a:pPr>
            <a:r>
              <a:rPr lang="en-US" sz="1400" dirty="0">
                <a:solidFill>
                  <a:schemeClr val="tx1"/>
                </a:solidFill>
              </a:rPr>
              <a:t>Entreprise EPC de référence internationale, associée à des PME congolaises</a:t>
            </a:r>
            <a:endParaRPr lang="en-US" sz="1400" dirty="0"/>
          </a:p>
          <a:p>
            <a:pPr marL="203200" indent="-203200">
              <a:spcAft>
                <a:spcPts val="600"/>
              </a:spcAft>
              <a:buSzPct val="100000"/>
              <a:buChar char="•"/>
            </a:pPr>
            <a:r>
              <a:rPr lang="en-US" sz="1400" dirty="0">
                <a:solidFill>
                  <a:schemeClr val="tx1"/>
                </a:solidFill>
              </a:rPr>
              <a:t>Bureau d'études : APS, APD et EIES</a:t>
            </a:r>
            <a:endParaRPr lang="en-US" sz="1400" dirty="0"/>
          </a:p>
          <a:p>
            <a:pPr marL="203200" indent="-203200">
              <a:spcAft>
                <a:spcPts val="600"/>
              </a:spcAft>
              <a:buSzPct val="100000"/>
              <a:buChar char="•"/>
            </a:pPr>
            <a:r>
              <a:rPr lang="en-US" sz="1400" dirty="0">
                <a:solidFill>
                  <a:schemeClr val="tx1"/>
                </a:solidFill>
              </a:rPr>
              <a:t>Opérateur d'exploitation et d'entretien routier</a:t>
            </a:r>
            <a:endParaRPr lang="en-US" sz="1400" dirty="0"/>
          </a:p>
          <a:p>
            <a:pPr marL="203200" indent="-203200">
              <a:spcAft>
                <a:spcPts val="600"/>
              </a:spcAft>
              <a:buSzPct val="100000"/>
              <a:buChar char="•"/>
            </a:pPr>
            <a:r>
              <a:rPr lang="en-US" sz="1400" dirty="0">
                <a:solidFill>
                  <a:schemeClr val="tx1"/>
                </a:solidFill>
              </a:rPr>
              <a:t>Conseillers juridique et financier PPP</a:t>
            </a:r>
            <a:endParaRPr lang="en-US" sz="1400" dirty="0"/>
          </a:p>
        </p:txBody>
      </p:sp>
      <p:sp>
        <p:nvSpPr>
          <p:cNvPr id="8" name="Text 5"/>
          <p:cNvSpPr txBox="1"/>
          <p:nvPr/>
        </p:nvSpPr>
        <p:spPr>
          <a:xfrm>
            <a:off x="548640" y="5989320"/>
            <a:ext cx="6400800" cy="320040"/>
          </a:xfrm>
          <a:prstGeom prst="rect">
            <a:avLst/>
          </a:prstGeom>
          <a:noFill/>
          <a:ln/>
        </p:spPr>
        <p:txBody>
          <a:bodyPr wrap="square" lIns="0" tIns="0" rIns="0" bIns="0" rtlCol="0" anchor="ctr"/>
          <a:lstStyle/>
          <a:p>
            <a:pPr indent="0" marL="0">
              <a:buNone/>
            </a:pPr>
            <a:r>
              <a:rPr lang="en-US" sz="1100" i="1" dirty="0">
                <a:solidFill>
                  <a:schemeClr val="accent5"/>
                </a:solidFill>
              </a:rPr>
              <a:t>Les éléments entre crochets sont à compléter par le Groupe.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Demandes au Ministère et engagements d'EIS-EKA</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Signature de la convention et de l'arrêté de péage : les travaux démarrent sous 60 jours</a:t>
            </a:r>
            <a:endParaRPr lang="en-US" sz="1600" dirty="0"/>
          </a:p>
        </p:txBody>
      </p:sp>
      <p:sp>
        <p:nvSpPr>
          <p:cNvPr id="4" name="Demandes"/>
          <p:cNvSpPr/>
          <p:nvPr/>
        </p:nvSpPr>
        <p:spPr>
          <a:xfrm>
            <a:off x="548640" y="1828800"/>
            <a:ext cx="6035040" cy="4297680"/>
          </a:xfrm>
          <a:prstGeom prst="roundRect">
            <a:avLst>
              <a:gd name="adj" fmla="val 1702"/>
            </a:avLst>
          </a:prstGeom>
          <a:solidFill>
            <a:schemeClr val="bg2"/>
          </a:solidFill>
          <a:ln w="12700">
            <a:solidFill>
              <a:schemeClr val="bg2"/>
            </a:solidFill>
            <a:prstDash val="solid"/>
          </a:ln>
        </p:spPr>
      </p:sp>
      <p:sp>
        <p:nvSpPr>
          <p:cNvPr id="5" name="Text 3"/>
          <p:cNvSpPr txBox="1"/>
          <p:nvPr/>
        </p:nvSpPr>
        <p:spPr>
          <a:xfrm>
            <a:off x="822960" y="1965960"/>
            <a:ext cx="5486400" cy="502920"/>
          </a:xfrm>
          <a:prstGeom prst="rect">
            <a:avLst/>
          </a:prstGeom>
          <a:noFill/>
          <a:ln/>
        </p:spPr>
        <p:txBody>
          <a:bodyPr wrap="square" lIns="0" tIns="0" rIns="0" bIns="0" rtlCol="0" anchor="ctr"/>
          <a:lstStyle/>
          <a:p>
            <a:pPr indent="0" marL="0">
              <a:buNone/>
            </a:pPr>
            <a:r>
              <a:rPr lang="en-US" sz="1800" b="1" dirty="0">
                <a:solidFill>
                  <a:schemeClr val="tx2"/>
                </a:solidFill>
              </a:rPr>
              <a:t>Ce que nous demandons au Ministère</a:t>
            </a:r>
            <a:endParaRPr lang="en-US" sz="1800" dirty="0"/>
          </a:p>
        </p:txBody>
      </p:sp>
      <p:sp>
        <p:nvSpPr>
          <p:cNvPr id="6" name="Text 4"/>
          <p:cNvSpPr txBox="1"/>
          <p:nvPr/>
        </p:nvSpPr>
        <p:spPr>
          <a:xfrm>
            <a:off x="822960" y="2560320"/>
            <a:ext cx="5486400" cy="347472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400" dirty="0">
                <a:solidFill>
                  <a:schemeClr val="tx1"/>
                </a:solidFill>
              </a:rPr>
              <a:t>Signer une concession Réhabiliter-Exploiter-Transférer de 30 ans sur Uvira – Kalemie</a:t>
            </a:r>
            <a:endParaRPr lang="en-US" sz="1400" dirty="0"/>
          </a:p>
          <a:p>
            <a:pPr marL="342900" indent="-342900">
              <a:spcAft>
                <a:spcPts val="800"/>
              </a:spcAft>
              <a:buSzPct val="100000"/>
              <a:buFont typeface="+mj-lt"/>
              <a:buAutoNum type="arabicPeriod" startAt="1"/>
            </a:pPr>
            <a:r>
              <a:rPr lang="en-US" sz="1400" dirty="0">
                <a:solidFill>
                  <a:schemeClr val="tx1"/>
                </a:solidFill>
              </a:rPr>
              <a:t>Faire prendre l'arrêté de péage : perception, postes tous les ~50 km, grille tarifaire</a:t>
            </a:r>
            <a:endParaRPr lang="en-US" sz="1400" dirty="0"/>
          </a:p>
          <a:p>
            <a:pPr marL="342900" indent="-342900">
              <a:spcAft>
                <a:spcPts val="800"/>
              </a:spcAft>
              <a:buSzPct val="100000"/>
              <a:buFont typeface="+mj-lt"/>
              <a:buAutoNum type="arabicPeriod" startAt="1"/>
            </a:pPr>
            <a:r>
              <a:rPr lang="en-US" sz="1400" dirty="0">
                <a:solidFill>
                  <a:schemeClr val="tx1"/>
                </a:solidFill>
              </a:rPr>
              <a:t>Coordonner FONER, gouvernorats du Sud-Kivu et du Tanganyika et entités locales pour l'exclusivité</a:t>
            </a:r>
            <a:endParaRPr lang="en-US" sz="1400" dirty="0"/>
          </a:p>
          <a:p>
            <a:pPr marL="342900" indent="-342900">
              <a:spcAft>
                <a:spcPts val="800"/>
              </a:spcAft>
              <a:buSzPct val="100000"/>
              <a:buFont typeface="+mj-lt"/>
              <a:buAutoNum type="arabicPeriod" startAt="1"/>
            </a:pPr>
            <a:r>
              <a:rPr lang="en-US" sz="1400" dirty="0">
                <a:solidFill>
                  <a:schemeClr val="tx1"/>
                </a:solidFill>
              </a:rPr>
              <a:t>Demander aux services de sécurité la protection des chantiers et des postes</a:t>
            </a:r>
            <a:endParaRPr lang="en-US" sz="1400" dirty="0"/>
          </a:p>
          <a:p>
            <a:pPr marL="342900" indent="-342900">
              <a:spcAft>
                <a:spcPts val="800"/>
              </a:spcAft>
              <a:buSzPct val="100000"/>
              <a:buFont typeface="+mj-lt"/>
              <a:buAutoNum type="arabicPeriod" startAt="1"/>
            </a:pPr>
            <a:r>
              <a:rPr lang="en-US" sz="1400" dirty="0">
                <a:solidFill>
                  <a:schemeClr val="tx1"/>
                </a:solidFill>
              </a:rPr>
              <a:t>Accorder l'exonération PPP sur engins, matériaux et équipements importés</a:t>
            </a:r>
            <a:endParaRPr lang="en-US" sz="1400" dirty="0"/>
          </a:p>
        </p:txBody>
      </p:sp>
      <p:sp>
        <p:nvSpPr>
          <p:cNvPr id="7" name="Engagements"/>
          <p:cNvSpPr/>
          <p:nvPr/>
        </p:nvSpPr>
        <p:spPr>
          <a:xfrm>
            <a:off x="6858000" y="1828800"/>
            <a:ext cx="4754880" cy="4297680"/>
          </a:xfrm>
          <a:prstGeom prst="roundRect">
            <a:avLst>
              <a:gd name="adj" fmla="val 1702"/>
            </a:avLst>
          </a:prstGeom>
          <a:solidFill>
            <a:schemeClr val="tx2"/>
          </a:solidFill>
          <a:ln w="12700">
            <a:solidFill>
              <a:schemeClr val="tx2"/>
            </a:solidFill>
            <a:prstDash val="solid"/>
          </a:ln>
        </p:spPr>
      </p:sp>
      <p:sp>
        <p:nvSpPr>
          <p:cNvPr id="8" name="Text 6"/>
          <p:cNvSpPr txBox="1"/>
          <p:nvPr/>
        </p:nvSpPr>
        <p:spPr>
          <a:xfrm>
            <a:off x="7132320" y="1965960"/>
            <a:ext cx="4206240" cy="502920"/>
          </a:xfrm>
          <a:prstGeom prst="rect">
            <a:avLst/>
          </a:prstGeom>
          <a:noFill/>
          <a:ln/>
        </p:spPr>
        <p:txBody>
          <a:bodyPr wrap="square" lIns="0" tIns="0" rIns="0" bIns="0" rtlCol="0" anchor="ctr"/>
          <a:lstStyle/>
          <a:p>
            <a:pPr indent="0" marL="0">
              <a:buNone/>
            </a:pPr>
            <a:r>
              <a:rPr lang="en-US" sz="1800" b="1" dirty="0">
                <a:solidFill>
                  <a:schemeClr val="accent3"/>
                </a:solidFill>
              </a:rPr>
              <a:t>Ce à quoi EIS-EKA s'engage</a:t>
            </a:r>
            <a:endParaRPr lang="en-US" sz="1800" dirty="0"/>
          </a:p>
        </p:txBody>
      </p:sp>
      <p:sp>
        <p:nvSpPr>
          <p:cNvPr id="9" name="Text 7"/>
          <p:cNvSpPr txBox="1"/>
          <p:nvPr/>
        </p:nvSpPr>
        <p:spPr>
          <a:xfrm>
            <a:off x="7132320" y="2560320"/>
            <a:ext cx="4206240" cy="347472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bg1"/>
                </a:solidFill>
              </a:rPr>
              <a:t>Attestation bancaire des fonds de la phase 1 avant signature</a:t>
            </a:r>
            <a:endParaRPr lang="en-US" sz="1500" dirty="0"/>
          </a:p>
          <a:p>
            <a:pPr marL="203200" indent="-203200">
              <a:spcAft>
                <a:spcPts val="1000"/>
              </a:spcAft>
              <a:buSzPct val="100000"/>
              <a:buChar char="•"/>
            </a:pPr>
            <a:r>
              <a:rPr lang="en-US" sz="1500" dirty="0">
                <a:solidFill>
                  <a:schemeClr val="bg1"/>
                </a:solidFill>
              </a:rPr>
              <a:t>Engins mobilisés et travaux démarrés sous 60 jours</a:t>
            </a:r>
            <a:endParaRPr lang="en-US" sz="1500" dirty="0"/>
          </a:p>
          <a:p>
            <a:pPr marL="203200" indent="-203200">
              <a:spcAft>
                <a:spcPts val="1000"/>
              </a:spcAft>
              <a:buSzPct val="100000"/>
              <a:buChar char="•"/>
            </a:pPr>
            <a:r>
              <a:rPr lang="en-US" sz="1500" dirty="0">
                <a:solidFill>
                  <a:schemeClr val="bg1"/>
                </a:solidFill>
              </a:rPr>
              <a:t>Tout le tronçon rouvert en 12 à 18 mois, en commençant par Uvira – Baraka</a:t>
            </a:r>
            <a:endParaRPr lang="en-US" sz="1500" dirty="0"/>
          </a:p>
          <a:p>
            <a:pPr marL="203200" indent="-203200">
              <a:spcAft>
                <a:spcPts val="1000"/>
              </a:spcAft>
              <a:buSzPct val="100000"/>
              <a:buChar char="•"/>
            </a:pPr>
            <a:r>
              <a:rPr lang="en-US" sz="1500" dirty="0">
                <a:solidFill>
                  <a:schemeClr val="bg1"/>
                </a:solidFill>
              </a:rPr>
              <a:t>Garantie de bonne exécution et compte rendu trimestriel à l'Office des Routes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Feuille de route : la route s'améliore au rythme des recettes</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Seule la phase 1 a une date ferme ; les suivantes avancent section par section</a:t>
            </a:r>
            <a:endParaRPr lang="en-US" sz="1600" dirty="0"/>
          </a:p>
        </p:txBody>
      </p:sp>
      <p:sp>
        <p:nvSpPr>
          <p:cNvPr id="4" name="Phase 1"/>
          <p:cNvSpPr/>
          <p:nvPr/>
        </p:nvSpPr>
        <p:spPr>
          <a:xfrm>
            <a:off x="548640" y="2011680"/>
            <a:ext cx="2331720" cy="3108960"/>
          </a:xfrm>
          <a:prstGeom prst="roundRect">
            <a:avLst>
              <a:gd name="adj" fmla="val 3137"/>
            </a:avLst>
          </a:prstGeom>
          <a:solidFill>
            <a:schemeClr val="tx2"/>
          </a:solidFill>
          <a:ln w="12700">
            <a:solidFill>
              <a:schemeClr val="tx2"/>
            </a:solidFill>
            <a:prstDash val="solid"/>
          </a:ln>
        </p:spPr>
      </p:sp>
      <p:sp>
        <p:nvSpPr>
          <p:cNvPr id="5" name="Text 3"/>
          <p:cNvSpPr txBox="1"/>
          <p:nvPr/>
        </p:nvSpPr>
        <p:spPr>
          <a:xfrm>
            <a:off x="731520" y="2194560"/>
            <a:ext cx="1965960" cy="2743200"/>
          </a:xfrm>
          <a:prstGeom prst="rect">
            <a:avLst/>
          </a:prstGeom>
          <a:noFill/>
          <a:ln/>
        </p:spPr>
        <p:txBody>
          <a:bodyPr wrap="square" lIns="0" tIns="0" rIns="0" bIns="0" rtlCol="0" anchor="t"/>
          <a:lstStyle/>
          <a:p>
            <a:pPr indent="0" marL="0">
              <a:spcAft>
                <a:spcPts val="800"/>
              </a:spcAft>
              <a:buNone/>
            </a:pPr>
            <a:r>
              <a:rPr lang="en-US" sz="1600" b="1" dirty="0">
                <a:solidFill>
                  <a:schemeClr val="accent3"/>
                </a:solidFill>
              </a:rPr>
              <a:t>Phase 1 · Réouverture en terre</a:t>
            </a:r>
            <a:endParaRPr lang="en-US" sz="1600" dirty="0"/>
          </a:p>
          <a:p>
            <a:pPr indent="0" marL="0">
              <a:spcAft>
                <a:spcPts val="800"/>
              </a:spcAft>
              <a:buNone/>
            </a:pPr>
            <a:r>
              <a:rPr lang="en-US" sz="1400" dirty="0">
                <a:solidFill>
                  <a:schemeClr val="bg1"/>
                </a:solidFill>
              </a:rPr>
              <a:t>12 à 18 mois · 25 à 45 M USD sur fonds propres</a:t>
            </a:r>
            <a:endParaRPr lang="en-US" sz="1600" dirty="0"/>
          </a:p>
          <a:p>
            <a:pPr indent="0" marL="0">
              <a:buNone/>
            </a:pPr>
            <a:r>
              <a:rPr lang="en-US" sz="1300" i="1" dirty="0">
                <a:solidFill>
                  <a:schemeClr val="bg2"/>
                </a:solidFill>
              </a:rPr>
              <a:t>Praticable toute l'année, ~8 péages ouverts lot par lot</a:t>
            </a:r>
            <a:endParaRPr lang="en-US" sz="1600" dirty="0"/>
          </a:p>
        </p:txBody>
      </p:sp>
      <p:sp>
        <p:nvSpPr>
          <p:cNvPr id="6" name="Flèche"/>
          <p:cNvSpPr/>
          <p:nvPr/>
        </p:nvSpPr>
        <p:spPr>
          <a:xfrm>
            <a:off x="2880360" y="3566160"/>
            <a:ext cx="578815" cy="0"/>
          </a:xfrm>
          <a:prstGeom prst="line">
            <a:avLst/>
          </a:prstGeom>
          <a:noFill/>
          <a:ln w="15875">
            <a:solidFill>
              <a:schemeClr val="accent5"/>
            </a:solidFill>
            <a:prstDash val="solid"/>
            <a:tailEnd type="triangle"/>
          </a:ln>
        </p:spPr>
      </p:sp>
      <p:sp>
        <p:nvSpPr>
          <p:cNvPr id="7" name="Condition"/>
          <p:cNvSpPr/>
          <p:nvPr/>
        </p:nvSpPr>
        <p:spPr>
          <a:xfrm>
            <a:off x="2986888" y="3383280"/>
            <a:ext cx="365760" cy="365760"/>
          </a:xfrm>
          <a:prstGeom prst="diamond">
            <a:avLst/>
          </a:prstGeom>
          <a:solidFill>
            <a:schemeClr val="bg1"/>
          </a:solidFill>
          <a:ln w="19050">
            <a:solidFill>
              <a:schemeClr val="accent1"/>
            </a:solidFill>
            <a:prstDash val="solid"/>
          </a:ln>
        </p:spPr>
      </p:sp>
      <p:sp>
        <p:nvSpPr>
          <p:cNvPr id="8" name="Phase 2"/>
          <p:cNvSpPr/>
          <p:nvPr/>
        </p:nvSpPr>
        <p:spPr>
          <a:xfrm>
            <a:off x="3459175" y="2011680"/>
            <a:ext cx="2331720" cy="3108960"/>
          </a:xfrm>
          <a:prstGeom prst="roundRect">
            <a:avLst>
              <a:gd name="adj" fmla="val 3137"/>
            </a:avLst>
          </a:prstGeom>
          <a:solidFill>
            <a:schemeClr val="bg2"/>
          </a:solidFill>
          <a:ln w="12700">
            <a:solidFill>
              <a:schemeClr val="bg2"/>
            </a:solidFill>
            <a:prstDash val="solid"/>
          </a:ln>
        </p:spPr>
      </p:sp>
      <p:sp>
        <p:nvSpPr>
          <p:cNvPr id="9" name="Text 7"/>
          <p:cNvSpPr txBox="1"/>
          <p:nvPr/>
        </p:nvSpPr>
        <p:spPr>
          <a:xfrm>
            <a:off x="3642055" y="2194560"/>
            <a:ext cx="1965960" cy="2743200"/>
          </a:xfrm>
          <a:prstGeom prst="rect">
            <a:avLst/>
          </a:prstGeom>
          <a:noFill/>
          <a:ln/>
        </p:spPr>
        <p:txBody>
          <a:bodyPr wrap="square" lIns="0" tIns="0" rIns="0" bIns="0" rtlCol="0" anchor="t"/>
          <a:lstStyle/>
          <a:p>
            <a:pPr indent="0" marL="0">
              <a:spcAft>
                <a:spcPts val="800"/>
              </a:spcAft>
              <a:buNone/>
            </a:pPr>
            <a:r>
              <a:rPr lang="en-US" sz="1600" b="1" dirty="0">
                <a:solidFill>
                  <a:schemeClr val="tx2"/>
                </a:solidFill>
              </a:rPr>
              <a:t>Phase 2 · Terre améliorée</a:t>
            </a:r>
            <a:endParaRPr lang="en-US" sz="1600" dirty="0"/>
          </a:p>
          <a:p>
            <a:pPr indent="0" marL="0">
              <a:spcAft>
                <a:spcPts val="800"/>
              </a:spcAft>
              <a:buNone/>
            </a:pPr>
            <a:r>
              <a:rPr lang="en-US" sz="1400" dirty="0">
                <a:solidFill>
                  <a:schemeClr val="tx1"/>
                </a:solidFill>
              </a:rPr>
              <a:t>Rechargement latéritique continu, ouvrages définitifs</a:t>
            </a:r>
            <a:endParaRPr lang="en-US" sz="1600" dirty="0"/>
          </a:p>
          <a:p>
            <a:pPr indent="0" marL="0">
              <a:buNone/>
            </a:pPr>
            <a:r>
              <a:rPr lang="en-US" sz="1300" i="1" dirty="0">
                <a:solidFill>
                  <a:schemeClr val="accent5"/>
                </a:solidFill>
              </a:rPr>
              <a:t>Financée par le fonds d'amélioration</a:t>
            </a:r>
            <a:endParaRPr lang="en-US" sz="1600" dirty="0"/>
          </a:p>
        </p:txBody>
      </p:sp>
      <p:sp>
        <p:nvSpPr>
          <p:cNvPr id="10" name="Flèche"/>
          <p:cNvSpPr/>
          <p:nvPr/>
        </p:nvSpPr>
        <p:spPr>
          <a:xfrm>
            <a:off x="5790895" y="3566160"/>
            <a:ext cx="578815" cy="0"/>
          </a:xfrm>
          <a:prstGeom prst="line">
            <a:avLst/>
          </a:prstGeom>
          <a:noFill/>
          <a:ln w="15875">
            <a:solidFill>
              <a:schemeClr val="accent5"/>
            </a:solidFill>
            <a:prstDash val="solid"/>
            <a:tailEnd type="triangle"/>
          </a:ln>
        </p:spPr>
      </p:sp>
      <p:sp>
        <p:nvSpPr>
          <p:cNvPr id="11" name="Condition"/>
          <p:cNvSpPr/>
          <p:nvPr/>
        </p:nvSpPr>
        <p:spPr>
          <a:xfrm>
            <a:off x="5897423" y="3383280"/>
            <a:ext cx="365760" cy="365760"/>
          </a:xfrm>
          <a:prstGeom prst="diamond">
            <a:avLst/>
          </a:prstGeom>
          <a:solidFill>
            <a:schemeClr val="bg1"/>
          </a:solidFill>
          <a:ln w="19050">
            <a:solidFill>
              <a:schemeClr val="accent2"/>
            </a:solidFill>
            <a:prstDash val="solid"/>
          </a:ln>
        </p:spPr>
      </p:sp>
      <p:sp>
        <p:nvSpPr>
          <p:cNvPr id="12" name="Phase 3"/>
          <p:cNvSpPr/>
          <p:nvPr/>
        </p:nvSpPr>
        <p:spPr>
          <a:xfrm>
            <a:off x="6369710" y="2011680"/>
            <a:ext cx="2331720" cy="3108960"/>
          </a:xfrm>
          <a:prstGeom prst="roundRect">
            <a:avLst>
              <a:gd name="adj" fmla="val 3137"/>
            </a:avLst>
          </a:prstGeom>
          <a:solidFill>
            <a:schemeClr val="bg2"/>
          </a:solidFill>
          <a:ln w="12700">
            <a:solidFill>
              <a:schemeClr val="bg2"/>
            </a:solidFill>
            <a:prstDash val="solid"/>
          </a:ln>
        </p:spPr>
      </p:sp>
      <p:sp>
        <p:nvSpPr>
          <p:cNvPr id="13" name="Text 11"/>
          <p:cNvSpPr txBox="1"/>
          <p:nvPr/>
        </p:nvSpPr>
        <p:spPr>
          <a:xfrm>
            <a:off x="6552590" y="2194560"/>
            <a:ext cx="1965960" cy="2743200"/>
          </a:xfrm>
          <a:prstGeom prst="rect">
            <a:avLst/>
          </a:prstGeom>
          <a:noFill/>
          <a:ln/>
        </p:spPr>
        <p:txBody>
          <a:bodyPr wrap="square" lIns="0" tIns="0" rIns="0" bIns="0" rtlCol="0" anchor="t"/>
          <a:lstStyle/>
          <a:p>
            <a:pPr indent="0" marL="0">
              <a:spcAft>
                <a:spcPts val="800"/>
              </a:spcAft>
              <a:buNone/>
            </a:pPr>
            <a:r>
              <a:rPr lang="en-US" sz="1600" b="1" dirty="0">
                <a:solidFill>
                  <a:schemeClr val="tx2"/>
                </a:solidFill>
              </a:rPr>
              <a:t>Phase 3 · Bitumage progressif</a:t>
            </a:r>
            <a:endParaRPr lang="en-US" sz="1600" dirty="0"/>
          </a:p>
          <a:p>
            <a:pPr indent="0" marL="0">
              <a:spcAft>
                <a:spcPts val="800"/>
              </a:spcAft>
              <a:buNone/>
            </a:pPr>
            <a:r>
              <a:rPr lang="en-US" sz="1400" dirty="0">
                <a:solidFill>
                  <a:schemeClr val="tx1"/>
                </a:solidFill>
              </a:rPr>
              <a:t>Enduit bicouche, d'abord autour d'Uvira et de Kalemie</a:t>
            </a:r>
            <a:endParaRPr lang="en-US" sz="1600" dirty="0"/>
          </a:p>
          <a:p>
            <a:pPr indent="0" marL="0">
              <a:buNone/>
            </a:pPr>
            <a:r>
              <a:rPr lang="en-US" sz="1300" i="1" dirty="0">
                <a:solidFill>
                  <a:schemeClr val="accent5"/>
                </a:solidFill>
              </a:rPr>
              <a:t>Recettes et, si utile, emprunts d'EIS-EKA</a:t>
            </a:r>
            <a:endParaRPr lang="en-US" sz="1600" dirty="0"/>
          </a:p>
        </p:txBody>
      </p:sp>
      <p:sp>
        <p:nvSpPr>
          <p:cNvPr id="14" name="Flèche"/>
          <p:cNvSpPr/>
          <p:nvPr/>
        </p:nvSpPr>
        <p:spPr>
          <a:xfrm>
            <a:off x="8701430" y="3566160"/>
            <a:ext cx="578815" cy="0"/>
          </a:xfrm>
          <a:prstGeom prst="line">
            <a:avLst/>
          </a:prstGeom>
          <a:noFill/>
          <a:ln w="15875">
            <a:solidFill>
              <a:schemeClr val="accent5"/>
            </a:solidFill>
            <a:prstDash val="solid"/>
            <a:tailEnd type="triangle"/>
          </a:ln>
        </p:spPr>
      </p:sp>
      <p:sp>
        <p:nvSpPr>
          <p:cNvPr id="15" name="Condition"/>
          <p:cNvSpPr/>
          <p:nvPr/>
        </p:nvSpPr>
        <p:spPr>
          <a:xfrm>
            <a:off x="8807958" y="3383280"/>
            <a:ext cx="365760" cy="365760"/>
          </a:xfrm>
          <a:prstGeom prst="diamond">
            <a:avLst/>
          </a:prstGeom>
          <a:solidFill>
            <a:schemeClr val="bg1"/>
          </a:solidFill>
          <a:ln w="19050">
            <a:solidFill>
              <a:schemeClr val="tx2"/>
            </a:solidFill>
            <a:prstDash val="solid"/>
          </a:ln>
        </p:spPr>
      </p:sp>
      <p:sp>
        <p:nvSpPr>
          <p:cNvPr id="16" name="Phase 4"/>
          <p:cNvSpPr/>
          <p:nvPr/>
        </p:nvSpPr>
        <p:spPr>
          <a:xfrm>
            <a:off x="9280246" y="2011680"/>
            <a:ext cx="2331720" cy="3108960"/>
          </a:xfrm>
          <a:prstGeom prst="roundRect">
            <a:avLst>
              <a:gd name="adj" fmla="val 3137"/>
            </a:avLst>
          </a:prstGeom>
          <a:solidFill>
            <a:schemeClr val="bg2"/>
          </a:solidFill>
          <a:ln w="12700">
            <a:solidFill>
              <a:schemeClr val="bg2"/>
            </a:solidFill>
            <a:prstDash val="solid"/>
          </a:ln>
        </p:spPr>
      </p:sp>
      <p:sp>
        <p:nvSpPr>
          <p:cNvPr id="17" name="Text 15"/>
          <p:cNvSpPr txBox="1"/>
          <p:nvPr/>
        </p:nvSpPr>
        <p:spPr>
          <a:xfrm>
            <a:off x="9463126" y="2194560"/>
            <a:ext cx="1965960" cy="2743200"/>
          </a:xfrm>
          <a:prstGeom prst="rect">
            <a:avLst/>
          </a:prstGeom>
          <a:noFill/>
          <a:ln/>
        </p:spPr>
        <p:txBody>
          <a:bodyPr wrap="square" lIns="0" tIns="0" rIns="0" bIns="0" rtlCol="0" anchor="t"/>
          <a:lstStyle/>
          <a:p>
            <a:pPr indent="0" marL="0">
              <a:spcAft>
                <a:spcPts val="800"/>
              </a:spcAft>
              <a:buNone/>
            </a:pPr>
            <a:r>
              <a:rPr lang="en-US" sz="1600" b="1" dirty="0">
                <a:solidFill>
                  <a:schemeClr val="tx2"/>
                </a:solidFill>
              </a:rPr>
              <a:t>Phase 4 · Renforcement</a:t>
            </a:r>
            <a:endParaRPr lang="en-US" sz="1600" dirty="0"/>
          </a:p>
          <a:p>
            <a:pPr indent="0" marL="0">
              <a:spcAft>
                <a:spcPts val="800"/>
              </a:spcAft>
              <a:buNone/>
            </a:pPr>
            <a:r>
              <a:rPr lang="en-US" sz="1400" dirty="0">
                <a:solidFill>
                  <a:schemeClr val="tx1"/>
                </a:solidFill>
              </a:rPr>
              <a:t>Béton bitumineux en agglomération et sections chargées</a:t>
            </a:r>
            <a:endParaRPr lang="en-US" sz="1600" dirty="0"/>
          </a:p>
          <a:p>
            <a:pPr indent="0" marL="0">
              <a:buNone/>
            </a:pPr>
            <a:r>
              <a:rPr lang="en-US" sz="1300" i="1" dirty="0">
                <a:solidFill>
                  <a:schemeClr val="accent5"/>
                </a:solidFill>
              </a:rPr>
              <a:t>Route remise gratuitement à l'État après 30 ans</a:t>
            </a:r>
            <a:endParaRPr lang="en-US" sz="1600" dirty="0"/>
          </a:p>
        </p:txBody>
      </p:sp>
      <p:sp>
        <p:nvSpPr>
          <p:cNvPr id="18" name="Text 16"/>
          <p:cNvSpPr txBox="1"/>
          <p:nvPr/>
        </p:nvSpPr>
        <p:spPr>
          <a:xfrm>
            <a:off x="1981048" y="5349240"/>
            <a:ext cx="2377440" cy="777240"/>
          </a:xfrm>
          <a:prstGeom prst="rect">
            <a:avLst/>
          </a:prstGeom>
          <a:noFill/>
          <a:ln/>
        </p:spPr>
        <p:txBody>
          <a:bodyPr wrap="square" lIns="0" tIns="0" rIns="0" bIns="0" rtlCol="0" anchor="t"/>
          <a:lstStyle/>
          <a:p>
            <a:pPr algn="ctr" indent="0" marL="0">
              <a:buNone/>
            </a:pPr>
            <a:r>
              <a:rPr lang="en-US" sz="1300" b="1" dirty="0">
                <a:solidFill>
                  <a:schemeClr val="accent1"/>
                </a:solidFill>
              </a:rPr>
              <a:t>Condition 1 ◆ </a:t>
            </a:r>
            <a:pPr algn="ctr" indent="0" marL="0">
              <a:buNone/>
            </a:pPr>
            <a:r>
              <a:rPr lang="en-US" sz="1300" dirty="0">
                <a:solidFill>
                  <a:schemeClr val="tx1"/>
                </a:solidFill>
              </a:rPr>
              <a:t>Section rouverte et péage ouvert</a:t>
            </a:r>
            <a:endParaRPr lang="en-US" sz="1300" dirty="0"/>
          </a:p>
        </p:txBody>
      </p:sp>
      <p:sp>
        <p:nvSpPr>
          <p:cNvPr id="19" name="Text 17"/>
          <p:cNvSpPr txBox="1"/>
          <p:nvPr/>
        </p:nvSpPr>
        <p:spPr>
          <a:xfrm>
            <a:off x="4891583" y="5349240"/>
            <a:ext cx="2377440" cy="777240"/>
          </a:xfrm>
          <a:prstGeom prst="rect">
            <a:avLst/>
          </a:prstGeom>
          <a:noFill/>
          <a:ln/>
        </p:spPr>
        <p:txBody>
          <a:bodyPr wrap="square" lIns="0" tIns="0" rIns="0" bIns="0" rtlCol="0" anchor="t"/>
          <a:lstStyle/>
          <a:p>
            <a:pPr algn="ctr" indent="0" marL="0">
              <a:buNone/>
            </a:pPr>
            <a:r>
              <a:rPr lang="en-US" sz="1300" b="1" dirty="0">
                <a:solidFill>
                  <a:schemeClr val="accent1"/>
                </a:solidFill>
              </a:rPr>
              <a:t>Condition 2 ◆ </a:t>
            </a:r>
            <a:pPr algn="ctr" indent="0" marL="0">
              <a:buNone/>
            </a:pPr>
            <a:r>
              <a:rPr lang="en-US" sz="1300" dirty="0">
                <a:solidFill>
                  <a:schemeClr val="tx1"/>
                </a:solidFill>
              </a:rPr>
              <a:t>Fonds suffisant et trafic justifiant le revêtement</a:t>
            </a:r>
            <a:endParaRPr lang="en-US" sz="1300" dirty="0"/>
          </a:p>
        </p:txBody>
      </p:sp>
      <p:sp>
        <p:nvSpPr>
          <p:cNvPr id="20" name="Text 18"/>
          <p:cNvSpPr txBox="1"/>
          <p:nvPr/>
        </p:nvSpPr>
        <p:spPr>
          <a:xfrm>
            <a:off x="7802118" y="5349240"/>
            <a:ext cx="2377440" cy="777240"/>
          </a:xfrm>
          <a:prstGeom prst="rect">
            <a:avLst/>
          </a:prstGeom>
          <a:noFill/>
          <a:ln/>
        </p:spPr>
        <p:txBody>
          <a:bodyPr wrap="square" lIns="0" tIns="0" rIns="0" bIns="0" rtlCol="0" anchor="t"/>
          <a:lstStyle/>
          <a:p>
            <a:pPr algn="ctr" indent="0" marL="0">
              <a:buNone/>
            </a:pPr>
            <a:r>
              <a:rPr lang="en-US" sz="1300" b="1" dirty="0">
                <a:solidFill>
                  <a:schemeClr val="accent1"/>
                </a:solidFill>
              </a:rPr>
              <a:t>Condition 3 ◆ </a:t>
            </a:r>
            <a:pPr algn="ctr" indent="0" marL="0">
              <a:buNone/>
            </a:pPr>
            <a:r>
              <a:rPr lang="en-US" sz="1300" dirty="0">
                <a:solidFill>
                  <a:schemeClr val="tx1"/>
                </a:solidFill>
              </a:rPr>
              <a:t>Trafic élevé constaté</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Annexes à joindre au dossier papier</a:t>
            </a:r>
            <a:endParaRPr lang="en-US" sz="3200" dirty="0"/>
          </a:p>
        </p:txBody>
      </p:sp>
      <p:sp>
        <p:nvSpPr>
          <p:cNvPr id="3" name="Message clé"/>
          <p:cNvSpPr txBox="1"/>
          <p:nvPr/>
        </p:nvSpPr>
        <p:spPr>
          <a:xfrm>
            <a:off x="548640" y="1097280"/>
            <a:ext cx="11064240" cy="548640"/>
          </a:xfrm>
          <a:prstGeom prst="rect">
            <a:avLst/>
          </a:prstGeom>
          <a:noFill/>
          <a:ln/>
        </p:spPr>
        <p:txBody>
          <a:bodyPr wrap="square" lIns="0" tIns="0" rIns="0" bIns="0" rtlCol="0" anchor="t"/>
          <a:lstStyle/>
          <a:p>
            <a:pPr indent="0" marL="0">
              <a:buNone/>
            </a:pPr>
            <a:r>
              <a:rPr lang="en-US" sz="1600" i="1" dirty="0">
                <a:solidFill>
                  <a:schemeClr val="accent2"/>
                </a:solidFill>
              </a:rPr>
              <a:t>Deux pièces prêtes, sept à rassembler avant le dépôt</a:t>
            </a:r>
            <a:endParaRPr lang="en-US" sz="1600" dirty="0"/>
          </a:p>
        </p:txBody>
      </p:sp>
      <p:pic>
        <p:nvPicPr>
          <p:cNvPr id="4" name="Fait" descr="preencoded.png">    </p:cNvPr>
          <p:cNvPicPr>
            <a:picLocks noChangeAspect="1"/>
          </p:cNvPicPr>
          <p:nvPr/>
        </p:nvPicPr>
        <p:blipFill>
          <a:blip r:embed="rId1"/>
          <a:stretch>
            <a:fillRect/>
          </a:stretch>
        </p:blipFill>
        <p:spPr>
          <a:xfrm>
            <a:off x="548640" y="1920240"/>
            <a:ext cx="365760" cy="365760"/>
          </a:xfrm>
          <a:prstGeom prst="rect">
            <a:avLst/>
          </a:prstGeom>
        </p:spPr>
      </p:pic>
      <p:sp>
        <p:nvSpPr>
          <p:cNvPr id="5" name="Text 2"/>
          <p:cNvSpPr txBox="1"/>
          <p:nvPr/>
        </p:nvSpPr>
        <p:spPr>
          <a:xfrm>
            <a:off x="1097280" y="1828800"/>
            <a:ext cx="4846320" cy="548640"/>
          </a:xfrm>
          <a:prstGeom prst="rect">
            <a:avLst/>
          </a:prstGeom>
          <a:noFill/>
          <a:ln/>
        </p:spPr>
        <p:txBody>
          <a:bodyPr wrap="square" lIns="0" tIns="0" rIns="0" bIns="0" rtlCol="0" anchor="ctr"/>
          <a:lstStyle/>
          <a:p>
            <a:pPr indent="0" marL="0">
              <a:buNone/>
            </a:pPr>
            <a:r>
              <a:rPr lang="en-US" sz="1500" b="1" dirty="0">
                <a:solidFill>
                  <a:schemeClr val="tx2"/>
                </a:solidFill>
              </a:rPr>
              <a:t>Carte du tracé Uvira – Kalemie avec découpage en lots</a:t>
            </a:r>
            <a:endParaRPr lang="en-US" sz="1500" dirty="0"/>
          </a:p>
        </p:txBody>
      </p:sp>
      <p:pic>
        <p:nvPicPr>
          <p:cNvPr id="6" name="Fait" descr="preencoded.png">    </p:cNvPr>
          <p:cNvPicPr>
            <a:picLocks noChangeAspect="1"/>
          </p:cNvPicPr>
          <p:nvPr/>
        </p:nvPicPr>
        <p:blipFill>
          <a:blip r:embed="rId2"/>
          <a:stretch>
            <a:fillRect/>
          </a:stretch>
        </p:blipFill>
        <p:spPr>
          <a:xfrm>
            <a:off x="548640" y="2651760"/>
            <a:ext cx="365760" cy="365760"/>
          </a:xfrm>
          <a:prstGeom prst="rect">
            <a:avLst/>
          </a:prstGeom>
        </p:spPr>
      </p:pic>
      <p:sp>
        <p:nvSpPr>
          <p:cNvPr id="7" name="Text 3"/>
          <p:cNvSpPr txBox="1"/>
          <p:nvPr/>
        </p:nvSpPr>
        <p:spPr>
          <a:xfrm>
            <a:off x="1097280" y="2560320"/>
            <a:ext cx="4846320" cy="548640"/>
          </a:xfrm>
          <a:prstGeom prst="rect">
            <a:avLst/>
          </a:prstGeom>
          <a:noFill/>
          <a:ln/>
        </p:spPr>
        <p:txBody>
          <a:bodyPr wrap="square" lIns="0" tIns="0" rIns="0" bIns="0" rtlCol="0" anchor="ctr"/>
          <a:lstStyle/>
          <a:p>
            <a:pPr indent="0" marL="0">
              <a:buNone/>
            </a:pPr>
            <a:r>
              <a:rPr lang="en-US" sz="1500" b="1" dirty="0">
                <a:solidFill>
                  <a:schemeClr val="tx2"/>
                </a:solidFill>
              </a:rPr>
              <a:t>Statuts, RCCM, identification nationale et numéro fiscal</a:t>
            </a:r>
            <a:endParaRPr lang="en-US" sz="1500" dirty="0"/>
          </a:p>
        </p:txBody>
      </p:sp>
      <p:pic>
        <p:nvPicPr>
          <p:cNvPr id="8" name="À fournir" descr="preencoded.png">    </p:cNvPr>
          <p:cNvPicPr>
            <a:picLocks noChangeAspect="1"/>
          </p:cNvPicPr>
          <p:nvPr/>
        </p:nvPicPr>
        <p:blipFill>
          <a:blip r:embed="rId3"/>
          <a:stretch>
            <a:fillRect/>
          </a:stretch>
        </p:blipFill>
        <p:spPr>
          <a:xfrm>
            <a:off x="548640" y="3383280"/>
            <a:ext cx="365760" cy="365760"/>
          </a:xfrm>
          <a:prstGeom prst="rect">
            <a:avLst/>
          </a:prstGeom>
        </p:spPr>
      </p:pic>
      <p:sp>
        <p:nvSpPr>
          <p:cNvPr id="9" name="Text 4"/>
          <p:cNvSpPr txBox="1"/>
          <p:nvPr/>
        </p:nvSpPr>
        <p:spPr>
          <a:xfrm>
            <a:off x="1097280" y="3291840"/>
            <a:ext cx="4846320" cy="548640"/>
          </a:xfrm>
          <a:prstGeom prst="rect">
            <a:avLst/>
          </a:prstGeom>
          <a:noFill/>
          <a:ln/>
        </p:spPr>
        <p:txBody>
          <a:bodyPr wrap="square" lIns="0" tIns="0" rIns="0" bIns="0" rtlCol="0" anchor="ctr"/>
          <a:lstStyle/>
          <a:p>
            <a:pPr indent="0" marL="0">
              <a:buNone/>
            </a:pPr>
            <a:r>
              <a:rPr lang="en-US" sz="1500" dirty="0">
                <a:solidFill>
                  <a:schemeClr val="tx1"/>
                </a:solidFill>
              </a:rPr>
              <a:t>États financiers certifiés des 3 derniers exercices</a:t>
            </a:r>
            <a:endParaRPr lang="en-US" sz="1500" dirty="0"/>
          </a:p>
        </p:txBody>
      </p:sp>
      <p:pic>
        <p:nvPicPr>
          <p:cNvPr id="10" name="À fournir" descr="preencoded.png">    </p:cNvPr>
          <p:cNvPicPr>
            <a:picLocks noChangeAspect="1"/>
          </p:cNvPicPr>
          <p:nvPr/>
        </p:nvPicPr>
        <p:blipFill>
          <a:blip r:embed="rId4"/>
          <a:stretch>
            <a:fillRect/>
          </a:stretch>
        </p:blipFill>
        <p:spPr>
          <a:xfrm>
            <a:off x="548640" y="4114800"/>
            <a:ext cx="365760" cy="365760"/>
          </a:xfrm>
          <a:prstGeom prst="rect">
            <a:avLst/>
          </a:prstGeom>
        </p:spPr>
      </p:pic>
      <p:sp>
        <p:nvSpPr>
          <p:cNvPr id="11" name="Text 5"/>
          <p:cNvSpPr txBox="1"/>
          <p:nvPr/>
        </p:nvSpPr>
        <p:spPr>
          <a:xfrm>
            <a:off x="1097280" y="4023360"/>
            <a:ext cx="4846320" cy="548640"/>
          </a:xfrm>
          <a:prstGeom prst="rect">
            <a:avLst/>
          </a:prstGeom>
          <a:noFill/>
          <a:ln/>
        </p:spPr>
        <p:txBody>
          <a:bodyPr wrap="square" lIns="0" tIns="0" rIns="0" bIns="0" rtlCol="0" anchor="ctr"/>
          <a:lstStyle/>
          <a:p>
            <a:pPr indent="0" marL="0">
              <a:buNone/>
            </a:pPr>
            <a:r>
              <a:rPr lang="en-US" sz="1500" dirty="0">
                <a:solidFill>
                  <a:schemeClr val="tx1"/>
                </a:solidFill>
              </a:rPr>
              <a:t>Attestations de références de projets similaires</a:t>
            </a:r>
            <a:endParaRPr lang="en-US" sz="1500" dirty="0"/>
          </a:p>
        </p:txBody>
      </p:sp>
      <p:pic>
        <p:nvPicPr>
          <p:cNvPr id="12" name="À fournir" descr="preencoded.png">    </p:cNvPr>
          <p:cNvPicPr>
            <a:picLocks noChangeAspect="1"/>
          </p:cNvPicPr>
          <p:nvPr/>
        </p:nvPicPr>
        <p:blipFill>
          <a:blip r:embed="rId5"/>
          <a:stretch>
            <a:fillRect/>
          </a:stretch>
        </p:blipFill>
        <p:spPr>
          <a:xfrm>
            <a:off x="548640" y="4846320"/>
            <a:ext cx="365760" cy="365760"/>
          </a:xfrm>
          <a:prstGeom prst="rect">
            <a:avLst/>
          </a:prstGeom>
        </p:spPr>
      </p:pic>
      <p:sp>
        <p:nvSpPr>
          <p:cNvPr id="13" name="Text 6"/>
          <p:cNvSpPr txBox="1"/>
          <p:nvPr/>
        </p:nvSpPr>
        <p:spPr>
          <a:xfrm>
            <a:off x="1097280" y="4754880"/>
            <a:ext cx="4846320" cy="548640"/>
          </a:xfrm>
          <a:prstGeom prst="rect">
            <a:avLst/>
          </a:prstGeom>
          <a:noFill/>
          <a:ln/>
        </p:spPr>
        <p:txBody>
          <a:bodyPr wrap="square" lIns="0" tIns="0" rIns="0" bIns="0" rtlCol="0" anchor="ctr"/>
          <a:lstStyle/>
          <a:p>
            <a:pPr indent="0" marL="0">
              <a:buNone/>
            </a:pPr>
            <a:r>
              <a:rPr lang="en-US" sz="1500" dirty="0">
                <a:solidFill>
                  <a:schemeClr val="tx1"/>
                </a:solidFill>
              </a:rPr>
              <a:t>Lettres d'intention des partenaires techniques</a:t>
            </a:r>
            <a:endParaRPr lang="en-US" sz="1500" dirty="0"/>
          </a:p>
        </p:txBody>
      </p:sp>
      <p:pic>
        <p:nvPicPr>
          <p:cNvPr id="14" name="À fournir" descr="preencoded.png">    </p:cNvPr>
          <p:cNvPicPr>
            <a:picLocks noChangeAspect="1"/>
          </p:cNvPicPr>
          <p:nvPr/>
        </p:nvPicPr>
        <p:blipFill>
          <a:blip r:embed="rId6"/>
          <a:stretch>
            <a:fillRect/>
          </a:stretch>
        </p:blipFill>
        <p:spPr>
          <a:xfrm>
            <a:off x="6172200" y="1920240"/>
            <a:ext cx="365760" cy="365760"/>
          </a:xfrm>
          <a:prstGeom prst="rect">
            <a:avLst/>
          </a:prstGeom>
        </p:spPr>
      </p:pic>
      <p:sp>
        <p:nvSpPr>
          <p:cNvPr id="15" name="Text 7"/>
          <p:cNvSpPr txBox="1"/>
          <p:nvPr/>
        </p:nvSpPr>
        <p:spPr>
          <a:xfrm>
            <a:off x="6720840" y="1828800"/>
            <a:ext cx="4846320" cy="548640"/>
          </a:xfrm>
          <a:prstGeom prst="rect">
            <a:avLst/>
          </a:prstGeom>
          <a:noFill/>
          <a:ln/>
        </p:spPr>
        <p:txBody>
          <a:bodyPr wrap="square" lIns="0" tIns="0" rIns="0" bIns="0" rtlCol="0" anchor="ctr"/>
          <a:lstStyle/>
          <a:p>
            <a:pPr indent="0" marL="0">
              <a:buNone/>
            </a:pPr>
            <a:r>
              <a:rPr lang="en-US" sz="1500" dirty="0">
                <a:solidFill>
                  <a:schemeClr val="tx1"/>
                </a:solidFill>
              </a:rPr>
              <a:t>Attestation bancaire des fonds propres de la phase 1</a:t>
            </a:r>
            <a:endParaRPr lang="en-US" sz="1500" dirty="0"/>
          </a:p>
        </p:txBody>
      </p:sp>
      <p:pic>
        <p:nvPicPr>
          <p:cNvPr id="16" name="À fournir" descr="preencoded.png">    </p:cNvPr>
          <p:cNvPicPr>
            <a:picLocks noChangeAspect="1"/>
          </p:cNvPicPr>
          <p:nvPr/>
        </p:nvPicPr>
        <p:blipFill>
          <a:blip r:embed="rId7"/>
          <a:stretch>
            <a:fillRect/>
          </a:stretch>
        </p:blipFill>
        <p:spPr>
          <a:xfrm>
            <a:off x="6172200" y="2651760"/>
            <a:ext cx="365760" cy="365760"/>
          </a:xfrm>
          <a:prstGeom prst="rect">
            <a:avLst/>
          </a:prstGeom>
        </p:spPr>
      </p:pic>
      <p:sp>
        <p:nvSpPr>
          <p:cNvPr id="17" name="Text 8"/>
          <p:cNvSpPr txBox="1"/>
          <p:nvPr/>
        </p:nvSpPr>
        <p:spPr>
          <a:xfrm>
            <a:off x="6720840" y="2560320"/>
            <a:ext cx="4846320" cy="548640"/>
          </a:xfrm>
          <a:prstGeom prst="rect">
            <a:avLst/>
          </a:prstGeom>
          <a:noFill/>
          <a:ln/>
        </p:spPr>
        <p:txBody>
          <a:bodyPr wrap="square" lIns="0" tIns="0" rIns="0" bIns="0" rtlCol="0" anchor="ctr"/>
          <a:lstStyle/>
          <a:p>
            <a:pPr indent="0" marL="0">
              <a:buNone/>
            </a:pPr>
            <a:r>
              <a:rPr lang="en-US" sz="1500" dirty="0">
                <a:solidFill>
                  <a:schemeClr val="tx1"/>
                </a:solidFill>
              </a:rPr>
              <a:t>Projet de convention de concession et projet d'arrêté de péage</a:t>
            </a:r>
            <a:endParaRPr lang="en-US" sz="1500" dirty="0"/>
          </a:p>
        </p:txBody>
      </p:sp>
      <p:pic>
        <p:nvPicPr>
          <p:cNvPr id="18" name="À fournir" descr="preencoded.png">    </p:cNvPr>
          <p:cNvPicPr>
            <a:picLocks noChangeAspect="1"/>
          </p:cNvPicPr>
          <p:nvPr/>
        </p:nvPicPr>
        <p:blipFill>
          <a:blip r:embed="rId8"/>
          <a:stretch>
            <a:fillRect/>
          </a:stretch>
        </p:blipFill>
        <p:spPr>
          <a:xfrm>
            <a:off x="6172200" y="3383280"/>
            <a:ext cx="365760" cy="365760"/>
          </a:xfrm>
          <a:prstGeom prst="rect">
            <a:avLst/>
          </a:prstGeom>
        </p:spPr>
      </p:pic>
      <p:sp>
        <p:nvSpPr>
          <p:cNvPr id="19" name="Text 9"/>
          <p:cNvSpPr txBox="1"/>
          <p:nvPr/>
        </p:nvSpPr>
        <p:spPr>
          <a:xfrm>
            <a:off x="6720840" y="3291840"/>
            <a:ext cx="4846320" cy="548640"/>
          </a:xfrm>
          <a:prstGeom prst="rect">
            <a:avLst/>
          </a:prstGeom>
          <a:noFill/>
          <a:ln/>
        </p:spPr>
        <p:txBody>
          <a:bodyPr wrap="square" lIns="0" tIns="0" rIns="0" bIns="0" rtlCol="0" anchor="ctr"/>
          <a:lstStyle/>
          <a:p>
            <a:pPr indent="0" marL="0">
              <a:buNone/>
            </a:pPr>
            <a:r>
              <a:rPr lang="en-US" sz="1500" dirty="0">
                <a:solidFill>
                  <a:schemeClr val="tx1"/>
                </a:solidFill>
              </a:rPr>
              <a:t>Plan d'implantation des péages et grille tarifaire</a:t>
            </a:r>
            <a:endParaRPr lang="en-US" sz="1500" dirty="0"/>
          </a:p>
        </p:txBody>
      </p:sp>
      <p:pic>
        <p:nvPicPr>
          <p:cNvPr id="20" name="À fournir" descr="preencoded.png">    </p:cNvPr>
          <p:cNvPicPr>
            <a:picLocks noChangeAspect="1"/>
          </p:cNvPicPr>
          <p:nvPr/>
        </p:nvPicPr>
        <p:blipFill>
          <a:blip r:embed="rId9"/>
          <a:stretch>
            <a:fillRect/>
          </a:stretch>
        </p:blipFill>
        <p:spPr>
          <a:xfrm>
            <a:off x="6172200" y="4114800"/>
            <a:ext cx="365760" cy="365760"/>
          </a:xfrm>
          <a:prstGeom prst="rect">
            <a:avLst/>
          </a:prstGeom>
        </p:spPr>
      </p:pic>
      <p:sp>
        <p:nvSpPr>
          <p:cNvPr id="21" name="Text 10"/>
          <p:cNvSpPr txBox="1"/>
          <p:nvPr/>
        </p:nvSpPr>
        <p:spPr>
          <a:xfrm>
            <a:off x="6720840" y="4023360"/>
            <a:ext cx="4846320" cy="548640"/>
          </a:xfrm>
          <a:prstGeom prst="rect">
            <a:avLst/>
          </a:prstGeom>
          <a:noFill/>
          <a:ln/>
        </p:spPr>
        <p:txBody>
          <a:bodyPr wrap="square" lIns="0" tIns="0" rIns="0" bIns="0" rtlCol="0" anchor="ctr"/>
          <a:lstStyle/>
          <a:p>
            <a:pPr indent="0" marL="0">
              <a:buNone/>
            </a:pPr>
            <a:r>
              <a:rPr lang="en-US" sz="1500" dirty="0">
                <a:solidFill>
                  <a:schemeClr val="tx1"/>
                </a:solidFill>
              </a:rPr>
              <a:t>Photos et rapport de reconnaissance de terrain, si disponibles</a:t>
            </a:r>
            <a:endParaRPr lang="en-US" sz="1500" dirty="0"/>
          </a:p>
        </p:txBody>
      </p:sp>
      <p:sp>
        <p:nvSpPr>
          <p:cNvPr id="22" name="Note"/>
          <p:cNvSpPr/>
          <p:nvPr/>
        </p:nvSpPr>
        <p:spPr>
          <a:xfrm>
            <a:off x="6172200" y="4846320"/>
            <a:ext cx="5440680" cy="1280160"/>
          </a:xfrm>
          <a:prstGeom prst="roundRect">
            <a:avLst>
              <a:gd name="adj" fmla="val 5714"/>
            </a:avLst>
          </a:prstGeom>
          <a:solidFill>
            <a:schemeClr val="bg2"/>
          </a:solidFill>
          <a:ln w="12700">
            <a:solidFill>
              <a:schemeClr val="bg2"/>
            </a:solidFill>
            <a:prstDash val="solid"/>
          </a:ln>
        </p:spPr>
      </p:sp>
      <p:sp>
        <p:nvSpPr>
          <p:cNvPr id="23" name="Text 12"/>
          <p:cNvSpPr txBox="1"/>
          <p:nvPr/>
        </p:nvSpPr>
        <p:spPr>
          <a:xfrm>
            <a:off x="6400800" y="4846320"/>
            <a:ext cx="4983480" cy="1280160"/>
          </a:xfrm>
          <a:prstGeom prst="rect">
            <a:avLst/>
          </a:prstGeom>
          <a:noFill/>
          <a:ln/>
        </p:spPr>
        <p:txBody>
          <a:bodyPr wrap="square" lIns="0" tIns="0" rIns="0" bIns="0" rtlCol="0" anchor="ctr"/>
          <a:lstStyle/>
          <a:p>
            <a:pPr indent="0" marL="0">
              <a:buNone/>
            </a:pPr>
            <a:r>
              <a:rPr lang="en-US" sz="1400" i="1" dirty="0">
                <a:solidFill>
                  <a:schemeClr val="accent2"/>
                </a:solidFill>
              </a:rPr>
              <a:t>Note : les coûts, longueurs et délais sont des estimations préliminaires, à confirmer par les études de faisabilité détaillées.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Décision attendue : signer la convention et l'arrêté de péage</a:t>
            </a:r>
            <a:endParaRPr lang="en-US" sz="4000" dirty="0"/>
          </a:p>
        </p:txBody>
      </p:sp>
      <p:sp>
        <p:nvSpPr>
          <p:cNvPr id="3" name="Text 0"/>
          <p:cNvSpPr/>
          <p:nvPr>
            <p:ph idx="101" type="body" hasCustomPrompt="1"/>
          </p:nvPr>
        </p:nvSpPr>
        <p:spPr>
          <a:xfrm>
            <a:off x="731520" y="3749040"/>
            <a:ext cx="10698480" cy="1188720"/>
          </a:xfrm>
          <a:prstGeom prst="rect">
            <a:avLst/>
          </a:prstGeom>
          <a:noFill/>
          <a:ln/>
        </p:spPr>
        <p:txBody>
          <a:bodyPr wrap="square" rtlCol="0" anchor="t"/>
          <a:lstStyle/>
          <a:p>
            <a:pPr indent="0" marL="0">
              <a:spcAft>
                <a:spcPts val="1000"/>
              </a:spcAft>
              <a:buNone/>
            </a:pPr>
            <a:r>
              <a:rPr lang="en-US" sz="1800" dirty="0">
                <a:solidFill>
                  <a:schemeClr val="bg2"/>
                </a:solidFill>
              </a:rPr>
              <a:t>EIS-EKA démarre alors les travaux de réouverture dans les 60 jours, sans contribution financière de l'État.</a:t>
            </a:r>
            <a:endParaRPr lang="en-US" sz="1800" dirty="0"/>
          </a:p>
          <a:p>
            <a:pPr indent="0" marL="0">
              <a:buNone/>
            </a:pPr>
            <a:r>
              <a:rPr lang="en-US" sz="1800" dirty="0">
                <a:solidFill>
                  <a:schemeClr val="bg2"/>
                </a:solidFill>
              </a:rPr>
              <a:t>Nous restons à votre disposition pour une présentation devant vos services.</a:t>
            </a:r>
            <a:endParaRPr lang="en-US" sz="1800" dirty="0"/>
          </a:p>
        </p:txBody>
      </p:sp>
      <p:sp>
        <p:nvSpPr>
          <p:cNvPr id="4" name="Text 2"/>
          <p:cNvSpPr txBox="1"/>
          <p:nvPr/>
        </p:nvSpPr>
        <p:spPr>
          <a:xfrm>
            <a:off x="731520" y="5577840"/>
            <a:ext cx="7315200" cy="731520"/>
          </a:xfrm>
          <a:prstGeom prst="rect">
            <a:avLst/>
          </a:prstGeom>
          <a:noFill/>
          <a:ln/>
        </p:spPr>
        <p:txBody>
          <a:bodyPr wrap="square" lIns="0" tIns="0" rIns="0" bIns="0" rtlCol="0" anchor="ctr"/>
          <a:lstStyle/>
          <a:p>
            <a:pPr indent="0" marL="0">
              <a:buNone/>
            </a:pPr>
            <a:r>
              <a:rPr lang="en-US" sz="1400" b="1" dirty="0">
                <a:solidFill>
                  <a:schemeClr val="accent3"/>
                </a:solidFill>
              </a:rPr>
              <a:t>SAKUBU Juvenal</a:t>
            </a:r>
            <a:endParaRPr lang="en-US" sz="1400" dirty="0"/>
          </a:p>
          <a:p>
            <a:pPr indent="0" marL="0">
              <a:buNone/>
            </a:pPr>
            <a:r>
              <a:rPr lang="en-US" sz="1400" dirty="0">
                <a:solidFill>
                  <a:schemeClr val="accent3"/>
                </a:solidFill>
              </a:rPr>
              <a:t>Directeur Général, Groupe EIS-EKA</a:t>
            </a:r>
            <a:endParaRPr lang="en-US" sz="1400" dirty="0"/>
          </a:p>
        </p:txBody>
      </p:sp>
    </p:spTree>
  </p:cSld>
  <p:clrMapOvr>
    <a:masterClrMapping/>
  </p:clrMapOvr>
</p:sld>
</file>

<file path=ppt/theme/theme1.xml><?xml version="1.0" encoding="utf-8"?>
<a:theme xmlns:a="http://schemas.openxmlformats.org/drawingml/2006/main" name="RN5 Laterite">
  <a:themeElements>
    <a:clrScheme name="RN5 Laterite">
      <a:dk1>
        <a:srgbClr val="1B1F1F"/>
      </a:dk1>
      <a:lt1>
        <a:srgbClr val="FFFFFF"/>
      </a:lt1>
      <a:dk2>
        <a:srgbClr val="16343A"/>
      </a:dk2>
      <a:lt2>
        <a:srgbClr val="EEF3F2"/>
      </a:lt2>
      <a:accent1>
        <a:srgbClr val="B5542D"/>
      </a:accent1>
      <a:accent2>
        <a:srgbClr val="2C6E6F"/>
      </a:accent2>
      <a:accent3>
        <a:srgbClr val="D9A441"/>
      </a:accent3>
      <a:accent4>
        <a:srgbClr val="6B8F3A"/>
      </a:accent4>
      <a:accent5>
        <a:srgbClr val="6E7676"/>
      </a:accent5>
      <a:accent6>
        <a:srgbClr val="8C2F1E"/>
      </a:accent6>
      <a:hlink>
        <a:srgbClr val="2C6E6F"/>
      </a:hlink>
      <a:folHlink>
        <a:srgbClr val="6B8F3A"/>
      </a:folHlink>
    </a:clrScheme>
    <a:fontScheme name="RN5 Lateri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Groupe EIS-EKA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Proposition RN5 Uvira – Kalemie</dc:title>
  <dc:subject>PptxGenJS Presentation</dc:subject>
  <dc:creator>Groupe EIS-EKA</dc:creator>
  <cp:lastModifiedBy>Groupe EIS-EKA</cp:lastModifiedBy>
  <cp:revision>1</cp:revision>
  <dcterms:created xsi:type="dcterms:W3CDTF">2026-10-07T20:19:39Z</dcterms:created>
  <dcterms:modified xsi:type="dcterms:W3CDTF">2026-10-07T20:19:39Z</dcterms:modified>
</cp:coreProperties>
</file>